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8" name="矩形 47"/>
          <p:cNvSpPr/>
          <p:nvPr/>
        </p:nvSpPr>
        <p:spPr>
          <a:xfrm>
            <a:off x="9248140" y="725170"/>
            <a:ext cx="2261870" cy="5957570"/>
          </a:xfrm>
          <a:prstGeom prst="rect">
            <a:avLst/>
          </a:prstGeom>
          <a:solidFill>
            <a:srgbClr val="EFEFEF"/>
          </a:solidFill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b="1"/>
          </a:p>
        </p:txBody>
      </p:sp>
      <p:sp>
        <p:nvSpPr>
          <p:cNvPr id="49" name="矩形 48"/>
          <p:cNvSpPr/>
          <p:nvPr/>
        </p:nvSpPr>
        <p:spPr>
          <a:xfrm>
            <a:off x="261620" y="688975"/>
            <a:ext cx="2261870" cy="5957570"/>
          </a:xfrm>
          <a:prstGeom prst="rect">
            <a:avLst/>
          </a:prstGeom>
          <a:solidFill>
            <a:srgbClr val="EFEFEF"/>
          </a:solidFill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b="1"/>
          </a:p>
        </p:txBody>
      </p:sp>
      <p:sp>
        <p:nvSpPr>
          <p:cNvPr id="50" name="矩形 49"/>
          <p:cNvSpPr/>
          <p:nvPr/>
        </p:nvSpPr>
        <p:spPr>
          <a:xfrm>
            <a:off x="421640" y="1486535"/>
            <a:ext cx="1987550" cy="459740"/>
          </a:xfrm>
          <a:prstGeom prst="rect">
            <a:avLst/>
          </a:prstGeom>
          <a:solidFill>
            <a:srgbClr val="BFD8EC"/>
          </a:solidFill>
          <a:ln>
            <a:solidFill>
              <a:srgbClr val="BDD6EC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     </a:t>
            </a:r>
            <a:r>
              <a:rPr lang="zh-CN" altLang="en-US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动画网格</a:t>
            </a:r>
            <a:endParaRPr lang="zh-CN" altLang="en-US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419735" y="2320925"/>
            <a:ext cx="1986915" cy="459740"/>
          </a:xfrm>
          <a:prstGeom prst="rect">
            <a:avLst/>
          </a:prstGeom>
          <a:solidFill>
            <a:srgbClr val="BFD8EC"/>
          </a:solidFill>
          <a:ln>
            <a:solidFill>
              <a:srgbClr val="BDD6EC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实时注视点</a:t>
            </a:r>
            <a:endParaRPr lang="zh-CN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420370" y="3260090"/>
            <a:ext cx="1986280" cy="459740"/>
          </a:xfrm>
          <a:prstGeom prst="rect">
            <a:avLst/>
          </a:prstGeom>
          <a:solidFill>
            <a:srgbClr val="BFD8EC"/>
          </a:solidFill>
          <a:ln>
            <a:solidFill>
              <a:srgbClr val="BDD6EC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castleCSF-TS</a:t>
            </a:r>
            <a:r>
              <a:rPr lang="zh-CN" altLang="en-US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模型</a:t>
            </a:r>
            <a:endParaRPr lang="zh-CN" altLang="en-US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420370" y="4195445"/>
            <a:ext cx="1986280" cy="459740"/>
          </a:xfrm>
          <a:prstGeom prst="rect">
            <a:avLst/>
          </a:prstGeom>
          <a:solidFill>
            <a:srgbClr val="BFD8EC"/>
          </a:solidFill>
          <a:ln>
            <a:solidFill>
              <a:srgbClr val="BDD6EC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LOD</a:t>
            </a:r>
            <a:r>
              <a:rPr lang="zh-CN" altLang="en-US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层级</a:t>
            </a:r>
            <a:endParaRPr lang="zh-CN" altLang="en-US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9" name="文本框 68"/>
          <p:cNvSpPr txBox="1"/>
          <p:nvPr/>
        </p:nvSpPr>
        <p:spPr>
          <a:xfrm>
            <a:off x="943610" y="845185"/>
            <a:ext cx="11049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输入模块</a:t>
            </a:r>
            <a:endParaRPr lang="zh-CN" altLang="en-US" sz="16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2991485" y="688975"/>
            <a:ext cx="5680075" cy="5957570"/>
          </a:xfrm>
          <a:prstGeom prst="rect">
            <a:avLst/>
          </a:prstGeom>
          <a:solidFill>
            <a:srgbClr val="EFEFEF"/>
          </a:solidFill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b="1"/>
          </a:p>
        </p:txBody>
      </p:sp>
      <p:sp>
        <p:nvSpPr>
          <p:cNvPr id="83" name="矩形 82"/>
          <p:cNvSpPr/>
          <p:nvPr/>
        </p:nvSpPr>
        <p:spPr>
          <a:xfrm>
            <a:off x="3134995" y="1105535"/>
            <a:ext cx="5410835" cy="459740"/>
          </a:xfrm>
          <a:prstGeom prst="rect">
            <a:avLst/>
          </a:prstGeom>
          <a:solidFill>
            <a:srgbClr val="D9E7F1"/>
          </a:solidFill>
          <a:ln>
            <a:solidFill>
              <a:srgbClr val="BDD6EC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5" name="矩形 84"/>
          <p:cNvSpPr/>
          <p:nvPr/>
        </p:nvSpPr>
        <p:spPr>
          <a:xfrm>
            <a:off x="3134995" y="1946275"/>
            <a:ext cx="5412105" cy="459740"/>
          </a:xfrm>
          <a:prstGeom prst="rect">
            <a:avLst/>
          </a:prstGeom>
          <a:solidFill>
            <a:srgbClr val="D9E7F1"/>
          </a:solidFill>
          <a:ln>
            <a:solidFill>
              <a:srgbClr val="BDD6EC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3134995" y="2693035"/>
            <a:ext cx="5412105" cy="459740"/>
          </a:xfrm>
          <a:prstGeom prst="rect">
            <a:avLst/>
          </a:prstGeom>
          <a:solidFill>
            <a:srgbClr val="D9E7F1"/>
          </a:solidFill>
          <a:ln>
            <a:solidFill>
              <a:srgbClr val="BDD6EC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9" name="矩形 88"/>
          <p:cNvSpPr/>
          <p:nvPr/>
        </p:nvSpPr>
        <p:spPr>
          <a:xfrm>
            <a:off x="3134995" y="3366770"/>
            <a:ext cx="5411470" cy="1288415"/>
          </a:xfrm>
          <a:prstGeom prst="rect">
            <a:avLst/>
          </a:prstGeom>
          <a:solidFill>
            <a:srgbClr val="A6CB86"/>
          </a:solidFill>
          <a:ln>
            <a:solidFill>
              <a:srgbClr val="BDD6EC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 b="1">
              <a:solidFill>
                <a:srgbClr val="FEF1C6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1" name="矩形 90"/>
          <p:cNvSpPr/>
          <p:nvPr/>
        </p:nvSpPr>
        <p:spPr>
          <a:xfrm>
            <a:off x="3215005" y="3785235"/>
            <a:ext cx="1638935" cy="683260"/>
          </a:xfrm>
          <a:prstGeom prst="rect">
            <a:avLst/>
          </a:prstGeom>
          <a:solidFill>
            <a:srgbClr val="DFEDD3"/>
          </a:solidFill>
          <a:ln>
            <a:solidFill>
              <a:srgbClr val="BDD6EC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sz="13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扫视窗口策略</a:t>
            </a:r>
            <a:endParaRPr lang="zh-CN" sz="13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sz="13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前瞻性激进降采样</a:t>
            </a:r>
            <a:endParaRPr lang="zh-CN" sz="13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4980940" y="3785235"/>
            <a:ext cx="1638935" cy="683260"/>
          </a:xfrm>
          <a:prstGeom prst="rect">
            <a:avLst/>
          </a:prstGeom>
          <a:solidFill>
            <a:srgbClr val="DFEDD3"/>
          </a:solidFill>
          <a:ln>
            <a:solidFill>
              <a:srgbClr val="BDD6EC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sz="13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恢复窗口策略</a:t>
            </a:r>
            <a:endParaRPr lang="zh-CN" sz="13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sz="13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动态平滑恢复</a:t>
            </a:r>
            <a:endParaRPr lang="zh-CN" sz="13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93" name="矩形 92"/>
          <p:cNvSpPr/>
          <p:nvPr/>
        </p:nvSpPr>
        <p:spPr>
          <a:xfrm>
            <a:off x="6779260" y="3785235"/>
            <a:ext cx="1638935" cy="683260"/>
          </a:xfrm>
          <a:prstGeom prst="rect">
            <a:avLst/>
          </a:prstGeom>
          <a:solidFill>
            <a:srgbClr val="DFEDD3"/>
          </a:solidFill>
          <a:ln>
            <a:solidFill>
              <a:srgbClr val="BDD6EC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sz="13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稳定注视期策略</a:t>
            </a:r>
            <a:endParaRPr lang="zh-CN" sz="13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sz="13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全分辨率渲染</a:t>
            </a:r>
            <a:endParaRPr lang="zh-CN" sz="13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96" name="矩形 95"/>
          <p:cNvSpPr/>
          <p:nvPr/>
        </p:nvSpPr>
        <p:spPr>
          <a:xfrm>
            <a:off x="3134995" y="4869180"/>
            <a:ext cx="5412105" cy="998855"/>
          </a:xfrm>
          <a:prstGeom prst="rect">
            <a:avLst/>
          </a:prstGeom>
          <a:solidFill>
            <a:srgbClr val="D9E7F1"/>
          </a:solidFill>
          <a:ln>
            <a:solidFill>
              <a:srgbClr val="BDD6EC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7" name="文本框 96"/>
          <p:cNvSpPr txBox="1"/>
          <p:nvPr/>
        </p:nvSpPr>
        <p:spPr>
          <a:xfrm>
            <a:off x="3127375" y="1182370"/>
            <a:ext cx="54197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sz="1400" b="1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基础</a:t>
            </a:r>
            <a:r>
              <a:rPr lang="en-US" altLang="zh-CN" sz="1400" b="1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LOD</a:t>
            </a:r>
            <a:r>
              <a:rPr lang="zh-CN" altLang="en-US" sz="1400" b="1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选择</a:t>
            </a:r>
            <a:endParaRPr lang="zh-CN" altLang="en-US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99" name="文本框 98"/>
          <p:cNvSpPr txBox="1"/>
          <p:nvPr/>
        </p:nvSpPr>
        <p:spPr>
          <a:xfrm>
            <a:off x="3127375" y="2022475"/>
            <a:ext cx="52908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sz="1400" b="1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感知驱动细分因子计算</a:t>
            </a:r>
            <a:endParaRPr lang="zh-CN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102" name="文本框 101"/>
          <p:cNvSpPr txBox="1"/>
          <p:nvPr/>
        </p:nvSpPr>
        <p:spPr>
          <a:xfrm>
            <a:off x="3134995" y="2787015"/>
            <a:ext cx="54114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b="1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GPU</a:t>
            </a:r>
            <a:r>
              <a:rPr lang="zh-CN" altLang="en-US" sz="1400" b="1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自适应细分</a:t>
            </a:r>
            <a:endParaRPr lang="zh-CN" altLang="en-US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104" name="文本框 103"/>
          <p:cNvSpPr txBox="1"/>
          <p:nvPr/>
        </p:nvSpPr>
        <p:spPr>
          <a:xfrm>
            <a:off x="3134995" y="3413125"/>
            <a:ext cx="541274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纹理处理与过渡</a:t>
            </a:r>
            <a:endParaRPr lang="zh-CN" altLang="en-US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109" name="文本框 108"/>
          <p:cNvSpPr txBox="1"/>
          <p:nvPr/>
        </p:nvSpPr>
        <p:spPr>
          <a:xfrm>
            <a:off x="3134995" y="5133340"/>
            <a:ext cx="157607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zh-CN" altLang="en-US" sz="1400" b="1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动态多分辨率场</a:t>
            </a:r>
            <a:endParaRPr lang="zh-CN" altLang="en-US" sz="1400" b="1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  <a:p>
            <a:pPr algn="l"/>
            <a:r>
              <a:rPr lang="en-US" altLang="zh-CN" sz="1400" b="1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  </a:t>
            </a:r>
            <a:r>
              <a:rPr lang="zh-CN" altLang="en-US" sz="1400" b="1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构建模块</a:t>
            </a:r>
            <a:endParaRPr lang="zh-CN" altLang="en-US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pic>
        <p:nvPicPr>
          <p:cNvPr id="119" name="图片 11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68695" y="4859655"/>
            <a:ext cx="1289685" cy="1000125"/>
          </a:xfrm>
          <a:prstGeom prst="rect">
            <a:avLst/>
          </a:prstGeom>
        </p:spPr>
      </p:pic>
      <p:sp>
        <p:nvSpPr>
          <p:cNvPr id="121" name="文本框 120"/>
          <p:cNvSpPr txBox="1"/>
          <p:nvPr/>
        </p:nvSpPr>
        <p:spPr>
          <a:xfrm>
            <a:off x="5389245" y="5222240"/>
            <a:ext cx="1448435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/>
            <a:r>
              <a:rPr lang="zh-CN" altLang="en-US" sz="1400" b="1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注视点</a:t>
            </a:r>
            <a:endParaRPr lang="zh-CN" altLang="en-US" sz="1400" b="1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122" name="文本框 121"/>
          <p:cNvSpPr txBox="1"/>
          <p:nvPr/>
        </p:nvSpPr>
        <p:spPr>
          <a:xfrm>
            <a:off x="7306945" y="4909185"/>
            <a:ext cx="1448435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/>
            <a:r>
              <a:rPr lang="zh-CN" altLang="en-US" sz="1400" b="1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偏心度</a:t>
            </a:r>
            <a:endParaRPr lang="zh-CN" altLang="en-US" sz="1400" b="1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126" name="文本框 125"/>
          <p:cNvSpPr txBox="1"/>
          <p:nvPr/>
        </p:nvSpPr>
        <p:spPr>
          <a:xfrm>
            <a:off x="7335520" y="5541010"/>
            <a:ext cx="1448435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/>
            <a:r>
              <a:rPr lang="zh-CN" altLang="en-US" sz="1400" b="1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偏心度</a:t>
            </a:r>
            <a:endParaRPr lang="zh-CN" altLang="en-US" sz="1400" b="1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127" name="矩形 126"/>
          <p:cNvSpPr/>
          <p:nvPr/>
        </p:nvSpPr>
        <p:spPr>
          <a:xfrm>
            <a:off x="3127375" y="6115685"/>
            <a:ext cx="5412105" cy="459740"/>
          </a:xfrm>
          <a:prstGeom prst="rect">
            <a:avLst/>
          </a:prstGeom>
          <a:solidFill>
            <a:srgbClr val="D9E7F1"/>
          </a:solidFill>
          <a:ln>
            <a:solidFill>
              <a:srgbClr val="BDD6EC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8" name="文本框 127"/>
          <p:cNvSpPr txBox="1"/>
          <p:nvPr/>
        </p:nvSpPr>
        <p:spPr>
          <a:xfrm>
            <a:off x="3127375" y="6181090"/>
            <a:ext cx="54114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渲染管线集成模块</a:t>
            </a:r>
            <a:endParaRPr lang="zh-CN" altLang="en-US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9" name="文本框 128"/>
          <p:cNvSpPr txBox="1"/>
          <p:nvPr/>
        </p:nvSpPr>
        <p:spPr>
          <a:xfrm>
            <a:off x="9930130" y="761365"/>
            <a:ext cx="157988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输出模块</a:t>
            </a:r>
            <a:endParaRPr lang="zh-CN" altLang="en-US" sz="16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0" name="文本框 129"/>
          <p:cNvSpPr txBox="1"/>
          <p:nvPr/>
        </p:nvSpPr>
        <p:spPr>
          <a:xfrm>
            <a:off x="5186680" y="743585"/>
            <a:ext cx="190246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核心处理流水线</a:t>
            </a:r>
            <a:endParaRPr lang="zh-CN" altLang="en-US" sz="16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1" name="矩形 130"/>
          <p:cNvSpPr/>
          <p:nvPr/>
        </p:nvSpPr>
        <p:spPr>
          <a:xfrm>
            <a:off x="9328785" y="1105535"/>
            <a:ext cx="2082165" cy="459740"/>
          </a:xfrm>
          <a:prstGeom prst="rect">
            <a:avLst/>
          </a:prstGeom>
          <a:solidFill>
            <a:srgbClr val="D7D9D8"/>
          </a:solidFill>
          <a:ln>
            <a:solidFill>
              <a:srgbClr val="BDD6EC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多分辨率渲染结果</a:t>
            </a:r>
            <a:endParaRPr lang="zh-CN" altLang="en-US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2" name="矩形 131"/>
          <p:cNvSpPr/>
          <p:nvPr/>
        </p:nvSpPr>
        <p:spPr>
          <a:xfrm>
            <a:off x="9328785" y="1565275"/>
            <a:ext cx="2082165" cy="3023870"/>
          </a:xfrm>
          <a:prstGeom prst="rect">
            <a:avLst/>
          </a:prstGeom>
          <a:solidFill>
            <a:srgbClr val="FFFFFF"/>
          </a:solidFill>
          <a:ln>
            <a:solidFill>
              <a:srgbClr val="BDD6EC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endParaRPr lang="zh-CN" altLang="en-US" sz="13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133" name="图片 1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7835" y="1572895"/>
            <a:ext cx="2053590" cy="2953385"/>
          </a:xfrm>
          <a:prstGeom prst="rect">
            <a:avLst/>
          </a:prstGeom>
        </p:spPr>
      </p:pic>
      <p:sp>
        <p:nvSpPr>
          <p:cNvPr id="134" name="矩形 133"/>
          <p:cNvSpPr/>
          <p:nvPr/>
        </p:nvSpPr>
        <p:spPr>
          <a:xfrm>
            <a:off x="9338310" y="4917440"/>
            <a:ext cx="2072640" cy="459740"/>
          </a:xfrm>
          <a:prstGeom prst="rect">
            <a:avLst/>
          </a:prstGeom>
          <a:solidFill>
            <a:srgbClr val="D7D9D8"/>
          </a:solidFill>
          <a:ln>
            <a:solidFill>
              <a:srgbClr val="BDD6EC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性能指标</a:t>
            </a:r>
            <a:endParaRPr lang="zh-CN" altLang="en-US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5" name="矩形 134"/>
          <p:cNvSpPr/>
          <p:nvPr/>
        </p:nvSpPr>
        <p:spPr>
          <a:xfrm>
            <a:off x="9338310" y="5377180"/>
            <a:ext cx="2072640" cy="1195705"/>
          </a:xfrm>
          <a:prstGeom prst="rect">
            <a:avLst/>
          </a:prstGeom>
          <a:solidFill>
            <a:srgbClr val="FFFFFF"/>
          </a:solidFill>
          <a:ln>
            <a:solidFill>
              <a:srgbClr val="BDD6EC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136" name="文本框 135"/>
          <p:cNvSpPr txBox="1"/>
          <p:nvPr/>
        </p:nvSpPr>
        <p:spPr>
          <a:xfrm>
            <a:off x="9939655" y="5434330"/>
            <a:ext cx="89281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zh-CN" altLang="en-US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高帧率</a:t>
            </a:r>
            <a:endParaRPr lang="zh-CN" altLang="en-US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137" name="文本框 136"/>
          <p:cNvSpPr txBox="1"/>
          <p:nvPr/>
        </p:nvSpPr>
        <p:spPr>
          <a:xfrm>
            <a:off x="9942830" y="5828030"/>
            <a:ext cx="89281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zh-CN" altLang="en-US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低延迟</a:t>
            </a:r>
            <a:endParaRPr lang="zh-CN" altLang="en-US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138" name="文本框 137"/>
          <p:cNvSpPr txBox="1"/>
          <p:nvPr/>
        </p:nvSpPr>
        <p:spPr>
          <a:xfrm>
            <a:off x="9952355" y="6201410"/>
            <a:ext cx="12541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altLang="zh-CN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GPU</a:t>
            </a:r>
            <a:r>
              <a:rPr lang="zh-CN" altLang="en-US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负载降低</a:t>
            </a:r>
            <a:endParaRPr lang="zh-CN" altLang="en-US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pic>
        <p:nvPicPr>
          <p:cNvPr id="139" name="图片 13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0555" y="5404485"/>
            <a:ext cx="409575" cy="337820"/>
          </a:xfrm>
          <a:prstGeom prst="rect">
            <a:avLst/>
          </a:prstGeom>
        </p:spPr>
      </p:pic>
      <p:pic>
        <p:nvPicPr>
          <p:cNvPr id="140" name="图片 13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2465" y="5780405"/>
            <a:ext cx="352425" cy="382905"/>
          </a:xfrm>
          <a:prstGeom prst="rect">
            <a:avLst/>
          </a:prstGeom>
        </p:spPr>
      </p:pic>
      <p:pic>
        <p:nvPicPr>
          <p:cNvPr id="141" name="图片 14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1505" y="6125210"/>
            <a:ext cx="428625" cy="405130"/>
          </a:xfrm>
          <a:prstGeom prst="rect">
            <a:avLst/>
          </a:prstGeom>
        </p:spPr>
      </p:pic>
      <p:cxnSp>
        <p:nvCxnSpPr>
          <p:cNvPr id="150" name="直接箭头连接符 149"/>
          <p:cNvCxnSpPr>
            <a:stCxn id="83" idx="2"/>
            <a:endCxn id="85" idx="0"/>
          </p:cNvCxnSpPr>
          <p:nvPr/>
        </p:nvCxnSpPr>
        <p:spPr>
          <a:xfrm>
            <a:off x="5840730" y="1565275"/>
            <a:ext cx="635" cy="381000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1" name="直接箭头连接符 150"/>
          <p:cNvCxnSpPr>
            <a:stCxn id="85" idx="2"/>
            <a:endCxn id="86" idx="0"/>
          </p:cNvCxnSpPr>
          <p:nvPr/>
        </p:nvCxnSpPr>
        <p:spPr>
          <a:xfrm>
            <a:off x="5841365" y="2406015"/>
            <a:ext cx="0" cy="287020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2" name="直接箭头连接符 151"/>
          <p:cNvCxnSpPr>
            <a:stCxn id="86" idx="2"/>
          </p:cNvCxnSpPr>
          <p:nvPr/>
        </p:nvCxnSpPr>
        <p:spPr>
          <a:xfrm>
            <a:off x="5841365" y="3152775"/>
            <a:ext cx="1905" cy="213995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3" name="直接箭头连接符 152"/>
          <p:cNvCxnSpPr>
            <a:stCxn id="89" idx="2"/>
            <a:endCxn id="96" idx="0"/>
          </p:cNvCxnSpPr>
          <p:nvPr/>
        </p:nvCxnSpPr>
        <p:spPr>
          <a:xfrm>
            <a:off x="5840730" y="4655185"/>
            <a:ext cx="635" cy="213995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4" name="直接箭头连接符 153"/>
          <p:cNvCxnSpPr>
            <a:stCxn id="96" idx="2"/>
            <a:endCxn id="127" idx="0"/>
          </p:cNvCxnSpPr>
          <p:nvPr/>
        </p:nvCxnSpPr>
        <p:spPr>
          <a:xfrm flipH="1">
            <a:off x="5833745" y="5868035"/>
            <a:ext cx="7620" cy="247650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5" name="肘形连接符 154"/>
          <p:cNvCxnSpPr>
            <a:stCxn id="128" idx="3"/>
            <a:endCxn id="131" idx="1"/>
          </p:cNvCxnSpPr>
          <p:nvPr/>
        </p:nvCxnSpPr>
        <p:spPr>
          <a:xfrm flipV="1">
            <a:off x="8538845" y="1335405"/>
            <a:ext cx="789940" cy="499935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6" name="直接箭头连接符 155"/>
          <p:cNvCxnSpPr>
            <a:stCxn id="132" idx="2"/>
            <a:endCxn id="134" idx="0"/>
          </p:cNvCxnSpPr>
          <p:nvPr/>
        </p:nvCxnSpPr>
        <p:spPr>
          <a:xfrm>
            <a:off x="10370185" y="4589145"/>
            <a:ext cx="4445" cy="328295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57" name="矩形 156"/>
          <p:cNvSpPr/>
          <p:nvPr/>
        </p:nvSpPr>
        <p:spPr>
          <a:xfrm>
            <a:off x="102870" y="187325"/>
            <a:ext cx="11663045" cy="6585585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  <a:extLst>
            <a:ext uri="{909E8E84-426E-40DD-AFC4-6F175D3DCCD1}">
              <a14:hiddenFill xmlns:a14="http://schemas.microsoft.com/office/drawing/2010/main">
                <a:solidFill>
                  <a:srgbClr val="EFEFEF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b="1"/>
          </a:p>
        </p:txBody>
      </p:sp>
      <p:sp>
        <p:nvSpPr>
          <p:cNvPr id="158" name="文本框 157"/>
          <p:cNvSpPr txBox="1"/>
          <p:nvPr/>
        </p:nvSpPr>
        <p:spPr>
          <a:xfrm>
            <a:off x="4257040" y="259715"/>
            <a:ext cx="371348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感知自适应动态分辨率渲染算法框架</a:t>
            </a:r>
            <a:endParaRPr lang="zh-CN" altLang="en-US" sz="16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59" name="矩形 158"/>
          <p:cNvSpPr/>
          <p:nvPr/>
        </p:nvSpPr>
        <p:spPr>
          <a:xfrm>
            <a:off x="421640" y="5195570"/>
            <a:ext cx="1986280" cy="459740"/>
          </a:xfrm>
          <a:prstGeom prst="rect">
            <a:avLst/>
          </a:prstGeom>
          <a:solidFill>
            <a:srgbClr val="BFD8EC"/>
          </a:solidFill>
          <a:ln>
            <a:solidFill>
              <a:srgbClr val="BDD6EC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偏心度阈值</a:t>
            </a:r>
            <a:endParaRPr lang="zh-CN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196</Words>
  <Application>WPS 演示</Application>
  <PresentationFormat>宽屏</PresentationFormat>
  <Paragraphs>56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Arial Unicode MS</vt:lpstr>
      <vt:lpstr>Calibri</vt:lpstr>
      <vt:lpstr>微软雅黑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山长水远.</cp:lastModifiedBy>
  <cp:revision>5</cp:revision>
  <dcterms:created xsi:type="dcterms:W3CDTF">2023-08-09T12:44:00Z</dcterms:created>
  <dcterms:modified xsi:type="dcterms:W3CDTF">2026-03-04T13:42:07Z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2052-12.1.0.24657</vt:lpwstr>
  </property>
  <property fmtid="{D5CDD505-2E9C-101B-9397-08002B2CF9AE}" pid="3" name="ICV">
    <vt:lpwstr>3D08118175D24E69995223A1122D8D00_12</vt:lpwstr>
  </property>
</Properties>
</file>