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8"/>
  </p:notesMasterIdLst>
  <p:sldIdLst>
    <p:sldId id="256" r:id="rId3"/>
    <p:sldId id="283" r:id="rId4"/>
    <p:sldId id="284" r:id="rId5"/>
    <p:sldId id="257" r:id="rId6"/>
    <p:sldId id="258" r:id="rId7"/>
    <p:sldId id="259" r:id="rId8"/>
    <p:sldId id="260" r:id="rId9"/>
    <p:sldId id="261" r:id="rId10"/>
    <p:sldId id="274" r:id="rId11"/>
    <p:sldId id="262" r:id="rId12"/>
    <p:sldId id="266" r:id="rId13"/>
    <p:sldId id="263" r:id="rId14"/>
    <p:sldId id="264" r:id="rId15"/>
    <p:sldId id="265" r:id="rId16"/>
    <p:sldId id="270" r:id="rId17"/>
    <p:sldId id="267" r:id="rId18"/>
    <p:sldId id="268" r:id="rId19"/>
    <p:sldId id="269" r:id="rId20"/>
    <p:sldId id="271" r:id="rId21"/>
    <p:sldId id="278" r:id="rId22"/>
    <p:sldId id="279" r:id="rId23"/>
    <p:sldId id="280" r:id="rId24"/>
    <p:sldId id="272" r:id="rId25"/>
    <p:sldId id="273" r:id="rId26"/>
    <p:sldId id="275" r:id="rId27"/>
    <p:sldId id="276" r:id="rId29"/>
    <p:sldId id="277" r:id="rId30"/>
    <p:sldId id="282" r:id="rId31"/>
    <p:sldId id="281" r:id="rId32"/>
    <p:sldId id="285" r:id="rId33"/>
    <p:sldId id="286" r:id="rId34"/>
    <p:sldId id="288" r:id="rId35"/>
    <p:sldId id="287" r:id="rId36"/>
    <p:sldId id="289" r:id="rId37"/>
    <p:sldId id="290" r:id="rId38"/>
    <p:sldId id="291" r:id="rId39"/>
    <p:sldId id="292" r:id="rId40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308" userDrawn="1">
          <p15:clr>
            <a:srgbClr val="A4A3A4"/>
          </p15:clr>
        </p15:guide>
        <p15:guide id="2" pos="3897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BEDEC"/>
    <a:srgbClr val="D7D9D8"/>
    <a:srgbClr val="BFD8EC"/>
    <a:srgbClr val="D5D5D5"/>
    <a:srgbClr val="D9E7F1"/>
    <a:srgbClr val="DFEDD3"/>
    <a:srgbClr val="A6CB86"/>
    <a:srgbClr val="FEF1C7"/>
    <a:srgbClr val="FEF1C6"/>
    <a:srgbClr val="FDF0C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 showGuides="1">
      <p:cViewPr varScale="1">
        <p:scale>
          <a:sx n="116" d="100"/>
          <a:sy n="116" d="100"/>
        </p:scale>
        <p:origin x="336" y="108"/>
      </p:cViewPr>
      <p:guideLst>
        <p:guide orient="horz" pos="2308"/>
        <p:guide pos="3897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3" Type="http://schemas.openxmlformats.org/officeDocument/2006/relationships/tableStyles" Target="tableStyles.xml"/><Relationship Id="rId42" Type="http://schemas.openxmlformats.org/officeDocument/2006/relationships/viewProps" Target="viewProps.xml"/><Relationship Id="rId41" Type="http://schemas.openxmlformats.org/officeDocument/2006/relationships/presProps" Target="presProps.xml"/><Relationship Id="rId40" Type="http://schemas.openxmlformats.org/officeDocument/2006/relationships/slide" Target="slides/slide37.xml"/><Relationship Id="rId4" Type="http://schemas.openxmlformats.org/officeDocument/2006/relationships/slide" Target="slides/slide2.xml"/><Relationship Id="rId39" Type="http://schemas.openxmlformats.org/officeDocument/2006/relationships/slide" Target="slides/slide36.xml"/><Relationship Id="rId38" Type="http://schemas.openxmlformats.org/officeDocument/2006/relationships/slide" Target="slides/slide35.xml"/><Relationship Id="rId37" Type="http://schemas.openxmlformats.org/officeDocument/2006/relationships/slide" Target="slides/slide34.xml"/><Relationship Id="rId36" Type="http://schemas.openxmlformats.org/officeDocument/2006/relationships/slide" Target="slides/slide33.xml"/><Relationship Id="rId35" Type="http://schemas.openxmlformats.org/officeDocument/2006/relationships/slide" Target="slides/slide32.xml"/><Relationship Id="rId34" Type="http://schemas.openxmlformats.org/officeDocument/2006/relationships/slide" Target="slides/slide31.xml"/><Relationship Id="rId33" Type="http://schemas.openxmlformats.org/officeDocument/2006/relationships/slide" Target="slides/slide30.xml"/><Relationship Id="rId32" Type="http://schemas.openxmlformats.org/officeDocument/2006/relationships/slide" Target="slides/slide29.xml"/><Relationship Id="rId31" Type="http://schemas.openxmlformats.org/officeDocument/2006/relationships/slide" Target="slides/slide28.xml"/><Relationship Id="rId30" Type="http://schemas.openxmlformats.org/officeDocument/2006/relationships/slide" Target="slides/slide27.xml"/><Relationship Id="rId3" Type="http://schemas.openxmlformats.org/officeDocument/2006/relationships/slide" Target="slides/slide1.xml"/><Relationship Id="rId29" Type="http://schemas.openxmlformats.org/officeDocument/2006/relationships/slide" Target="slides/slide26.xml"/><Relationship Id="rId28" Type="http://schemas.openxmlformats.org/officeDocument/2006/relationships/notesMaster" Target="notesMasters/notesMaster1.xml"/><Relationship Id="rId27" Type="http://schemas.openxmlformats.org/officeDocument/2006/relationships/slide" Target="slides/slide25.xml"/><Relationship Id="rId26" Type="http://schemas.openxmlformats.org/officeDocument/2006/relationships/slide" Target="slides/slide24.xml"/><Relationship Id="rId25" Type="http://schemas.openxmlformats.org/officeDocument/2006/relationships/slide" Target="slides/slide23.xml"/><Relationship Id="rId24" Type="http://schemas.openxmlformats.org/officeDocument/2006/relationships/slide" Target="slides/slide22.xml"/><Relationship Id="rId23" Type="http://schemas.openxmlformats.org/officeDocument/2006/relationships/slide" Target="slides/slide21.xml"/><Relationship Id="rId22" Type="http://schemas.openxmlformats.org/officeDocument/2006/relationships/slide" Target="slides/slide20.xml"/><Relationship Id="rId21" Type="http://schemas.openxmlformats.org/officeDocument/2006/relationships/slide" Target="slides/slide19.xml"/><Relationship Id="rId20" Type="http://schemas.openxmlformats.org/officeDocument/2006/relationships/slide" Target="slides/slide18.xml"/><Relationship Id="rId2" Type="http://schemas.openxmlformats.org/officeDocument/2006/relationships/theme" Target="theme/theme1.xml"/><Relationship Id="rId19" Type="http://schemas.openxmlformats.org/officeDocument/2006/relationships/slide" Target="slides/slide17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5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5.png"/><Relationship Id="rId1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7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8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9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0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1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2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3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4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5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6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7.pn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8.pn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9.png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0.png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1.png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2.png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3.png"/></Relationships>
</file>

<file path=ppt/slides/_rels/slide25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1.xml"/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27.png"/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image" Target="../media/image24.png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2.xml"/><Relationship Id="rId5" Type="http://schemas.openxmlformats.org/officeDocument/2006/relationships/image" Target="../media/image32.png"/><Relationship Id="rId4" Type="http://schemas.openxmlformats.org/officeDocument/2006/relationships/image" Target="../media/image31.png"/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image" Target="../media/image28.png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3.png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4.png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5.png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6.png"/></Relationships>
</file>

<file path=ppt/slides/_rels/slide34.xml.rels><?xml version="1.0" encoding="UTF-8" standalone="yes"?>
<Relationships xmlns="http://schemas.openxmlformats.org/package/2006/relationships"><Relationship Id="rId9" Type="http://schemas.openxmlformats.org/officeDocument/2006/relationships/image" Target="../media/image45.png"/><Relationship Id="rId8" Type="http://schemas.openxmlformats.org/officeDocument/2006/relationships/image" Target="../media/image44.png"/><Relationship Id="rId7" Type="http://schemas.openxmlformats.org/officeDocument/2006/relationships/image" Target="../media/image43.png"/><Relationship Id="rId6" Type="http://schemas.openxmlformats.org/officeDocument/2006/relationships/image" Target="../media/image42.png"/><Relationship Id="rId5" Type="http://schemas.openxmlformats.org/officeDocument/2006/relationships/image" Target="../media/image41.png"/><Relationship Id="rId4" Type="http://schemas.openxmlformats.org/officeDocument/2006/relationships/image" Target="../media/image40.png"/><Relationship Id="rId3" Type="http://schemas.openxmlformats.org/officeDocument/2006/relationships/image" Target="../media/image39.png"/><Relationship Id="rId2" Type="http://schemas.openxmlformats.org/officeDocument/2006/relationships/image" Target="../media/image38.png"/><Relationship Id="rId10" Type="http://schemas.openxmlformats.org/officeDocument/2006/relationships/slideLayout" Target="../slideLayouts/slideLayout2.xml"/><Relationship Id="rId1" Type="http://schemas.openxmlformats.org/officeDocument/2006/relationships/image" Target="../media/image37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47.png"/><Relationship Id="rId1" Type="http://schemas.openxmlformats.org/officeDocument/2006/relationships/image" Target="../media/image46.pn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49.png"/><Relationship Id="rId1" Type="http://schemas.openxmlformats.org/officeDocument/2006/relationships/image" Target="../media/image48.pn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51.png"/><Relationship Id="rId1" Type="http://schemas.openxmlformats.org/officeDocument/2006/relationships/image" Target="../media/image5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6" name="图片 5" descr="standard-QEM - 副本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357120" y="1323975"/>
            <a:ext cx="7477125" cy="4210050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74695" y="3187700"/>
            <a:ext cx="558165" cy="574675"/>
          </a:xfrm>
          <a:prstGeom prst="rect">
            <a:avLst/>
          </a:prstGeom>
        </p:spPr>
      </p:pic>
      <p:sp>
        <p:nvSpPr>
          <p:cNvPr id="8" name="矩形 7"/>
          <p:cNvSpPr/>
          <p:nvPr/>
        </p:nvSpPr>
        <p:spPr>
          <a:xfrm>
            <a:off x="3179445" y="3136265"/>
            <a:ext cx="673735" cy="647065"/>
          </a:xfrm>
          <a:prstGeom prst="rect">
            <a:avLst/>
          </a:prstGeom>
          <a:noFill/>
          <a:ln w="19050">
            <a:solidFill>
              <a:srgbClr val="FF0000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9" name="矩形 8"/>
          <p:cNvSpPr/>
          <p:nvPr/>
        </p:nvSpPr>
        <p:spPr>
          <a:xfrm>
            <a:off x="6095365" y="3093720"/>
            <a:ext cx="1064895" cy="1878330"/>
          </a:xfrm>
          <a:prstGeom prst="rect">
            <a:avLst/>
          </a:prstGeom>
          <a:noFill/>
          <a:ln w="19050">
            <a:solidFill>
              <a:srgbClr val="FF0000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236470" y="1086485"/>
            <a:ext cx="7467600" cy="4181475"/>
          </a:xfrm>
          <a:prstGeom prst="rect">
            <a:avLst/>
          </a:prstGeom>
        </p:spPr>
      </p:pic>
      <p:sp>
        <p:nvSpPr>
          <p:cNvPr id="8" name="矩形 7"/>
          <p:cNvSpPr/>
          <p:nvPr/>
        </p:nvSpPr>
        <p:spPr>
          <a:xfrm>
            <a:off x="3179445" y="2896235"/>
            <a:ext cx="673735" cy="647065"/>
          </a:xfrm>
          <a:prstGeom prst="rect">
            <a:avLst/>
          </a:prstGeom>
          <a:noFill/>
          <a:ln w="19050">
            <a:solidFill>
              <a:srgbClr val="FF0000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" name="矩形 4"/>
          <p:cNvSpPr/>
          <p:nvPr/>
        </p:nvSpPr>
        <p:spPr>
          <a:xfrm>
            <a:off x="5956935" y="2781935"/>
            <a:ext cx="1069340" cy="1607820"/>
          </a:xfrm>
          <a:prstGeom prst="rect">
            <a:avLst/>
          </a:prstGeom>
          <a:noFill/>
          <a:ln w="19050">
            <a:solidFill>
              <a:srgbClr val="FF0000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5" name="图片 4" descr="SFSP-QEM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357120" y="1351915"/>
            <a:ext cx="7477125" cy="4171950"/>
          </a:xfrm>
          <a:prstGeom prst="rect">
            <a:avLst/>
          </a:prstGeom>
        </p:spPr>
      </p:pic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50160" y="1943735"/>
            <a:ext cx="1223645" cy="534670"/>
          </a:xfrm>
          <a:prstGeom prst="rect">
            <a:avLst/>
          </a:prstGeom>
        </p:spPr>
      </p:pic>
      <p:sp>
        <p:nvSpPr>
          <p:cNvPr id="8" name="矩形 7"/>
          <p:cNvSpPr/>
          <p:nvPr/>
        </p:nvSpPr>
        <p:spPr>
          <a:xfrm>
            <a:off x="2505710" y="2015490"/>
            <a:ext cx="1268095" cy="454025"/>
          </a:xfrm>
          <a:prstGeom prst="rect">
            <a:avLst/>
          </a:prstGeom>
          <a:noFill/>
          <a:ln w="19050">
            <a:solidFill>
              <a:srgbClr val="FF0000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0" name="矩形 9"/>
          <p:cNvSpPr/>
          <p:nvPr/>
        </p:nvSpPr>
        <p:spPr>
          <a:xfrm>
            <a:off x="5876290" y="3068320"/>
            <a:ext cx="1358900" cy="1379855"/>
          </a:xfrm>
          <a:prstGeom prst="rect">
            <a:avLst/>
          </a:prstGeom>
          <a:noFill/>
          <a:ln w="19050">
            <a:solidFill>
              <a:srgbClr val="FF0000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图片 1" descr="Yang-AQEM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266315" y="1271270"/>
            <a:ext cx="7548880" cy="4253230"/>
          </a:xfrm>
          <a:prstGeom prst="rect">
            <a:avLst/>
          </a:prstGeom>
        </p:spPr>
      </p:pic>
      <p:sp>
        <p:nvSpPr>
          <p:cNvPr id="3" name="矩形 2"/>
          <p:cNvSpPr/>
          <p:nvPr/>
        </p:nvSpPr>
        <p:spPr>
          <a:xfrm>
            <a:off x="3664585" y="2644140"/>
            <a:ext cx="1276985" cy="498475"/>
          </a:xfrm>
          <a:prstGeom prst="rect">
            <a:avLst/>
          </a:prstGeom>
          <a:noFill/>
          <a:ln w="19050">
            <a:solidFill>
              <a:srgbClr val="FF0000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6" name="矩形 5"/>
          <p:cNvSpPr/>
          <p:nvPr/>
        </p:nvSpPr>
        <p:spPr>
          <a:xfrm rot="840000">
            <a:off x="5003800" y="3142615"/>
            <a:ext cx="1268095" cy="454025"/>
          </a:xfrm>
          <a:prstGeom prst="rect">
            <a:avLst/>
          </a:prstGeom>
          <a:noFill/>
          <a:ln w="19050">
            <a:solidFill>
              <a:srgbClr val="FF0000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" name="图片 3" descr="ours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371725" y="1333500"/>
            <a:ext cx="7448550" cy="4191000"/>
          </a:xfrm>
          <a:prstGeom prst="rect">
            <a:avLst/>
          </a:prstGeom>
        </p:spPr>
      </p:pic>
      <p:sp>
        <p:nvSpPr>
          <p:cNvPr id="5" name="矩形 4"/>
          <p:cNvSpPr/>
          <p:nvPr/>
        </p:nvSpPr>
        <p:spPr>
          <a:xfrm>
            <a:off x="3664585" y="2644140"/>
            <a:ext cx="1276985" cy="498475"/>
          </a:xfrm>
          <a:prstGeom prst="rect">
            <a:avLst/>
          </a:prstGeom>
          <a:noFill/>
          <a:ln w="19050">
            <a:solidFill>
              <a:srgbClr val="FF0000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6" name="矩形 5"/>
          <p:cNvSpPr/>
          <p:nvPr/>
        </p:nvSpPr>
        <p:spPr>
          <a:xfrm>
            <a:off x="6010910" y="2945130"/>
            <a:ext cx="1069340" cy="1957705"/>
          </a:xfrm>
          <a:prstGeom prst="rect">
            <a:avLst/>
          </a:prstGeom>
          <a:noFill/>
          <a:ln w="19050">
            <a:solidFill>
              <a:srgbClr val="FF0000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7" name="矩形 6"/>
          <p:cNvSpPr/>
          <p:nvPr/>
        </p:nvSpPr>
        <p:spPr>
          <a:xfrm rot="840000">
            <a:off x="5060315" y="3239770"/>
            <a:ext cx="845185" cy="343535"/>
          </a:xfrm>
          <a:prstGeom prst="rect">
            <a:avLst/>
          </a:prstGeom>
          <a:noFill/>
          <a:ln w="19050">
            <a:solidFill>
              <a:srgbClr val="FF0000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8" name="矩形 7"/>
          <p:cNvSpPr/>
          <p:nvPr/>
        </p:nvSpPr>
        <p:spPr>
          <a:xfrm>
            <a:off x="3278505" y="3219450"/>
            <a:ext cx="673735" cy="647065"/>
          </a:xfrm>
          <a:prstGeom prst="rect">
            <a:avLst/>
          </a:prstGeom>
          <a:noFill/>
          <a:ln w="19050">
            <a:solidFill>
              <a:srgbClr val="FF0000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9" name="矩形 8"/>
          <p:cNvSpPr/>
          <p:nvPr/>
        </p:nvSpPr>
        <p:spPr>
          <a:xfrm>
            <a:off x="2505710" y="2024380"/>
            <a:ext cx="1268095" cy="454025"/>
          </a:xfrm>
          <a:prstGeom prst="rect">
            <a:avLst/>
          </a:prstGeom>
          <a:noFill/>
          <a:ln w="19050">
            <a:solidFill>
              <a:srgbClr val="FF0000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" name="图片 3" descr="3种不同层次的动画网格（待标注）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776605"/>
            <a:ext cx="12192000" cy="5304790"/>
          </a:xfrm>
          <a:prstGeom prst="rect">
            <a:avLst/>
          </a:prstGeom>
        </p:spPr>
      </p:pic>
      <p:sp>
        <p:nvSpPr>
          <p:cNvPr id="5" name="文本框 4"/>
          <p:cNvSpPr txBox="1"/>
          <p:nvPr/>
        </p:nvSpPr>
        <p:spPr>
          <a:xfrm>
            <a:off x="109855" y="1376045"/>
            <a:ext cx="1134745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200" b="1">
                <a:solidFill>
                  <a:schemeClr val="bg2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原始动画网格</a:t>
            </a:r>
            <a:endParaRPr lang="zh-CN" altLang="en-US" sz="1200" b="1">
              <a:solidFill>
                <a:schemeClr val="bg2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-15240" y="2545715"/>
            <a:ext cx="118872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200" b="1">
                <a:solidFill>
                  <a:schemeClr val="bg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lang="en-US" altLang="zh-CN" sz="1200" b="1">
                <a:solidFill>
                  <a:schemeClr val="bg2"/>
                </a:solidFill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</a:rPr>
              <a:t>LOD0</a:t>
            </a:r>
            <a:endParaRPr lang="en-US" altLang="zh-CN" sz="1200" b="1">
              <a:solidFill>
                <a:schemeClr val="bg2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r>
              <a:rPr lang="en-US" altLang="zh-CN" sz="1200" b="1">
                <a:solidFill>
                  <a:schemeClr val="bg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</a:t>
            </a:r>
            <a:r>
              <a:rPr lang="zh-CN" altLang="en-US" sz="1200" b="1">
                <a:solidFill>
                  <a:schemeClr val="bg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简化率</a:t>
            </a:r>
            <a:r>
              <a:rPr lang="en-US" altLang="zh-CN" sz="1200" b="1">
                <a:solidFill>
                  <a:schemeClr val="bg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r>
              <a:rPr lang="en-US" altLang="zh-CN" sz="1200" b="1">
                <a:solidFill>
                  <a:schemeClr val="bg2"/>
                </a:solidFill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</a:rPr>
              <a:t>40%</a:t>
            </a:r>
            <a:endParaRPr lang="en-US" altLang="zh-CN" sz="1200" b="1">
              <a:solidFill>
                <a:schemeClr val="bg2"/>
              </a:solidFill>
              <a:latin typeface="Times New Roman" panose="02020603050405020304" charset="0"/>
              <a:ea typeface="宋体" panose="02010600030101010101" pitchFamily="2" charset="-122"/>
              <a:cs typeface="Times New Roman" panose="02020603050405020304" charset="0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29210" y="3998595"/>
            <a:ext cx="118872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200" b="1">
                <a:solidFill>
                  <a:schemeClr val="bg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lang="en-US" altLang="zh-CN" sz="1200" b="1">
                <a:solidFill>
                  <a:schemeClr val="bg2"/>
                </a:solidFill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</a:rPr>
              <a:t>LOD1</a:t>
            </a:r>
            <a:endParaRPr lang="en-US" altLang="zh-CN" sz="1200" b="1">
              <a:solidFill>
                <a:schemeClr val="bg2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r>
              <a:rPr lang="en-US" altLang="zh-CN" sz="1200" b="1">
                <a:solidFill>
                  <a:schemeClr val="bg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</a:t>
            </a:r>
            <a:r>
              <a:rPr lang="zh-CN" altLang="en-US" sz="1200" b="1">
                <a:solidFill>
                  <a:schemeClr val="bg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简化率</a:t>
            </a:r>
            <a:r>
              <a:rPr lang="en-US" altLang="zh-CN" sz="1200" b="1">
                <a:solidFill>
                  <a:schemeClr val="bg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2</a:t>
            </a:r>
            <a:r>
              <a:rPr lang="en-US" altLang="zh-CN" sz="1200" b="1">
                <a:solidFill>
                  <a:schemeClr val="bg2"/>
                </a:solidFill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</a:rPr>
              <a:t>0%</a:t>
            </a:r>
            <a:endParaRPr lang="en-US" altLang="zh-CN" sz="1200" b="1">
              <a:solidFill>
                <a:schemeClr val="bg2"/>
              </a:solidFill>
              <a:latin typeface="Times New Roman" panose="02020603050405020304" charset="0"/>
              <a:ea typeface="宋体" panose="02010600030101010101" pitchFamily="2" charset="-122"/>
              <a:cs typeface="Times New Roman" panose="02020603050405020304" charset="0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38100" y="5127625"/>
            <a:ext cx="118872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200" b="1">
                <a:solidFill>
                  <a:schemeClr val="bg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lang="en-US" altLang="zh-CN" sz="1200" b="1">
                <a:solidFill>
                  <a:schemeClr val="bg2"/>
                </a:solidFill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</a:rPr>
              <a:t>LOD2</a:t>
            </a:r>
            <a:endParaRPr lang="en-US" altLang="zh-CN" sz="1200" b="1">
              <a:solidFill>
                <a:schemeClr val="bg2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r>
              <a:rPr lang="en-US" altLang="zh-CN" sz="1200" b="1">
                <a:solidFill>
                  <a:schemeClr val="bg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</a:t>
            </a:r>
            <a:r>
              <a:rPr lang="zh-CN" altLang="en-US" sz="1200" b="1">
                <a:solidFill>
                  <a:schemeClr val="bg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简化率</a:t>
            </a:r>
            <a:r>
              <a:rPr lang="en-US" altLang="zh-CN" sz="1200" b="1">
                <a:solidFill>
                  <a:schemeClr val="bg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5</a:t>
            </a:r>
            <a:r>
              <a:rPr lang="en-US" altLang="zh-CN" sz="1200" b="1">
                <a:solidFill>
                  <a:schemeClr val="bg2"/>
                </a:solidFill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</a:rPr>
              <a:t>%</a:t>
            </a:r>
            <a:endParaRPr lang="en-US" altLang="zh-CN" sz="1200" b="1">
              <a:solidFill>
                <a:schemeClr val="bg2"/>
              </a:solidFill>
              <a:latin typeface="Times New Roman" panose="02020603050405020304" charset="0"/>
              <a:ea typeface="宋体" panose="02010600030101010101" pitchFamily="2" charset="-122"/>
              <a:cs typeface="Times New Roman" panose="02020603050405020304" charset="0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" name="图片 3" descr="线框版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657860"/>
            <a:ext cx="12192000" cy="554228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395220" y="1366520"/>
            <a:ext cx="7400925" cy="4124325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05965" y="994410"/>
            <a:ext cx="7429500" cy="41529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395220" y="1366520"/>
            <a:ext cx="7400925" cy="4124325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376170" y="1366520"/>
            <a:ext cx="7439025" cy="4124325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978660" y="0"/>
            <a:ext cx="823404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972310" y="0"/>
            <a:ext cx="824674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73275" y="0"/>
            <a:ext cx="804481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986280" y="0"/>
            <a:ext cx="821944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6510" y="0"/>
            <a:ext cx="961898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6" name="图片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598805"/>
            <a:ext cx="12192000" cy="579374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519430"/>
            <a:ext cx="12192000" cy="5818505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6" name="图片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521335"/>
            <a:ext cx="12192000" cy="5815330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4247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635"/>
            <a:ext cx="12192000" cy="6856095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42325" y="124460"/>
            <a:ext cx="791210" cy="829310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21950" y="99060"/>
            <a:ext cx="723900" cy="864235"/>
          </a:xfrm>
          <a:prstGeom prst="rect">
            <a:avLst/>
          </a:prstGeom>
        </p:spPr>
      </p:pic>
      <p:cxnSp>
        <p:nvCxnSpPr>
          <p:cNvPr id="6" name="直接箭头连接符 5"/>
          <p:cNvCxnSpPr>
            <a:stCxn id="5" idx="1"/>
            <a:endCxn id="4" idx="3"/>
          </p:cNvCxnSpPr>
          <p:nvPr/>
        </p:nvCxnSpPr>
        <p:spPr>
          <a:xfrm flipH="1">
            <a:off x="9233535" y="531495"/>
            <a:ext cx="1288415" cy="7620"/>
          </a:xfrm>
          <a:prstGeom prst="straightConnector1">
            <a:avLst/>
          </a:prstGeom>
          <a:ln w="19050">
            <a:headEnd type="none" w="med" len="med"/>
            <a:tailEnd type="triangle" w="med" len="med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7" name="文本框 6"/>
          <p:cNvSpPr txBox="1"/>
          <p:nvPr/>
        </p:nvSpPr>
        <p:spPr>
          <a:xfrm>
            <a:off x="9349740" y="207645"/>
            <a:ext cx="1115695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200" b="1">
                <a:latin typeface="宋体" panose="02010600030101010101" pitchFamily="2" charset="-122"/>
                <a:ea typeface="宋体" panose="02010600030101010101" pitchFamily="2" charset="-122"/>
              </a:rPr>
              <a:t>眼动追踪数据</a:t>
            </a:r>
            <a:endParaRPr lang="zh-CN" altLang="en-US" sz="1200" b="1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5020" y="5064125"/>
            <a:ext cx="925830" cy="939800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38680" y="5130165"/>
            <a:ext cx="1094105" cy="884555"/>
          </a:xfrm>
          <a:prstGeom prst="rect">
            <a:avLst/>
          </a:prstGeom>
        </p:spPr>
      </p:pic>
      <p:sp>
        <p:nvSpPr>
          <p:cNvPr id="11" name="圆角矩形 10"/>
          <p:cNvSpPr/>
          <p:nvPr/>
        </p:nvSpPr>
        <p:spPr>
          <a:xfrm>
            <a:off x="6678930" y="1108075"/>
            <a:ext cx="5165090" cy="1586230"/>
          </a:xfrm>
          <a:prstGeom prst="roundRect">
            <a:avLst>
              <a:gd name="adj" fmla="val 2121"/>
            </a:avLst>
          </a:prstGeom>
          <a:solidFill>
            <a:srgbClr val="92CDDB"/>
          </a:solidFill>
        </p:spPr>
        <p:style>
          <a:lnRef idx="0">
            <a:srgbClr val="FFFFFF"/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sz="1200"/>
          </a:p>
        </p:txBody>
      </p:sp>
      <p:sp>
        <p:nvSpPr>
          <p:cNvPr id="12" name="文本框 11"/>
          <p:cNvSpPr txBox="1"/>
          <p:nvPr/>
        </p:nvSpPr>
        <p:spPr>
          <a:xfrm>
            <a:off x="8691880" y="1146810"/>
            <a:ext cx="1653540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4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应用层</a:t>
            </a:r>
            <a:r>
              <a:rPr lang="en-US" altLang="zh-CN" sz="14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- </a:t>
            </a:r>
            <a:r>
              <a:rPr lang="en-US" altLang="zh-CN" sz="1400" b="1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</a:rPr>
              <a:t>VR </a:t>
            </a:r>
            <a:r>
              <a:rPr lang="zh-CN" altLang="en-US" sz="14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端</a:t>
            </a:r>
            <a:endParaRPr lang="zh-CN" altLang="en-US" sz="1400" b="1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4" name="圆角矩形 13"/>
          <p:cNvSpPr/>
          <p:nvPr/>
        </p:nvSpPr>
        <p:spPr>
          <a:xfrm>
            <a:off x="6837045" y="1474470"/>
            <a:ext cx="4866640" cy="1031875"/>
          </a:xfrm>
          <a:prstGeom prst="roundRect">
            <a:avLst>
              <a:gd name="adj" fmla="val 5430"/>
            </a:avLst>
          </a:prstGeom>
          <a:solidFill>
            <a:srgbClr val="DBEEF4"/>
          </a:solidFill>
        </p:spPr>
        <p:style>
          <a:lnRef idx="0">
            <a:srgbClr val="FFFFFF"/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sz="1200"/>
          </a:p>
        </p:txBody>
      </p:sp>
      <p:sp>
        <p:nvSpPr>
          <p:cNvPr id="15" name="文本框 14"/>
          <p:cNvSpPr txBox="1"/>
          <p:nvPr/>
        </p:nvSpPr>
        <p:spPr>
          <a:xfrm>
            <a:off x="8925560" y="1545590"/>
            <a:ext cx="1350645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4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渲染引擎层</a:t>
            </a:r>
            <a:endParaRPr lang="zh-CN" altLang="en-US" sz="1400" b="1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6" name="圆角矩形 15"/>
          <p:cNvSpPr/>
          <p:nvPr/>
        </p:nvSpPr>
        <p:spPr>
          <a:xfrm>
            <a:off x="6957060" y="1898650"/>
            <a:ext cx="1307465" cy="452755"/>
          </a:xfrm>
          <a:prstGeom prst="roundRect">
            <a:avLst>
              <a:gd name="adj" fmla="val 5430"/>
            </a:avLst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r>
              <a:rPr lang="zh-CN" altLang="en-US" sz="1200" b="1">
                <a:latin typeface="宋体" panose="02010600030101010101" pitchFamily="2" charset="-122"/>
                <a:ea typeface="宋体" panose="02010600030101010101" pitchFamily="2" charset="-122"/>
              </a:rPr>
              <a:t>注视点渲染模块</a:t>
            </a:r>
            <a:endParaRPr lang="zh-CN" altLang="en-US" sz="1200" b="1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8" name="圆角矩形 17"/>
          <p:cNvSpPr/>
          <p:nvPr/>
        </p:nvSpPr>
        <p:spPr>
          <a:xfrm>
            <a:off x="8616315" y="1898650"/>
            <a:ext cx="1307465" cy="452755"/>
          </a:xfrm>
          <a:prstGeom prst="roundRect">
            <a:avLst>
              <a:gd name="adj" fmla="val 5430"/>
            </a:avLst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r>
              <a:rPr lang="zh-CN" altLang="en-US" sz="1200" b="1">
                <a:latin typeface="宋体" panose="02010600030101010101" pitchFamily="2" charset="-122"/>
                <a:ea typeface="宋体" panose="02010600030101010101" pitchFamily="2" charset="-122"/>
              </a:rPr>
              <a:t>动态</a:t>
            </a:r>
            <a:r>
              <a:rPr lang="en-US" altLang="zh-CN" sz="1200" b="1"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r>
              <a:rPr lang="en-US" altLang="zh-CN" sz="1200" b="1"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</a:rPr>
              <a:t>LOD </a:t>
            </a:r>
            <a:r>
              <a:rPr lang="zh-CN" altLang="en-US" sz="1200" b="1">
                <a:latin typeface="宋体" panose="02010600030101010101" pitchFamily="2" charset="-122"/>
                <a:ea typeface="宋体" panose="02010600030101010101" pitchFamily="2" charset="-122"/>
              </a:rPr>
              <a:t>模块</a:t>
            </a:r>
            <a:endParaRPr lang="zh-CN" altLang="en-US" sz="1200" b="1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9" name="圆角矩形 18"/>
          <p:cNvSpPr/>
          <p:nvPr/>
        </p:nvSpPr>
        <p:spPr>
          <a:xfrm>
            <a:off x="10238105" y="1898650"/>
            <a:ext cx="1307465" cy="452755"/>
          </a:xfrm>
          <a:prstGeom prst="roundRect">
            <a:avLst>
              <a:gd name="adj" fmla="val 5430"/>
            </a:avLst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r>
              <a:rPr lang="en-US" altLang="zh-CN" sz="1200" b="1">
                <a:latin typeface="宋体" panose="02010600030101010101" pitchFamily="2" charset="-122"/>
                <a:ea typeface="宋体" panose="02010600030101010101" pitchFamily="2" charset="-122"/>
              </a:rPr>
              <a:t>Unity </a:t>
            </a:r>
            <a:r>
              <a:rPr lang="zh-CN" altLang="en-US" sz="1200" b="1">
                <a:latin typeface="宋体" panose="02010600030101010101" pitchFamily="2" charset="-122"/>
                <a:ea typeface="宋体" panose="02010600030101010101" pitchFamily="2" charset="-122"/>
              </a:rPr>
              <a:t>渲染管线</a:t>
            </a:r>
            <a:endParaRPr lang="zh-CN" altLang="en-US" sz="1200" b="1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cxnSp>
        <p:nvCxnSpPr>
          <p:cNvPr id="20" name="直接箭头连接符 19"/>
          <p:cNvCxnSpPr>
            <a:stCxn id="16" idx="3"/>
            <a:endCxn id="18" idx="1"/>
          </p:cNvCxnSpPr>
          <p:nvPr/>
        </p:nvCxnSpPr>
        <p:spPr>
          <a:xfrm>
            <a:off x="8264525" y="2125345"/>
            <a:ext cx="351790" cy="0"/>
          </a:xfrm>
          <a:prstGeom prst="straightConnector1">
            <a:avLst/>
          </a:prstGeom>
          <a:ln w="19050"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1" name="直接箭头连接符 20"/>
          <p:cNvCxnSpPr>
            <a:stCxn id="18" idx="3"/>
            <a:endCxn id="19" idx="1"/>
          </p:cNvCxnSpPr>
          <p:nvPr/>
        </p:nvCxnSpPr>
        <p:spPr>
          <a:xfrm>
            <a:off x="9923780" y="2125345"/>
            <a:ext cx="314325" cy="0"/>
          </a:xfrm>
          <a:prstGeom prst="straightConnector1">
            <a:avLst/>
          </a:prstGeom>
          <a:ln w="19050"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2" name="直接箭头连接符 21"/>
          <p:cNvCxnSpPr>
            <a:stCxn id="5" idx="2"/>
            <a:endCxn id="19" idx="0"/>
          </p:cNvCxnSpPr>
          <p:nvPr/>
        </p:nvCxnSpPr>
        <p:spPr>
          <a:xfrm>
            <a:off x="10883900" y="963295"/>
            <a:ext cx="8255" cy="935355"/>
          </a:xfrm>
          <a:prstGeom prst="straightConnector1">
            <a:avLst/>
          </a:prstGeom>
          <a:ln w="19050">
            <a:headEnd type="none" w="med" len="med"/>
            <a:tailEnd type="triangle" w="med" len="med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23" name="圆角矩形 22"/>
          <p:cNvSpPr/>
          <p:nvPr/>
        </p:nvSpPr>
        <p:spPr>
          <a:xfrm>
            <a:off x="603250" y="1116330"/>
            <a:ext cx="5165090" cy="1586230"/>
          </a:xfrm>
          <a:prstGeom prst="roundRect">
            <a:avLst>
              <a:gd name="adj" fmla="val 2161"/>
            </a:avLst>
          </a:prstGeom>
          <a:solidFill>
            <a:srgbClr val="D99690"/>
          </a:solidFill>
        </p:spPr>
        <p:style>
          <a:lnRef idx="0">
            <a:srgbClr val="FFFFFF"/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sz="1200"/>
          </a:p>
        </p:txBody>
      </p:sp>
      <p:sp>
        <p:nvSpPr>
          <p:cNvPr id="24" name="文本框 23"/>
          <p:cNvSpPr txBox="1"/>
          <p:nvPr/>
        </p:nvSpPr>
        <p:spPr>
          <a:xfrm>
            <a:off x="2406650" y="1149350"/>
            <a:ext cx="1558290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4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应用层</a:t>
            </a:r>
            <a:r>
              <a:rPr lang="en-US" altLang="zh-CN" sz="14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- W</a:t>
            </a:r>
            <a:r>
              <a:rPr lang="en-US" altLang="zh-CN" sz="1400" b="1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</a:rPr>
              <a:t>eb </a:t>
            </a:r>
            <a:r>
              <a:rPr lang="zh-CN" altLang="en-US" sz="14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端</a:t>
            </a:r>
            <a:endParaRPr lang="zh-CN" altLang="en-US" sz="1400" b="1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  <a:sym typeface="+mn-ea"/>
            </a:endParaRPr>
          </a:p>
        </p:txBody>
      </p:sp>
      <p:sp>
        <p:nvSpPr>
          <p:cNvPr id="25" name="圆角矩形 24"/>
          <p:cNvSpPr/>
          <p:nvPr/>
        </p:nvSpPr>
        <p:spPr>
          <a:xfrm>
            <a:off x="711835" y="1458595"/>
            <a:ext cx="2161540" cy="1155065"/>
          </a:xfrm>
          <a:prstGeom prst="roundRect">
            <a:avLst>
              <a:gd name="adj" fmla="val 2161"/>
            </a:avLst>
          </a:prstGeom>
          <a:solidFill>
            <a:srgbClr val="F0DBD8"/>
          </a:solidFill>
        </p:spPr>
        <p:style>
          <a:lnRef idx="0">
            <a:srgbClr val="FFFFFF"/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sz="1200"/>
          </a:p>
        </p:txBody>
      </p:sp>
      <p:sp>
        <p:nvSpPr>
          <p:cNvPr id="26" name="圆角矩形 25"/>
          <p:cNvSpPr/>
          <p:nvPr/>
        </p:nvSpPr>
        <p:spPr>
          <a:xfrm>
            <a:off x="933450" y="1524000"/>
            <a:ext cx="1621155" cy="274955"/>
          </a:xfrm>
          <a:prstGeom prst="roundRect">
            <a:avLst>
              <a:gd name="adj" fmla="val 5430"/>
            </a:avLst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r>
              <a:rPr lang="en-US" altLang="zh-CN" sz="1200" b="1">
                <a:latin typeface="宋体" panose="02010600030101010101" pitchFamily="2" charset="-122"/>
                <a:ea typeface="宋体" panose="02010600030101010101" pitchFamily="2" charset="-122"/>
              </a:rPr>
              <a:t>Vue.js </a:t>
            </a:r>
            <a:r>
              <a:rPr lang="zh-CN" altLang="en-US" sz="1200" b="1">
                <a:latin typeface="宋体" panose="02010600030101010101" pitchFamily="2" charset="-122"/>
                <a:ea typeface="宋体" panose="02010600030101010101" pitchFamily="2" charset="-122"/>
              </a:rPr>
              <a:t>框架</a:t>
            </a:r>
            <a:endParaRPr lang="zh-CN" altLang="en-US" sz="1200" b="1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28" name="圆角矩形 27"/>
          <p:cNvSpPr/>
          <p:nvPr/>
        </p:nvSpPr>
        <p:spPr>
          <a:xfrm>
            <a:off x="933450" y="1898015"/>
            <a:ext cx="1621155" cy="280035"/>
          </a:xfrm>
          <a:prstGeom prst="roundRect">
            <a:avLst>
              <a:gd name="adj" fmla="val 5430"/>
            </a:avLst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r>
              <a:rPr lang="en-US" altLang="zh-CN" sz="1200" b="1">
                <a:latin typeface="宋体" panose="02010600030101010101" pitchFamily="2" charset="-122"/>
                <a:ea typeface="宋体" panose="02010600030101010101" pitchFamily="2" charset="-122"/>
              </a:rPr>
              <a:t>Three.js </a:t>
            </a:r>
            <a:r>
              <a:rPr lang="zh-CN" altLang="en-US" sz="1200" b="1">
                <a:latin typeface="宋体" panose="02010600030101010101" pitchFamily="2" charset="-122"/>
                <a:ea typeface="宋体" panose="02010600030101010101" pitchFamily="2" charset="-122"/>
              </a:rPr>
              <a:t>引擎</a:t>
            </a:r>
            <a:endParaRPr lang="zh-CN" altLang="en-US" sz="1200" b="1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29" name="圆角矩形 28"/>
          <p:cNvSpPr/>
          <p:nvPr/>
        </p:nvSpPr>
        <p:spPr>
          <a:xfrm>
            <a:off x="933450" y="2277110"/>
            <a:ext cx="1621155" cy="280035"/>
          </a:xfrm>
          <a:prstGeom prst="roundRect">
            <a:avLst>
              <a:gd name="adj" fmla="val 5430"/>
            </a:avLst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r>
              <a:rPr lang="zh-CN" sz="1200" b="1">
                <a:latin typeface="宋体" panose="02010600030101010101" pitchFamily="2" charset="-122"/>
                <a:ea typeface="宋体" panose="02010600030101010101" pitchFamily="2" charset="-122"/>
              </a:rPr>
              <a:t>数据监控面板</a:t>
            </a:r>
            <a:endParaRPr lang="zh-CN" sz="1200" b="1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30" name="圆角矩形 29"/>
          <p:cNvSpPr/>
          <p:nvPr/>
        </p:nvSpPr>
        <p:spPr>
          <a:xfrm>
            <a:off x="3232785" y="1458595"/>
            <a:ext cx="2161540" cy="1155065"/>
          </a:xfrm>
          <a:prstGeom prst="roundRect">
            <a:avLst>
              <a:gd name="adj" fmla="val 2161"/>
            </a:avLst>
          </a:prstGeom>
          <a:solidFill>
            <a:srgbClr val="F0DBD8"/>
          </a:solidFill>
        </p:spPr>
        <p:style>
          <a:lnRef idx="0">
            <a:srgbClr val="FFFFFF"/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sz="1200"/>
          </a:p>
        </p:txBody>
      </p:sp>
      <p:sp>
        <p:nvSpPr>
          <p:cNvPr id="31" name="圆角矩形 30"/>
          <p:cNvSpPr/>
          <p:nvPr/>
        </p:nvSpPr>
        <p:spPr>
          <a:xfrm>
            <a:off x="3445510" y="1524635"/>
            <a:ext cx="1621155" cy="274955"/>
          </a:xfrm>
          <a:prstGeom prst="roundRect">
            <a:avLst>
              <a:gd name="adj" fmla="val 5430"/>
            </a:avLst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r>
              <a:rPr lang="en-US" altLang="zh-CN" sz="1200" b="1">
                <a:latin typeface="宋体" panose="02010600030101010101" pitchFamily="2" charset="-122"/>
                <a:ea typeface="宋体" panose="02010600030101010101" pitchFamily="2" charset="-122"/>
              </a:rPr>
              <a:t>Web </a:t>
            </a:r>
            <a:r>
              <a:rPr lang="zh-CN" altLang="en-US" sz="1200" b="1">
                <a:latin typeface="宋体" panose="02010600030101010101" pitchFamily="2" charset="-122"/>
                <a:ea typeface="宋体" panose="02010600030101010101" pitchFamily="2" charset="-122"/>
              </a:rPr>
              <a:t>漫游模块</a:t>
            </a:r>
            <a:endParaRPr lang="zh-CN" altLang="en-US" sz="1200" b="1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32" name="圆角矩形 31"/>
          <p:cNvSpPr/>
          <p:nvPr/>
        </p:nvSpPr>
        <p:spPr>
          <a:xfrm>
            <a:off x="3445510" y="1898015"/>
            <a:ext cx="1621155" cy="280035"/>
          </a:xfrm>
          <a:prstGeom prst="roundRect">
            <a:avLst>
              <a:gd name="adj" fmla="val 5430"/>
            </a:avLst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r>
              <a:rPr lang="en-US" altLang="zh-CN" sz="1200" b="1">
                <a:latin typeface="宋体" panose="02010600030101010101" pitchFamily="2" charset="-122"/>
                <a:ea typeface="宋体" panose="02010600030101010101" pitchFamily="2" charset="-122"/>
              </a:rPr>
              <a:t>Unity WebGL </a:t>
            </a:r>
            <a:r>
              <a:rPr lang="zh-CN" altLang="en-US" sz="1200" b="1">
                <a:latin typeface="宋体" panose="02010600030101010101" pitchFamily="2" charset="-122"/>
                <a:ea typeface="宋体" panose="02010600030101010101" pitchFamily="2" charset="-122"/>
              </a:rPr>
              <a:t>嵌入</a:t>
            </a:r>
            <a:endParaRPr lang="zh-CN" altLang="en-US" sz="1200" b="1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33" name="圆角矩形 32"/>
          <p:cNvSpPr/>
          <p:nvPr/>
        </p:nvSpPr>
        <p:spPr>
          <a:xfrm>
            <a:off x="3445510" y="2276475"/>
            <a:ext cx="1621155" cy="280035"/>
          </a:xfrm>
          <a:prstGeom prst="roundRect">
            <a:avLst>
              <a:gd name="adj" fmla="val 5430"/>
            </a:avLst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r>
              <a:rPr lang="zh-CN" altLang="en-US" sz="1200" b="1">
                <a:latin typeface="宋体" panose="02010600030101010101" pitchFamily="2" charset="-122"/>
                <a:ea typeface="宋体" panose="02010600030101010101" pitchFamily="2" charset="-122"/>
              </a:rPr>
              <a:t>八叉树优化</a:t>
            </a:r>
            <a:endParaRPr lang="zh-CN" altLang="en-US" sz="1200" b="1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34" name="圆角矩形 33"/>
          <p:cNvSpPr/>
          <p:nvPr/>
        </p:nvSpPr>
        <p:spPr>
          <a:xfrm>
            <a:off x="603250" y="3265805"/>
            <a:ext cx="11240770" cy="1109345"/>
          </a:xfrm>
          <a:prstGeom prst="roundRect">
            <a:avLst>
              <a:gd name="adj" fmla="val 2161"/>
            </a:avLst>
          </a:prstGeom>
          <a:solidFill>
            <a:srgbClr val="C2D59E"/>
          </a:solidFill>
        </p:spPr>
        <p:style>
          <a:lnRef idx="0">
            <a:srgbClr val="FFFFFF"/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sz="1200"/>
          </a:p>
        </p:txBody>
      </p:sp>
      <p:sp>
        <p:nvSpPr>
          <p:cNvPr id="35" name="文本框 34"/>
          <p:cNvSpPr txBox="1"/>
          <p:nvPr/>
        </p:nvSpPr>
        <p:spPr>
          <a:xfrm>
            <a:off x="5878830" y="3296285"/>
            <a:ext cx="815975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sz="14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服务层</a:t>
            </a:r>
            <a:endParaRPr lang="zh-CN" sz="1400" b="1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36" name="圆角矩形 35"/>
          <p:cNvSpPr/>
          <p:nvPr/>
        </p:nvSpPr>
        <p:spPr>
          <a:xfrm>
            <a:off x="711835" y="3615055"/>
            <a:ext cx="1612265" cy="527050"/>
          </a:xfrm>
          <a:prstGeom prst="roundRect">
            <a:avLst>
              <a:gd name="adj" fmla="val 5430"/>
            </a:avLst>
          </a:prstGeom>
          <a:solidFill>
            <a:srgbClr val="EAF1DF"/>
          </a:solidFill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r>
              <a:rPr lang="en-US" altLang="zh-CN" sz="1200" b="1">
                <a:latin typeface="宋体" panose="02010600030101010101" pitchFamily="2" charset="-122"/>
                <a:ea typeface="宋体" panose="02010600030101010101" pitchFamily="2" charset="-122"/>
              </a:rPr>
              <a:t>OPC UC / Modbus</a:t>
            </a:r>
            <a:endParaRPr lang="en-US" altLang="zh-CN" sz="1200" b="1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ctr"/>
            <a:r>
              <a:rPr lang="zh-CN" altLang="en-US" sz="1200" b="1">
                <a:latin typeface="宋体" panose="02010600030101010101" pitchFamily="2" charset="-122"/>
                <a:ea typeface="宋体" panose="02010600030101010101" pitchFamily="2" charset="-122"/>
              </a:rPr>
              <a:t>数据接入</a:t>
            </a:r>
            <a:endParaRPr lang="zh-CN" altLang="en-US" sz="1200" b="1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37" name="圆角矩形 36"/>
          <p:cNvSpPr/>
          <p:nvPr/>
        </p:nvSpPr>
        <p:spPr>
          <a:xfrm>
            <a:off x="2480310" y="3615055"/>
            <a:ext cx="1612265" cy="527050"/>
          </a:xfrm>
          <a:prstGeom prst="roundRect">
            <a:avLst>
              <a:gd name="adj" fmla="val 5430"/>
            </a:avLst>
          </a:prstGeom>
          <a:solidFill>
            <a:srgbClr val="EAF1DF"/>
          </a:solidFill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r>
              <a:rPr lang="zh-CN" sz="1200" b="1">
                <a:latin typeface="宋体" panose="02010600030101010101" pitchFamily="2" charset="-122"/>
                <a:ea typeface="宋体" panose="02010600030101010101" pitchFamily="2" charset="-122"/>
              </a:rPr>
              <a:t>数据聚合清洗</a:t>
            </a:r>
            <a:endParaRPr lang="zh-CN" sz="1200" b="1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38" name="圆角矩形 37"/>
          <p:cNvSpPr/>
          <p:nvPr/>
        </p:nvSpPr>
        <p:spPr>
          <a:xfrm>
            <a:off x="4351655" y="3615055"/>
            <a:ext cx="1612265" cy="527050"/>
          </a:xfrm>
          <a:prstGeom prst="roundRect">
            <a:avLst>
              <a:gd name="adj" fmla="val 5430"/>
            </a:avLst>
          </a:prstGeom>
          <a:solidFill>
            <a:srgbClr val="EAF1DF"/>
          </a:solidFill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r>
              <a:rPr lang="en-US" altLang="zh-CN" sz="1200" b="1">
                <a:latin typeface="宋体" panose="02010600030101010101" pitchFamily="2" charset="-122"/>
                <a:ea typeface="宋体" panose="02010600030101010101" pitchFamily="2" charset="-122"/>
              </a:rPr>
              <a:t>RESTful API </a:t>
            </a:r>
            <a:r>
              <a:rPr lang="zh-CN" altLang="en-US" sz="1200" b="1">
                <a:latin typeface="宋体" panose="02010600030101010101" pitchFamily="2" charset="-122"/>
                <a:ea typeface="宋体" panose="02010600030101010101" pitchFamily="2" charset="-122"/>
              </a:rPr>
              <a:t>模块</a:t>
            </a:r>
            <a:endParaRPr lang="zh-CN" altLang="en-US" sz="1200" b="1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39" name="圆角矩形 38"/>
          <p:cNvSpPr/>
          <p:nvPr/>
        </p:nvSpPr>
        <p:spPr>
          <a:xfrm>
            <a:off x="6173470" y="3615055"/>
            <a:ext cx="1612265" cy="527050"/>
          </a:xfrm>
          <a:prstGeom prst="roundRect">
            <a:avLst>
              <a:gd name="adj" fmla="val 5430"/>
            </a:avLst>
          </a:prstGeom>
          <a:solidFill>
            <a:srgbClr val="EAF1DF"/>
          </a:solidFill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r>
              <a:rPr lang="zh-CN" sz="1200" b="1">
                <a:latin typeface="宋体" panose="02010600030101010101" pitchFamily="2" charset="-122"/>
                <a:ea typeface="宋体" panose="02010600030101010101" pitchFamily="2" charset="-122"/>
              </a:rPr>
              <a:t>用户权限认证</a:t>
            </a:r>
            <a:endParaRPr lang="zh-CN" sz="1200" b="1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40" name="圆角矩形 39"/>
          <p:cNvSpPr/>
          <p:nvPr/>
        </p:nvSpPr>
        <p:spPr>
          <a:xfrm>
            <a:off x="7967980" y="3620135"/>
            <a:ext cx="1612265" cy="527050"/>
          </a:xfrm>
          <a:prstGeom prst="roundRect">
            <a:avLst>
              <a:gd name="adj" fmla="val 5430"/>
            </a:avLst>
          </a:prstGeom>
          <a:solidFill>
            <a:srgbClr val="EAF1DF"/>
          </a:solidFill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r>
              <a:rPr lang="en-US" sz="1200" b="1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webSocket </a:t>
            </a:r>
            <a:r>
              <a:rPr lang="zh-CN" altLang="en-US" sz="1200" b="1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实时通信</a:t>
            </a:r>
            <a:endParaRPr lang="zh-CN" sz="1200" b="1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41" name="圆角矩形 40"/>
          <p:cNvSpPr/>
          <p:nvPr/>
        </p:nvSpPr>
        <p:spPr>
          <a:xfrm>
            <a:off x="9866630" y="3625215"/>
            <a:ext cx="1612265" cy="527050"/>
          </a:xfrm>
          <a:prstGeom prst="roundRect">
            <a:avLst>
              <a:gd name="adj" fmla="val 5430"/>
            </a:avLst>
          </a:prstGeom>
          <a:solidFill>
            <a:srgbClr val="EAF1DF"/>
          </a:solidFill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r>
              <a:rPr lang="zh-CN" sz="1200" b="1">
                <a:latin typeface="宋体" panose="02010600030101010101" pitchFamily="2" charset="-122"/>
                <a:ea typeface="宋体" panose="02010600030101010101" pitchFamily="2" charset="-122"/>
              </a:rPr>
              <a:t>路由管理</a:t>
            </a:r>
            <a:endParaRPr lang="zh-CN" sz="1200" b="1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43" name="文本框 42"/>
          <p:cNvSpPr txBox="1"/>
          <p:nvPr/>
        </p:nvSpPr>
        <p:spPr>
          <a:xfrm>
            <a:off x="1247775" y="6117590"/>
            <a:ext cx="1233170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4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物理工厂端</a:t>
            </a:r>
            <a:endParaRPr lang="zh-CN" altLang="en-US" sz="1400" b="1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  <a:sym typeface="+mn-ea"/>
            </a:endParaRPr>
          </a:p>
        </p:txBody>
      </p:sp>
      <p:sp>
        <p:nvSpPr>
          <p:cNvPr id="44" name="圆角矩形 43"/>
          <p:cNvSpPr/>
          <p:nvPr/>
        </p:nvSpPr>
        <p:spPr>
          <a:xfrm>
            <a:off x="4183380" y="5043805"/>
            <a:ext cx="7644130" cy="970915"/>
          </a:xfrm>
          <a:prstGeom prst="roundRect">
            <a:avLst>
              <a:gd name="adj" fmla="val 2175"/>
            </a:avLst>
          </a:prstGeom>
          <a:solidFill>
            <a:srgbClr val="CBC1D9"/>
          </a:solidFill>
        </p:spPr>
        <p:style>
          <a:lnRef idx="0">
            <a:srgbClr val="FFFFFF"/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sz="1200"/>
          </a:p>
        </p:txBody>
      </p:sp>
      <p:sp>
        <p:nvSpPr>
          <p:cNvPr id="45" name="文本框 44"/>
          <p:cNvSpPr txBox="1"/>
          <p:nvPr/>
        </p:nvSpPr>
        <p:spPr>
          <a:xfrm>
            <a:off x="7626350" y="5660390"/>
            <a:ext cx="815975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sz="14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数据层</a:t>
            </a:r>
            <a:endParaRPr lang="zh-CN" sz="1400" b="1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46" name="圆角矩形 45"/>
          <p:cNvSpPr/>
          <p:nvPr/>
        </p:nvSpPr>
        <p:spPr>
          <a:xfrm>
            <a:off x="4654550" y="5175250"/>
            <a:ext cx="1908175" cy="413385"/>
          </a:xfrm>
          <a:prstGeom prst="roundRect">
            <a:avLst>
              <a:gd name="adj" fmla="val 5430"/>
            </a:avLst>
          </a:prstGeom>
          <a:solidFill>
            <a:srgbClr val="EDEAF1"/>
          </a:solidFill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r>
              <a:rPr lang="en-US" altLang="zh-CN" sz="1200" b="1">
                <a:latin typeface="宋体" panose="02010600030101010101" pitchFamily="2" charset="-122"/>
                <a:ea typeface="宋体" panose="02010600030101010101" pitchFamily="2" charset="-122"/>
              </a:rPr>
              <a:t>MySQL </a:t>
            </a:r>
            <a:r>
              <a:rPr lang="zh-CN" altLang="en-US" sz="1200" b="1">
                <a:latin typeface="宋体" panose="02010600030101010101" pitchFamily="2" charset="-122"/>
                <a:ea typeface="宋体" panose="02010600030101010101" pitchFamily="2" charset="-122"/>
              </a:rPr>
              <a:t>数据库</a:t>
            </a:r>
            <a:endParaRPr lang="zh-CN" altLang="en-US" sz="1200" b="1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47" name="圆角矩形 46"/>
          <p:cNvSpPr/>
          <p:nvPr/>
        </p:nvSpPr>
        <p:spPr>
          <a:xfrm>
            <a:off x="7035165" y="5177790"/>
            <a:ext cx="1908175" cy="413385"/>
          </a:xfrm>
          <a:prstGeom prst="roundRect">
            <a:avLst>
              <a:gd name="adj" fmla="val 5430"/>
            </a:avLst>
          </a:prstGeom>
          <a:solidFill>
            <a:srgbClr val="EDEAF1"/>
          </a:solidFill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r>
              <a:rPr lang="en-US" altLang="zh-CN" sz="1200" b="1">
                <a:latin typeface="宋体" panose="02010600030101010101" pitchFamily="2" charset="-122"/>
                <a:ea typeface="宋体" panose="02010600030101010101" pitchFamily="2" charset="-122"/>
              </a:rPr>
              <a:t>InfluxDB </a:t>
            </a:r>
            <a:r>
              <a:rPr lang="zh-CN" altLang="en-US" sz="1200" b="1">
                <a:latin typeface="宋体" panose="02010600030101010101" pitchFamily="2" charset="-122"/>
                <a:ea typeface="宋体" panose="02010600030101010101" pitchFamily="2" charset="-122"/>
              </a:rPr>
              <a:t>时序数据库</a:t>
            </a:r>
            <a:endParaRPr lang="zh-CN" altLang="en-US" sz="1200" b="1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48" name="圆角矩形 47"/>
          <p:cNvSpPr/>
          <p:nvPr/>
        </p:nvSpPr>
        <p:spPr>
          <a:xfrm>
            <a:off x="9488805" y="5175250"/>
            <a:ext cx="1908175" cy="413385"/>
          </a:xfrm>
          <a:prstGeom prst="roundRect">
            <a:avLst>
              <a:gd name="adj" fmla="val 5430"/>
            </a:avLst>
          </a:prstGeom>
          <a:solidFill>
            <a:srgbClr val="EDEAF1"/>
          </a:solidFill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r>
              <a:rPr lang="zh-CN" sz="1200" b="1">
                <a:latin typeface="宋体" panose="02010600030101010101" pitchFamily="2" charset="-122"/>
                <a:ea typeface="宋体" panose="02010600030101010101" pitchFamily="2" charset="-122"/>
              </a:rPr>
              <a:t>文件系统</a:t>
            </a:r>
            <a:endParaRPr lang="zh-CN" sz="1200" b="1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49" name="上箭头 48"/>
          <p:cNvSpPr/>
          <p:nvPr/>
        </p:nvSpPr>
        <p:spPr>
          <a:xfrm>
            <a:off x="5335905" y="4366895"/>
            <a:ext cx="280035" cy="667385"/>
          </a:xfrm>
          <a:prstGeom prst="upArrow">
            <a:avLst>
              <a:gd name="adj1" fmla="val 50000"/>
              <a:gd name="adj2" fmla="val 64573"/>
            </a:avLst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sz="1200"/>
          </a:p>
        </p:txBody>
      </p:sp>
      <p:sp>
        <p:nvSpPr>
          <p:cNvPr id="50" name="上箭头 49"/>
          <p:cNvSpPr/>
          <p:nvPr/>
        </p:nvSpPr>
        <p:spPr>
          <a:xfrm>
            <a:off x="7870190" y="4384675"/>
            <a:ext cx="261620" cy="639445"/>
          </a:xfrm>
          <a:prstGeom prst="upArrow">
            <a:avLst>
              <a:gd name="adj1" fmla="val 50000"/>
              <a:gd name="adj2" fmla="val 64573"/>
            </a:avLst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sz="1200"/>
          </a:p>
        </p:txBody>
      </p:sp>
      <p:sp>
        <p:nvSpPr>
          <p:cNvPr id="51" name="上箭头 50"/>
          <p:cNvSpPr/>
          <p:nvPr/>
        </p:nvSpPr>
        <p:spPr>
          <a:xfrm>
            <a:off x="10228580" y="4385310"/>
            <a:ext cx="283845" cy="639445"/>
          </a:xfrm>
          <a:prstGeom prst="upArrow">
            <a:avLst>
              <a:gd name="adj1" fmla="val 50000"/>
              <a:gd name="adj2" fmla="val 64573"/>
            </a:avLst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sz="1200"/>
          </a:p>
        </p:txBody>
      </p:sp>
      <p:sp>
        <p:nvSpPr>
          <p:cNvPr id="52" name="上下箭头 51"/>
          <p:cNvSpPr/>
          <p:nvPr/>
        </p:nvSpPr>
        <p:spPr>
          <a:xfrm>
            <a:off x="1773555" y="4395470"/>
            <a:ext cx="238125" cy="668655"/>
          </a:xfrm>
          <a:prstGeom prst="upDownArrow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sz="1200"/>
          </a:p>
        </p:txBody>
      </p:sp>
      <p:sp>
        <p:nvSpPr>
          <p:cNvPr id="53" name="文本框 52"/>
          <p:cNvSpPr txBox="1"/>
          <p:nvPr/>
        </p:nvSpPr>
        <p:spPr>
          <a:xfrm>
            <a:off x="1295400" y="4498340"/>
            <a:ext cx="60960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200" b="1">
                <a:latin typeface="Times New Roman" panose="02020603050405020304" charset="0"/>
                <a:cs typeface="Times New Roman" panose="02020603050405020304" charset="0"/>
              </a:rPr>
              <a:t>OPC </a:t>
            </a:r>
            <a:endParaRPr lang="en-US" altLang="zh-CN" sz="1200" b="1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altLang="zh-CN" sz="1200" b="1">
                <a:latin typeface="Times New Roman" panose="02020603050405020304" charset="0"/>
                <a:cs typeface="Times New Roman" panose="02020603050405020304" charset="0"/>
              </a:rPr>
              <a:t> UA</a:t>
            </a:r>
            <a:endParaRPr lang="en-US" altLang="zh-CN" sz="1200" b="1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54" name="文本框 53"/>
          <p:cNvSpPr txBox="1"/>
          <p:nvPr/>
        </p:nvSpPr>
        <p:spPr>
          <a:xfrm>
            <a:off x="2062480" y="4584065"/>
            <a:ext cx="811530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200" b="1">
                <a:latin typeface="Times New Roman" panose="02020603050405020304" charset="0"/>
                <a:cs typeface="Times New Roman" panose="02020603050405020304" charset="0"/>
              </a:rPr>
              <a:t>Modbus</a:t>
            </a:r>
            <a:endParaRPr lang="en-US" altLang="zh-CN" sz="1200" b="1">
              <a:latin typeface="Times New Roman" panose="02020603050405020304" charset="0"/>
              <a:cs typeface="Times New Roman" panose="02020603050405020304" charset="0"/>
            </a:endParaRPr>
          </a:p>
        </p:txBody>
      </p:sp>
      <p:cxnSp>
        <p:nvCxnSpPr>
          <p:cNvPr id="55" name="直接箭头连接符 54"/>
          <p:cNvCxnSpPr>
            <a:stCxn id="23" idx="2"/>
          </p:cNvCxnSpPr>
          <p:nvPr/>
        </p:nvCxnSpPr>
        <p:spPr>
          <a:xfrm flipH="1">
            <a:off x="3183255" y="2702560"/>
            <a:ext cx="2540" cy="549910"/>
          </a:xfrm>
          <a:prstGeom prst="straightConnector1">
            <a:avLst/>
          </a:prstGeom>
          <a:ln w="19050">
            <a:headEnd type="none"/>
            <a:tailEnd type="triangle" w="med" len="med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56" name="文本框 55"/>
          <p:cNvSpPr txBox="1"/>
          <p:nvPr/>
        </p:nvSpPr>
        <p:spPr>
          <a:xfrm>
            <a:off x="3232785" y="2851150"/>
            <a:ext cx="1421130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200" b="1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charset="0"/>
              </a:rPr>
              <a:t>用户交互指令</a:t>
            </a:r>
            <a:endParaRPr lang="zh-CN" altLang="en-US" sz="1200" b="1">
              <a:latin typeface="宋体" panose="02010600030101010101" pitchFamily="2" charset="-122"/>
              <a:ea typeface="宋体" panose="02010600030101010101" pitchFamily="2" charset="-122"/>
              <a:cs typeface="Times New Roman" panose="02020603050405020304" charset="0"/>
            </a:endParaRPr>
          </a:p>
        </p:txBody>
      </p:sp>
      <p:cxnSp>
        <p:nvCxnSpPr>
          <p:cNvPr id="58" name="肘形连接符 57"/>
          <p:cNvCxnSpPr/>
          <p:nvPr/>
        </p:nvCxnSpPr>
        <p:spPr>
          <a:xfrm>
            <a:off x="5768340" y="1861820"/>
            <a:ext cx="518795" cy="1386840"/>
          </a:xfrm>
          <a:prstGeom prst="bentConnector2">
            <a:avLst/>
          </a:prstGeom>
          <a:ln w="19050">
            <a:headEnd type="triangle" w="med" len="med"/>
            <a:tailEnd type="triangle" w="med" len="med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59" name="上箭头 58"/>
          <p:cNvSpPr/>
          <p:nvPr/>
        </p:nvSpPr>
        <p:spPr>
          <a:xfrm>
            <a:off x="7841615" y="2702560"/>
            <a:ext cx="280035" cy="546100"/>
          </a:xfrm>
          <a:prstGeom prst="upArrow">
            <a:avLst>
              <a:gd name="adj1" fmla="val 50000"/>
              <a:gd name="adj2" fmla="val 64573"/>
            </a:avLst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sz="1200"/>
          </a:p>
        </p:txBody>
      </p:sp>
      <p:sp>
        <p:nvSpPr>
          <p:cNvPr id="60" name="文本框 59"/>
          <p:cNvSpPr txBox="1"/>
          <p:nvPr/>
        </p:nvSpPr>
        <p:spPr>
          <a:xfrm>
            <a:off x="6695440" y="2863850"/>
            <a:ext cx="1170305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200" b="1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charset="0"/>
              </a:rPr>
              <a:t>用户交互指令</a:t>
            </a:r>
            <a:endParaRPr lang="zh-CN" altLang="en-US" sz="1200" b="1">
              <a:latin typeface="宋体" panose="02010600030101010101" pitchFamily="2" charset="-122"/>
              <a:ea typeface="宋体" panose="02010600030101010101" pitchFamily="2" charset="-122"/>
              <a:cs typeface="Times New Roman" panose="02020603050405020304" charset="0"/>
            </a:endParaRPr>
          </a:p>
        </p:txBody>
      </p:sp>
      <p:sp>
        <p:nvSpPr>
          <p:cNvPr id="61" name="上箭头 60"/>
          <p:cNvSpPr/>
          <p:nvPr/>
        </p:nvSpPr>
        <p:spPr>
          <a:xfrm rot="10800000">
            <a:off x="9571355" y="2703830"/>
            <a:ext cx="280035" cy="546100"/>
          </a:xfrm>
          <a:prstGeom prst="upArrow">
            <a:avLst>
              <a:gd name="adj1" fmla="val 50000"/>
              <a:gd name="adj2" fmla="val 64573"/>
            </a:avLst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sz="1200"/>
          </a:p>
        </p:txBody>
      </p:sp>
      <p:sp>
        <p:nvSpPr>
          <p:cNvPr id="62" name="文本框 61"/>
          <p:cNvSpPr txBox="1"/>
          <p:nvPr/>
        </p:nvSpPr>
        <p:spPr>
          <a:xfrm>
            <a:off x="10095230" y="2770505"/>
            <a:ext cx="101155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sz="1200" b="1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charset="0"/>
              </a:rPr>
              <a:t>WebSocket</a:t>
            </a:r>
            <a:endParaRPr lang="en-US" altLang="zh-CN" sz="1200" b="1">
              <a:latin typeface="宋体" panose="02010600030101010101" pitchFamily="2" charset="-122"/>
              <a:ea typeface="宋体" panose="02010600030101010101" pitchFamily="2" charset="-122"/>
              <a:cs typeface="Times New Roman" panose="02020603050405020304" charset="0"/>
            </a:endParaRPr>
          </a:p>
          <a:p>
            <a:pPr algn="ctr"/>
            <a:r>
              <a:rPr lang="zh-CN" altLang="en-US" sz="1200" b="1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charset="0"/>
              </a:rPr>
              <a:t>实时数据</a:t>
            </a:r>
            <a:endParaRPr lang="zh-CN" altLang="en-US" sz="1200" b="1">
              <a:latin typeface="宋体" panose="02010600030101010101" pitchFamily="2" charset="-122"/>
              <a:ea typeface="宋体" panose="02010600030101010101" pitchFamily="2" charset="-122"/>
              <a:cs typeface="Times New Roman" panose="02020603050405020304" charset="0"/>
            </a:endParaRPr>
          </a:p>
        </p:txBody>
      </p:sp>
      <p:cxnSp>
        <p:nvCxnSpPr>
          <p:cNvPr id="63" name="直接箭头连接符 62"/>
          <p:cNvCxnSpPr>
            <a:stCxn id="40" idx="0"/>
          </p:cNvCxnSpPr>
          <p:nvPr/>
        </p:nvCxnSpPr>
        <p:spPr>
          <a:xfrm flipH="1" flipV="1">
            <a:off x="8764905" y="2700020"/>
            <a:ext cx="9525" cy="920115"/>
          </a:xfrm>
          <a:prstGeom prst="straightConnector1">
            <a:avLst/>
          </a:prstGeom>
          <a:ln w="19050">
            <a:headEnd type="none" w="med" len="med"/>
            <a:tailEnd type="triangle" w="med" len="med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6" name="圆角矩形 35"/>
          <p:cNvSpPr/>
          <p:nvPr/>
        </p:nvSpPr>
        <p:spPr>
          <a:xfrm>
            <a:off x="4540885" y="890905"/>
            <a:ext cx="1812290" cy="527050"/>
          </a:xfrm>
          <a:prstGeom prst="roundRect">
            <a:avLst>
              <a:gd name="adj" fmla="val 5430"/>
            </a:avLst>
          </a:prstGeom>
          <a:ln w="190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r>
              <a:rPr lang="zh-CN" sz="1400" b="1">
                <a:latin typeface="宋体" panose="02010600030101010101" pitchFamily="2" charset="-122"/>
                <a:ea typeface="宋体" panose="02010600030101010101" pitchFamily="2" charset="-122"/>
              </a:rPr>
              <a:t>可视化模块</a:t>
            </a:r>
            <a:endParaRPr lang="zh-CN" sz="1400" b="1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4" name="圆角矩形 3"/>
          <p:cNvSpPr/>
          <p:nvPr/>
        </p:nvSpPr>
        <p:spPr>
          <a:xfrm>
            <a:off x="2728595" y="2037080"/>
            <a:ext cx="1812290" cy="527050"/>
          </a:xfrm>
          <a:prstGeom prst="roundRect">
            <a:avLst>
              <a:gd name="adj" fmla="val 5430"/>
            </a:avLst>
          </a:prstGeom>
          <a:ln w="190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r>
              <a:rPr lang="zh-CN" sz="1400" b="1">
                <a:latin typeface="宋体" panose="02010600030101010101" pitchFamily="2" charset="-122"/>
                <a:ea typeface="宋体" panose="02010600030101010101" pitchFamily="2" charset="-122"/>
              </a:rPr>
              <a:t>工厂信息可视化</a:t>
            </a:r>
            <a:endParaRPr lang="zh-CN" sz="1400" b="1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6" name="圆角矩形 5"/>
          <p:cNvSpPr/>
          <p:nvPr/>
        </p:nvSpPr>
        <p:spPr>
          <a:xfrm>
            <a:off x="6353175" y="2037080"/>
            <a:ext cx="1812290" cy="527050"/>
          </a:xfrm>
          <a:prstGeom prst="roundRect">
            <a:avLst>
              <a:gd name="adj" fmla="val 5430"/>
            </a:avLst>
          </a:prstGeom>
          <a:ln w="190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r>
              <a:rPr lang="zh-CN" sz="1400" b="1">
                <a:latin typeface="宋体" panose="02010600030101010101" pitchFamily="2" charset="-122"/>
                <a:ea typeface="宋体" panose="02010600030101010101" pitchFamily="2" charset="-122"/>
              </a:rPr>
              <a:t>工厂模型可视化</a:t>
            </a:r>
            <a:endParaRPr lang="zh-CN" sz="1400" b="1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cxnSp>
        <p:nvCxnSpPr>
          <p:cNvPr id="8" name="肘形连接符 7"/>
          <p:cNvCxnSpPr>
            <a:stCxn id="36" idx="2"/>
            <a:endCxn id="4" idx="0"/>
          </p:cNvCxnSpPr>
          <p:nvPr/>
        </p:nvCxnSpPr>
        <p:spPr>
          <a:xfrm rot="5400000">
            <a:off x="4231640" y="821055"/>
            <a:ext cx="619125" cy="1812290"/>
          </a:xfrm>
          <a:prstGeom prst="bentConnector3">
            <a:avLst>
              <a:gd name="adj1" fmla="val 50000"/>
            </a:avLst>
          </a:prstGeom>
          <a:ln w="190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9" name="肘形连接符 8"/>
          <p:cNvCxnSpPr>
            <a:stCxn id="36" idx="2"/>
            <a:endCxn id="6" idx="0"/>
          </p:cNvCxnSpPr>
          <p:nvPr/>
        </p:nvCxnSpPr>
        <p:spPr>
          <a:xfrm rot="5400000" flipV="1">
            <a:off x="6043930" y="821055"/>
            <a:ext cx="619125" cy="1812290"/>
          </a:xfrm>
          <a:prstGeom prst="bentConnector3">
            <a:avLst>
              <a:gd name="adj1" fmla="val 50000"/>
            </a:avLst>
          </a:prstGeom>
          <a:ln w="190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0" name="圆角矩形 9"/>
          <p:cNvSpPr/>
          <p:nvPr/>
        </p:nvSpPr>
        <p:spPr>
          <a:xfrm>
            <a:off x="2842895" y="3101975"/>
            <a:ext cx="508635" cy="1812925"/>
          </a:xfrm>
          <a:prstGeom prst="roundRect">
            <a:avLst>
              <a:gd name="adj" fmla="val 5430"/>
            </a:avLst>
          </a:prstGeom>
          <a:ln w="190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r>
              <a:rPr lang="zh-CN" sz="1400" b="1">
                <a:latin typeface="宋体" panose="02010600030101010101" pitchFamily="2" charset="-122"/>
                <a:ea typeface="宋体" panose="02010600030101010101" pitchFamily="2" charset="-122"/>
              </a:rPr>
              <a:t>静</a:t>
            </a:r>
            <a:endParaRPr lang="zh-CN" sz="1400" b="1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ctr"/>
            <a:r>
              <a:rPr lang="zh-CN" sz="1400" b="1">
                <a:latin typeface="宋体" panose="02010600030101010101" pitchFamily="2" charset="-122"/>
                <a:ea typeface="宋体" panose="02010600030101010101" pitchFamily="2" charset="-122"/>
              </a:rPr>
              <a:t>态</a:t>
            </a:r>
            <a:endParaRPr lang="zh-CN" sz="1400" b="1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ctr"/>
            <a:r>
              <a:rPr lang="zh-CN" sz="1400" b="1">
                <a:latin typeface="宋体" panose="02010600030101010101" pitchFamily="2" charset="-122"/>
                <a:ea typeface="宋体" panose="02010600030101010101" pitchFamily="2" charset="-122"/>
              </a:rPr>
              <a:t>数</a:t>
            </a:r>
            <a:endParaRPr lang="zh-CN" sz="1400" b="1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ctr"/>
            <a:r>
              <a:rPr lang="zh-CN" sz="1400" b="1">
                <a:latin typeface="宋体" panose="02010600030101010101" pitchFamily="2" charset="-122"/>
                <a:ea typeface="宋体" panose="02010600030101010101" pitchFamily="2" charset="-122"/>
              </a:rPr>
              <a:t>据</a:t>
            </a:r>
            <a:endParaRPr lang="zh-CN" sz="1400" b="1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ctr"/>
            <a:r>
              <a:rPr lang="zh-CN" sz="1400" b="1">
                <a:latin typeface="宋体" panose="02010600030101010101" pitchFamily="2" charset="-122"/>
                <a:ea typeface="宋体" panose="02010600030101010101" pitchFamily="2" charset="-122"/>
              </a:rPr>
              <a:t>面</a:t>
            </a:r>
            <a:endParaRPr lang="zh-CN" sz="1400" b="1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ctr"/>
            <a:r>
              <a:rPr lang="zh-CN" sz="1400" b="1">
                <a:latin typeface="宋体" panose="02010600030101010101" pitchFamily="2" charset="-122"/>
                <a:ea typeface="宋体" panose="02010600030101010101" pitchFamily="2" charset="-122"/>
              </a:rPr>
              <a:t>板</a:t>
            </a:r>
            <a:endParaRPr lang="zh-CN" sz="1400" b="1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1" name="圆角矩形 10"/>
          <p:cNvSpPr/>
          <p:nvPr/>
        </p:nvSpPr>
        <p:spPr>
          <a:xfrm>
            <a:off x="3865245" y="3101975"/>
            <a:ext cx="508635" cy="1812925"/>
          </a:xfrm>
          <a:prstGeom prst="roundRect">
            <a:avLst>
              <a:gd name="adj" fmla="val 5430"/>
            </a:avLst>
          </a:prstGeom>
          <a:ln w="190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r>
              <a:rPr lang="zh-CN" sz="1400" b="1">
                <a:latin typeface="宋体" panose="02010600030101010101" pitchFamily="2" charset="-122"/>
                <a:ea typeface="宋体" panose="02010600030101010101" pitchFamily="2" charset="-122"/>
              </a:rPr>
              <a:t>模型</a:t>
            </a:r>
            <a:endParaRPr lang="zh-CN" sz="1400" b="1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ctr"/>
            <a:r>
              <a:rPr lang="en-US" altLang="zh-CN" sz="1400" b="1">
                <a:latin typeface="宋体" panose="02010600030101010101" pitchFamily="2" charset="-122"/>
                <a:ea typeface="宋体" panose="02010600030101010101" pitchFamily="2" charset="-122"/>
              </a:rPr>
              <a:t>|</a:t>
            </a:r>
            <a:endParaRPr lang="en-US" altLang="zh-CN" sz="1400" b="1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ctr"/>
            <a:r>
              <a:rPr lang="zh-CN" altLang="en-US" sz="1400" b="1">
                <a:latin typeface="宋体" panose="02010600030101010101" pitchFamily="2" charset="-122"/>
                <a:ea typeface="宋体" panose="02010600030101010101" pitchFamily="2" charset="-122"/>
              </a:rPr>
              <a:t>数据绑定</a:t>
            </a:r>
            <a:endParaRPr lang="zh-CN" altLang="en-US" sz="1400" b="1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cxnSp>
        <p:nvCxnSpPr>
          <p:cNvPr id="12" name="肘形连接符 11"/>
          <p:cNvCxnSpPr>
            <a:endCxn id="11" idx="0"/>
          </p:cNvCxnSpPr>
          <p:nvPr/>
        </p:nvCxnSpPr>
        <p:spPr>
          <a:xfrm rot="5400000" flipV="1">
            <a:off x="3608705" y="2590165"/>
            <a:ext cx="537845" cy="484505"/>
          </a:xfrm>
          <a:prstGeom prst="bentConnector3">
            <a:avLst>
              <a:gd name="adj1" fmla="val 50059"/>
            </a:avLst>
          </a:prstGeom>
          <a:ln w="190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3" name="肘形连接符 12"/>
          <p:cNvCxnSpPr>
            <a:endCxn id="10" idx="0"/>
          </p:cNvCxnSpPr>
          <p:nvPr/>
        </p:nvCxnSpPr>
        <p:spPr>
          <a:xfrm rot="5400000">
            <a:off x="3097530" y="2564130"/>
            <a:ext cx="537845" cy="537845"/>
          </a:xfrm>
          <a:prstGeom prst="bentConnector3">
            <a:avLst>
              <a:gd name="adj1" fmla="val 50059"/>
            </a:avLst>
          </a:prstGeom>
          <a:ln w="190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4" name="圆角矩形 13"/>
          <p:cNvSpPr/>
          <p:nvPr/>
        </p:nvSpPr>
        <p:spPr>
          <a:xfrm>
            <a:off x="6665595" y="3101975"/>
            <a:ext cx="508635" cy="1812925"/>
          </a:xfrm>
          <a:prstGeom prst="roundRect">
            <a:avLst>
              <a:gd name="adj" fmla="val 5430"/>
            </a:avLst>
          </a:prstGeom>
          <a:ln w="190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r>
              <a:rPr lang="zh-CN" sz="1400" b="1">
                <a:latin typeface="宋体" panose="02010600030101010101" pitchFamily="2" charset="-122"/>
                <a:ea typeface="宋体" panose="02010600030101010101" pitchFamily="2" charset="-122"/>
              </a:rPr>
              <a:t>缩放</a:t>
            </a:r>
            <a:endParaRPr lang="zh-CN" sz="1400" b="1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5" name="圆角矩形 14"/>
          <p:cNvSpPr/>
          <p:nvPr/>
        </p:nvSpPr>
        <p:spPr>
          <a:xfrm>
            <a:off x="5885815" y="3101340"/>
            <a:ext cx="508635" cy="1812925"/>
          </a:xfrm>
          <a:prstGeom prst="roundRect">
            <a:avLst>
              <a:gd name="adj" fmla="val 5430"/>
            </a:avLst>
          </a:prstGeom>
          <a:ln w="190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r>
              <a:rPr lang="zh-CN" sz="1400" b="1">
                <a:latin typeface="宋体" panose="02010600030101010101" pitchFamily="2" charset="-122"/>
                <a:ea typeface="宋体" panose="02010600030101010101" pitchFamily="2" charset="-122"/>
              </a:rPr>
              <a:t>旋转</a:t>
            </a:r>
            <a:endParaRPr lang="zh-CN" sz="1400" b="1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6" name="圆角矩形 15"/>
          <p:cNvSpPr/>
          <p:nvPr/>
        </p:nvSpPr>
        <p:spPr>
          <a:xfrm>
            <a:off x="7445375" y="3101975"/>
            <a:ext cx="508635" cy="1812925"/>
          </a:xfrm>
          <a:prstGeom prst="roundRect">
            <a:avLst>
              <a:gd name="adj" fmla="val 5430"/>
            </a:avLst>
          </a:prstGeom>
          <a:ln w="190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r>
              <a:rPr lang="zh-CN" sz="1400" b="1">
                <a:latin typeface="宋体" panose="02010600030101010101" pitchFamily="2" charset="-122"/>
                <a:ea typeface="宋体" panose="02010600030101010101" pitchFamily="2" charset="-122"/>
              </a:rPr>
              <a:t>漫游</a:t>
            </a:r>
            <a:endParaRPr lang="zh-CN" sz="1400" b="1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7" name="圆角矩形 16"/>
          <p:cNvSpPr/>
          <p:nvPr/>
        </p:nvSpPr>
        <p:spPr>
          <a:xfrm>
            <a:off x="8246110" y="3111500"/>
            <a:ext cx="508635" cy="1812925"/>
          </a:xfrm>
          <a:prstGeom prst="roundRect">
            <a:avLst>
              <a:gd name="adj" fmla="val 5430"/>
            </a:avLst>
          </a:prstGeom>
          <a:ln w="190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r>
              <a:rPr lang="zh-CN" sz="1400" b="1">
                <a:latin typeface="宋体" panose="02010600030101010101" pitchFamily="2" charset="-122"/>
                <a:ea typeface="宋体" panose="02010600030101010101" pitchFamily="2" charset="-122"/>
              </a:rPr>
              <a:t>数据查询</a:t>
            </a:r>
            <a:endParaRPr lang="zh-CN" sz="1400" b="1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cxnSp>
        <p:nvCxnSpPr>
          <p:cNvPr id="19" name="肘形连接符 18"/>
          <p:cNvCxnSpPr>
            <a:stCxn id="6" idx="2"/>
            <a:endCxn id="15" idx="0"/>
          </p:cNvCxnSpPr>
          <p:nvPr/>
        </p:nvCxnSpPr>
        <p:spPr>
          <a:xfrm rot="5400000">
            <a:off x="6431280" y="2273300"/>
            <a:ext cx="537210" cy="1118870"/>
          </a:xfrm>
          <a:prstGeom prst="bentConnector3">
            <a:avLst>
              <a:gd name="adj1" fmla="val 50000"/>
            </a:avLst>
          </a:prstGeom>
          <a:ln w="190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2" name="肘形连接符 21"/>
          <p:cNvCxnSpPr>
            <a:endCxn id="14" idx="0"/>
          </p:cNvCxnSpPr>
          <p:nvPr/>
        </p:nvCxnSpPr>
        <p:spPr>
          <a:xfrm rot="5400000">
            <a:off x="6819265" y="2667635"/>
            <a:ext cx="535305" cy="332740"/>
          </a:xfrm>
          <a:prstGeom prst="bentConnector3">
            <a:avLst>
              <a:gd name="adj1" fmla="val 50000"/>
            </a:avLst>
          </a:prstGeom>
          <a:ln w="190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3" name="肘形连接符 22"/>
          <p:cNvCxnSpPr/>
          <p:nvPr/>
        </p:nvCxnSpPr>
        <p:spPr>
          <a:xfrm rot="5400000" flipV="1">
            <a:off x="7233285" y="2590800"/>
            <a:ext cx="537845" cy="484505"/>
          </a:xfrm>
          <a:prstGeom prst="bentConnector3">
            <a:avLst>
              <a:gd name="adj1" fmla="val 50059"/>
            </a:avLst>
          </a:prstGeom>
          <a:ln w="190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6" name="肘形连接符 25"/>
          <p:cNvCxnSpPr/>
          <p:nvPr/>
        </p:nvCxnSpPr>
        <p:spPr>
          <a:xfrm>
            <a:off x="7259955" y="2833370"/>
            <a:ext cx="1238250" cy="276225"/>
          </a:xfrm>
          <a:prstGeom prst="bentConnector3">
            <a:avLst>
              <a:gd name="adj1" fmla="val 100051"/>
            </a:avLst>
          </a:prstGeom>
          <a:ln w="190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6" name="圆角矩形 35"/>
          <p:cNvSpPr/>
          <p:nvPr/>
        </p:nvSpPr>
        <p:spPr>
          <a:xfrm>
            <a:off x="4540885" y="890905"/>
            <a:ext cx="1812290" cy="527050"/>
          </a:xfrm>
          <a:prstGeom prst="roundRect">
            <a:avLst>
              <a:gd name="adj" fmla="val 5430"/>
            </a:avLst>
          </a:prstGeom>
          <a:ln w="190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r>
              <a:rPr lang="zh-CN" sz="1400" b="1">
                <a:latin typeface="宋体" panose="02010600030101010101" pitchFamily="2" charset="-122"/>
                <a:ea typeface="宋体" panose="02010600030101010101" pitchFamily="2" charset="-122"/>
              </a:rPr>
              <a:t>漫游模块</a:t>
            </a:r>
            <a:endParaRPr lang="zh-CN" sz="1400" b="1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4" name="圆角矩形 3"/>
          <p:cNvSpPr/>
          <p:nvPr/>
        </p:nvSpPr>
        <p:spPr>
          <a:xfrm>
            <a:off x="2728595" y="2037080"/>
            <a:ext cx="1812290" cy="527050"/>
          </a:xfrm>
          <a:prstGeom prst="roundRect">
            <a:avLst>
              <a:gd name="adj" fmla="val 5430"/>
            </a:avLst>
          </a:prstGeom>
          <a:ln w="190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r>
              <a:rPr lang="zh-CN" altLang="en-US" sz="1400" b="1">
                <a:latin typeface="宋体" panose="02010600030101010101" pitchFamily="2" charset="-122"/>
                <a:ea typeface="宋体" panose="02010600030101010101" pitchFamily="2" charset="-122"/>
              </a:rPr>
              <a:t>桌面端非沉浸式交互</a:t>
            </a:r>
            <a:endParaRPr lang="zh-CN" altLang="en-US" sz="1400" b="1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6" name="圆角矩形 5"/>
          <p:cNvSpPr/>
          <p:nvPr/>
        </p:nvSpPr>
        <p:spPr>
          <a:xfrm>
            <a:off x="6353175" y="2037080"/>
            <a:ext cx="1812290" cy="527050"/>
          </a:xfrm>
          <a:prstGeom prst="roundRect">
            <a:avLst>
              <a:gd name="adj" fmla="val 5430"/>
            </a:avLst>
          </a:prstGeom>
          <a:ln w="190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r>
              <a:rPr lang="en-US" altLang="zh-CN" sz="1400" b="1">
                <a:latin typeface="宋体" panose="02010600030101010101" pitchFamily="2" charset="-122"/>
                <a:ea typeface="宋体" panose="02010600030101010101" pitchFamily="2" charset="-122"/>
              </a:rPr>
              <a:t>VR </a:t>
            </a:r>
            <a:r>
              <a:rPr lang="zh-CN" altLang="en-US" sz="1400" b="1">
                <a:latin typeface="宋体" panose="02010600030101010101" pitchFamily="2" charset="-122"/>
                <a:ea typeface="宋体" panose="02010600030101010101" pitchFamily="2" charset="-122"/>
              </a:rPr>
              <a:t>端沉浸式漫游</a:t>
            </a:r>
            <a:endParaRPr lang="zh-CN" altLang="en-US" sz="1400" b="1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cxnSp>
        <p:nvCxnSpPr>
          <p:cNvPr id="8" name="肘形连接符 7"/>
          <p:cNvCxnSpPr>
            <a:stCxn id="36" idx="2"/>
            <a:endCxn id="4" idx="0"/>
          </p:cNvCxnSpPr>
          <p:nvPr/>
        </p:nvCxnSpPr>
        <p:spPr>
          <a:xfrm rot="5400000">
            <a:off x="4231640" y="821055"/>
            <a:ext cx="619125" cy="1812290"/>
          </a:xfrm>
          <a:prstGeom prst="bentConnector3">
            <a:avLst>
              <a:gd name="adj1" fmla="val 50000"/>
            </a:avLst>
          </a:prstGeom>
          <a:ln w="190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9" name="肘形连接符 8"/>
          <p:cNvCxnSpPr>
            <a:stCxn id="36" idx="2"/>
            <a:endCxn id="6" idx="0"/>
          </p:cNvCxnSpPr>
          <p:nvPr/>
        </p:nvCxnSpPr>
        <p:spPr>
          <a:xfrm rot="5400000" flipV="1">
            <a:off x="6043930" y="821055"/>
            <a:ext cx="619125" cy="1812290"/>
          </a:xfrm>
          <a:prstGeom prst="bentConnector3">
            <a:avLst>
              <a:gd name="adj1" fmla="val 50000"/>
            </a:avLst>
          </a:prstGeom>
          <a:ln w="190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0" name="圆角矩形 9"/>
          <p:cNvSpPr/>
          <p:nvPr/>
        </p:nvSpPr>
        <p:spPr>
          <a:xfrm>
            <a:off x="2842895" y="3101975"/>
            <a:ext cx="508635" cy="1812925"/>
          </a:xfrm>
          <a:prstGeom prst="roundRect">
            <a:avLst>
              <a:gd name="adj" fmla="val 5430"/>
            </a:avLst>
          </a:prstGeom>
          <a:ln w="190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r>
              <a:rPr lang="zh-CN" sz="1400" b="1">
                <a:latin typeface="宋体" panose="02010600030101010101" pitchFamily="2" charset="-122"/>
                <a:ea typeface="宋体" panose="02010600030101010101" pitchFamily="2" charset="-122"/>
              </a:rPr>
              <a:t>鼠标</a:t>
            </a:r>
            <a:endParaRPr lang="zh-CN" sz="1400" b="1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1" name="圆角矩形 10"/>
          <p:cNvSpPr/>
          <p:nvPr/>
        </p:nvSpPr>
        <p:spPr>
          <a:xfrm>
            <a:off x="3865245" y="3101975"/>
            <a:ext cx="508635" cy="1812925"/>
          </a:xfrm>
          <a:prstGeom prst="roundRect">
            <a:avLst>
              <a:gd name="adj" fmla="val 5430"/>
            </a:avLst>
          </a:prstGeom>
          <a:ln w="190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r>
              <a:rPr lang="zh-CN" sz="1400" b="1">
                <a:latin typeface="宋体" panose="02010600030101010101" pitchFamily="2" charset="-122"/>
                <a:ea typeface="宋体" panose="02010600030101010101" pitchFamily="2" charset="-122"/>
              </a:rPr>
              <a:t>键盘</a:t>
            </a:r>
            <a:endParaRPr lang="zh-CN" sz="1400" b="1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cxnSp>
        <p:nvCxnSpPr>
          <p:cNvPr id="12" name="肘形连接符 11"/>
          <p:cNvCxnSpPr>
            <a:endCxn id="11" idx="0"/>
          </p:cNvCxnSpPr>
          <p:nvPr/>
        </p:nvCxnSpPr>
        <p:spPr>
          <a:xfrm rot="5400000" flipV="1">
            <a:off x="3608705" y="2590165"/>
            <a:ext cx="537845" cy="484505"/>
          </a:xfrm>
          <a:prstGeom prst="bentConnector3">
            <a:avLst>
              <a:gd name="adj1" fmla="val 50059"/>
            </a:avLst>
          </a:prstGeom>
          <a:ln w="190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3" name="肘形连接符 12"/>
          <p:cNvCxnSpPr>
            <a:endCxn id="10" idx="0"/>
          </p:cNvCxnSpPr>
          <p:nvPr/>
        </p:nvCxnSpPr>
        <p:spPr>
          <a:xfrm rot="5400000">
            <a:off x="3097530" y="2564130"/>
            <a:ext cx="537845" cy="537845"/>
          </a:xfrm>
          <a:prstGeom prst="bentConnector3">
            <a:avLst>
              <a:gd name="adj1" fmla="val 50059"/>
            </a:avLst>
          </a:prstGeom>
          <a:ln w="190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27" name="圆角矩形 26"/>
          <p:cNvSpPr/>
          <p:nvPr/>
        </p:nvSpPr>
        <p:spPr>
          <a:xfrm>
            <a:off x="6478270" y="3072765"/>
            <a:ext cx="508635" cy="1812925"/>
          </a:xfrm>
          <a:prstGeom prst="roundRect">
            <a:avLst>
              <a:gd name="adj" fmla="val 5430"/>
            </a:avLst>
          </a:prstGeom>
          <a:ln w="190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r>
              <a:rPr lang="zh-CN" sz="1400" b="1">
                <a:latin typeface="宋体" panose="02010600030101010101" pitchFamily="2" charset="-122"/>
                <a:ea typeface="宋体" panose="02010600030101010101" pitchFamily="2" charset="-122"/>
              </a:rPr>
              <a:t>注视点渲染模块</a:t>
            </a:r>
            <a:endParaRPr lang="zh-CN" sz="1400" b="1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28" name="圆角矩形 27"/>
          <p:cNvSpPr/>
          <p:nvPr/>
        </p:nvSpPr>
        <p:spPr>
          <a:xfrm>
            <a:off x="7517130" y="3082290"/>
            <a:ext cx="508635" cy="1812925"/>
          </a:xfrm>
          <a:prstGeom prst="roundRect">
            <a:avLst>
              <a:gd name="adj" fmla="val 5430"/>
            </a:avLst>
          </a:prstGeom>
          <a:ln w="190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r>
              <a:rPr lang="zh-CN" sz="1400" b="1">
                <a:latin typeface="宋体" panose="02010600030101010101" pitchFamily="2" charset="-122"/>
                <a:ea typeface="宋体" panose="02010600030101010101" pitchFamily="2" charset="-122"/>
              </a:rPr>
              <a:t>动态</a:t>
            </a:r>
            <a:endParaRPr lang="zh-CN" sz="1400" b="1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ctr"/>
            <a:r>
              <a:rPr lang="en-US" altLang="zh-CN" sz="1400" b="1">
                <a:latin typeface="宋体" panose="02010600030101010101" pitchFamily="2" charset="-122"/>
                <a:ea typeface="宋体" panose="02010600030101010101" pitchFamily="2" charset="-122"/>
              </a:rPr>
              <a:t>L</a:t>
            </a:r>
            <a:endParaRPr lang="en-US" altLang="zh-CN" sz="1400" b="1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ctr"/>
            <a:r>
              <a:rPr lang="en-US" altLang="zh-CN" sz="1400" b="1">
                <a:latin typeface="宋体" panose="02010600030101010101" pitchFamily="2" charset="-122"/>
                <a:ea typeface="宋体" panose="02010600030101010101" pitchFamily="2" charset="-122"/>
              </a:rPr>
              <a:t>O</a:t>
            </a:r>
            <a:endParaRPr lang="en-US" altLang="zh-CN" sz="1400" b="1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ctr"/>
            <a:r>
              <a:rPr lang="en-US" altLang="zh-CN" sz="1400" b="1">
                <a:latin typeface="宋体" panose="02010600030101010101" pitchFamily="2" charset="-122"/>
                <a:ea typeface="宋体" panose="02010600030101010101" pitchFamily="2" charset="-122"/>
              </a:rPr>
              <a:t>D</a:t>
            </a:r>
            <a:endParaRPr lang="en-US" altLang="zh-CN" sz="1400" b="1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ctr"/>
            <a:r>
              <a:rPr lang="zh-CN" altLang="en-US" sz="1400" b="1">
                <a:latin typeface="宋体" panose="02010600030101010101" pitchFamily="2" charset="-122"/>
                <a:ea typeface="宋体" panose="02010600030101010101" pitchFamily="2" charset="-122"/>
              </a:rPr>
              <a:t>模块</a:t>
            </a:r>
            <a:endParaRPr lang="zh-CN" altLang="en-US" sz="1400" b="1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cxnSp>
        <p:nvCxnSpPr>
          <p:cNvPr id="30" name="肘形连接符 29"/>
          <p:cNvCxnSpPr/>
          <p:nvPr/>
        </p:nvCxnSpPr>
        <p:spPr>
          <a:xfrm rot="5400000">
            <a:off x="6722110" y="2544445"/>
            <a:ext cx="537845" cy="537845"/>
          </a:xfrm>
          <a:prstGeom prst="bentConnector3">
            <a:avLst>
              <a:gd name="adj1" fmla="val 50059"/>
            </a:avLst>
          </a:prstGeom>
          <a:ln w="190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31" name="肘形连接符 30"/>
          <p:cNvCxnSpPr/>
          <p:nvPr/>
        </p:nvCxnSpPr>
        <p:spPr>
          <a:xfrm rot="5400000" flipV="1">
            <a:off x="7233285" y="2571750"/>
            <a:ext cx="537845" cy="484505"/>
          </a:xfrm>
          <a:prstGeom prst="bentConnector3">
            <a:avLst>
              <a:gd name="adj1" fmla="val 50059"/>
            </a:avLst>
          </a:prstGeom>
          <a:ln w="190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7" name="矩形 16"/>
          <p:cNvSpPr/>
          <p:nvPr/>
        </p:nvSpPr>
        <p:spPr>
          <a:xfrm>
            <a:off x="8107045" y="918845"/>
            <a:ext cx="3924300" cy="5347970"/>
          </a:xfrm>
          <a:prstGeom prst="rect">
            <a:avLst/>
          </a:prstGeom>
          <a:solidFill>
            <a:srgbClr val="E6F1E0"/>
          </a:solidFill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6" name="矩形 15"/>
          <p:cNvSpPr/>
          <p:nvPr/>
        </p:nvSpPr>
        <p:spPr>
          <a:xfrm>
            <a:off x="4484370" y="918845"/>
            <a:ext cx="3277235" cy="5347970"/>
          </a:xfrm>
          <a:prstGeom prst="rect">
            <a:avLst/>
          </a:prstGeom>
          <a:solidFill>
            <a:srgbClr val="FBEDE0"/>
          </a:solidFill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5" name="矩形 14"/>
          <p:cNvSpPr/>
          <p:nvPr/>
        </p:nvSpPr>
        <p:spPr>
          <a:xfrm>
            <a:off x="52070" y="918845"/>
            <a:ext cx="3924300" cy="5347970"/>
          </a:xfrm>
          <a:prstGeom prst="rect">
            <a:avLst/>
          </a:prstGeom>
          <a:solidFill>
            <a:srgbClr val="E5EFF8"/>
          </a:solidFill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755" y="1318895"/>
            <a:ext cx="748030" cy="445770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835" y="1141095"/>
            <a:ext cx="741680" cy="324485"/>
          </a:xfrm>
          <a:prstGeom prst="rect">
            <a:avLst/>
          </a:prstGeom>
        </p:spPr>
      </p:pic>
      <p:cxnSp>
        <p:nvCxnSpPr>
          <p:cNvPr id="8" name="直接箭头连接符 7"/>
          <p:cNvCxnSpPr/>
          <p:nvPr/>
        </p:nvCxnSpPr>
        <p:spPr>
          <a:xfrm flipV="1">
            <a:off x="847725" y="1547495"/>
            <a:ext cx="722630" cy="8890"/>
          </a:xfrm>
          <a:prstGeom prst="straightConnector1">
            <a:avLst/>
          </a:prstGeom>
          <a:ln>
            <a:solidFill>
              <a:schemeClr val="tx1"/>
            </a:solidFill>
            <a:headEnd type="none"/>
            <a:tailEnd type="triangle" w="med" len="med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9" name="矩形 8"/>
          <p:cNvSpPr/>
          <p:nvPr/>
        </p:nvSpPr>
        <p:spPr>
          <a:xfrm>
            <a:off x="52070" y="356870"/>
            <a:ext cx="3924300" cy="561975"/>
          </a:xfrm>
          <a:prstGeom prst="rect">
            <a:avLst/>
          </a:prstGeom>
          <a:solidFill>
            <a:srgbClr val="BBD6EB"/>
          </a:solidFill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400" b="1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</a:rPr>
              <a:t>Step1</a:t>
            </a:r>
            <a:r>
              <a:rPr lang="zh-CN" altLang="en-US" sz="14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：眼动时序优化窗口划分与识别模块</a:t>
            </a:r>
            <a:endParaRPr lang="zh-CN" altLang="en-US" sz="1400" b="1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3" name="矩形 12"/>
          <p:cNvSpPr/>
          <p:nvPr/>
        </p:nvSpPr>
        <p:spPr>
          <a:xfrm>
            <a:off x="4484370" y="356870"/>
            <a:ext cx="3277870" cy="561975"/>
          </a:xfrm>
          <a:prstGeom prst="rect">
            <a:avLst/>
          </a:prstGeom>
          <a:solidFill>
            <a:srgbClr val="F7CAAB"/>
          </a:solidFill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400" b="1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</a:rPr>
              <a:t>Step2</a:t>
            </a:r>
            <a:r>
              <a:rPr lang="zh-CN" altLang="en-US" sz="1400" b="1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</a:rPr>
              <a:t>：</a:t>
            </a:r>
            <a:r>
              <a:rPr lang="zh-CN" altLang="en-US" sz="14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视觉感知建模模块</a:t>
            </a:r>
            <a:endParaRPr lang="zh-CN" altLang="en-US" sz="1400" b="1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4" name="矩形 13"/>
          <p:cNvSpPr/>
          <p:nvPr/>
        </p:nvSpPr>
        <p:spPr>
          <a:xfrm>
            <a:off x="8107045" y="356870"/>
            <a:ext cx="3924300" cy="561975"/>
          </a:xfrm>
          <a:prstGeom prst="rect">
            <a:avLst/>
          </a:prstGeom>
          <a:solidFill>
            <a:srgbClr val="C5DFB2"/>
          </a:solidFill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400" b="1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  <a:sym typeface="+mn-ea"/>
              </a:rPr>
              <a:t>Step3</a:t>
            </a:r>
            <a:r>
              <a:rPr lang="zh-CN" altLang="en-US" sz="1400" b="1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  <a:sym typeface="+mn-ea"/>
              </a:rPr>
              <a:t>：动态分辨率渲染执行模块</a:t>
            </a:r>
            <a:endParaRPr lang="zh-CN" altLang="en-US" sz="1400"/>
          </a:p>
        </p:txBody>
      </p:sp>
      <p:sp>
        <p:nvSpPr>
          <p:cNvPr id="20" name="矩形 19"/>
          <p:cNvSpPr/>
          <p:nvPr/>
        </p:nvSpPr>
        <p:spPr>
          <a:xfrm>
            <a:off x="1579245" y="1104900"/>
            <a:ext cx="2287270" cy="890270"/>
          </a:xfrm>
          <a:prstGeom prst="rect">
            <a:avLst/>
          </a:prstGeom>
          <a:solidFill>
            <a:srgbClr val="BBD6EB"/>
          </a:solidFill>
        </p:spPr>
        <p:style>
          <a:lnRef idx="0">
            <a:srgbClr val="FFFFFF"/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4" name="文本框 23"/>
          <p:cNvSpPr txBox="1"/>
          <p:nvPr/>
        </p:nvSpPr>
        <p:spPr>
          <a:xfrm>
            <a:off x="1991360" y="1130300"/>
            <a:ext cx="1558290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4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信号预处理模块</a:t>
            </a:r>
            <a:endParaRPr lang="zh-CN" altLang="en-US" sz="1400" b="1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  <a:sym typeface="+mn-ea"/>
            </a:endParaRPr>
          </a:p>
        </p:txBody>
      </p:sp>
      <p:sp>
        <p:nvSpPr>
          <p:cNvPr id="26" name="圆角矩形 25"/>
          <p:cNvSpPr/>
          <p:nvPr/>
        </p:nvSpPr>
        <p:spPr>
          <a:xfrm>
            <a:off x="1657985" y="1465580"/>
            <a:ext cx="1010285" cy="466090"/>
          </a:xfrm>
          <a:prstGeom prst="roundRect">
            <a:avLst>
              <a:gd name="adj" fmla="val 5430"/>
            </a:avLst>
          </a:prstGeom>
          <a:solidFill>
            <a:srgbClr val="E5EFF8"/>
          </a:solidFill>
          <a:ln>
            <a:noFill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r>
              <a:rPr lang="zh-CN" altLang="en-US" sz="1200" b="1">
                <a:latin typeface="宋体" panose="02010600030101010101" pitchFamily="2" charset="-122"/>
                <a:ea typeface="宋体" panose="02010600030101010101" pitchFamily="2" charset="-122"/>
              </a:rPr>
              <a:t>瞬时角速度计算器</a:t>
            </a:r>
            <a:endParaRPr lang="zh-CN" altLang="en-US" sz="1200" b="1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22" name="圆角矩形 21"/>
          <p:cNvSpPr/>
          <p:nvPr/>
        </p:nvSpPr>
        <p:spPr>
          <a:xfrm>
            <a:off x="2785745" y="1456055"/>
            <a:ext cx="1010285" cy="466090"/>
          </a:xfrm>
          <a:prstGeom prst="roundRect">
            <a:avLst>
              <a:gd name="adj" fmla="val 5430"/>
            </a:avLst>
          </a:prstGeom>
          <a:solidFill>
            <a:srgbClr val="E5EFF8"/>
          </a:solidFill>
          <a:ln>
            <a:noFill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r>
              <a:rPr lang="zh-CN" altLang="en-US" sz="1200" b="1">
                <a:latin typeface="宋体" panose="02010600030101010101" pitchFamily="2" charset="-122"/>
                <a:ea typeface="宋体" panose="02010600030101010101" pitchFamily="2" charset="-122"/>
              </a:rPr>
              <a:t>注视点坐标</a:t>
            </a:r>
            <a:endParaRPr lang="zh-CN" altLang="en-US" sz="1200" b="1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ctr"/>
            <a:r>
              <a:rPr lang="zh-CN" altLang="en-US" sz="1200" b="1">
                <a:latin typeface="宋体" panose="02010600030101010101" pitchFamily="2" charset="-122"/>
                <a:ea typeface="宋体" panose="02010600030101010101" pitchFamily="2" charset="-122"/>
              </a:rPr>
              <a:t>提取器</a:t>
            </a:r>
            <a:endParaRPr lang="zh-CN" altLang="en-US" sz="1200" b="1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60" name="文本框 59"/>
          <p:cNvSpPr txBox="1"/>
          <p:nvPr/>
        </p:nvSpPr>
        <p:spPr>
          <a:xfrm>
            <a:off x="292100" y="2135505"/>
            <a:ext cx="1264920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200" b="1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charset="0"/>
              </a:rPr>
              <a:t>原始眼动信号</a:t>
            </a:r>
            <a:endParaRPr lang="zh-CN" altLang="en-US" sz="1200" b="1">
              <a:latin typeface="宋体" panose="02010600030101010101" pitchFamily="2" charset="-122"/>
              <a:ea typeface="宋体" panose="02010600030101010101" pitchFamily="2" charset="-122"/>
              <a:cs typeface="Times New Roman" panose="02020603050405020304" charset="0"/>
            </a:endParaRPr>
          </a:p>
        </p:txBody>
      </p:sp>
      <p:sp>
        <p:nvSpPr>
          <p:cNvPr id="23" name="矩形 22"/>
          <p:cNvSpPr/>
          <p:nvPr/>
        </p:nvSpPr>
        <p:spPr>
          <a:xfrm>
            <a:off x="248285" y="2682875"/>
            <a:ext cx="3656965" cy="3457575"/>
          </a:xfrm>
          <a:prstGeom prst="rect">
            <a:avLst/>
          </a:prstGeom>
          <a:solidFill>
            <a:srgbClr val="BBD6EB"/>
          </a:solidFill>
        </p:spPr>
        <p:style>
          <a:lnRef idx="0">
            <a:srgbClr val="FFFFFF"/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/>
              <a:t> </a:t>
            </a:r>
            <a:endParaRPr lang="en-US" altLang="zh-CN"/>
          </a:p>
        </p:txBody>
      </p:sp>
      <p:sp>
        <p:nvSpPr>
          <p:cNvPr id="25" name="文本框 24"/>
          <p:cNvSpPr txBox="1"/>
          <p:nvPr/>
        </p:nvSpPr>
        <p:spPr>
          <a:xfrm>
            <a:off x="1016000" y="2800350"/>
            <a:ext cx="1995805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4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双重阈值事件检测模块</a:t>
            </a:r>
            <a:endParaRPr lang="zh-CN" altLang="en-US" sz="1400" b="1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  <a:sym typeface="+mn-ea"/>
            </a:endParaRPr>
          </a:p>
        </p:txBody>
      </p:sp>
      <p:sp>
        <p:nvSpPr>
          <p:cNvPr id="30" name="文本框 29"/>
          <p:cNvSpPr txBox="1"/>
          <p:nvPr/>
        </p:nvSpPr>
        <p:spPr>
          <a:xfrm>
            <a:off x="-19685" y="979170"/>
            <a:ext cx="1120140" cy="79565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/>
            <a:r>
              <a:rPr lang="zh-CN" altLang="en-US" sz="1200" b="1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charset="0"/>
              </a:rPr>
              <a:t>眼动追踪设备</a:t>
            </a:r>
            <a:endParaRPr lang="zh-CN" altLang="en-US" sz="1200" b="1">
              <a:latin typeface="宋体" panose="02010600030101010101" pitchFamily="2" charset="-122"/>
              <a:ea typeface="宋体" panose="02010600030101010101" pitchFamily="2" charset="-122"/>
              <a:cs typeface="Times New Roman" panose="02020603050405020304" charset="0"/>
            </a:endParaRPr>
          </a:p>
        </p:txBody>
      </p:sp>
      <p:sp>
        <p:nvSpPr>
          <p:cNvPr id="34" name="圆角矩形 33"/>
          <p:cNvSpPr/>
          <p:nvPr/>
        </p:nvSpPr>
        <p:spPr>
          <a:xfrm>
            <a:off x="708660" y="3762375"/>
            <a:ext cx="828675" cy="466090"/>
          </a:xfrm>
          <a:prstGeom prst="roundRect">
            <a:avLst>
              <a:gd name="adj" fmla="val 5430"/>
            </a:avLst>
          </a:prstGeom>
          <a:solidFill>
            <a:srgbClr val="E5EFF8"/>
          </a:solidFill>
          <a:ln>
            <a:noFill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r>
              <a:rPr lang="zh-CN" altLang="en-US" sz="1200" b="1">
                <a:latin typeface="宋体" panose="02010600030101010101" pitchFamily="2" charset="-122"/>
                <a:ea typeface="宋体" panose="02010600030101010101" pitchFamily="2" charset="-122"/>
              </a:rPr>
              <a:t>扫视开始</a:t>
            </a:r>
            <a:endParaRPr lang="zh-CN" altLang="en-US" sz="1200" b="1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ctr"/>
            <a:r>
              <a:rPr lang="zh-CN" altLang="en-US" sz="1200" b="1">
                <a:latin typeface="宋体" panose="02010600030101010101" pitchFamily="2" charset="-122"/>
                <a:ea typeface="宋体" panose="02010600030101010101" pitchFamily="2" charset="-122"/>
              </a:rPr>
              <a:t>检测器</a:t>
            </a:r>
            <a:endParaRPr lang="zh-CN" altLang="en-US" sz="1200" b="1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37" name="圆角矩形 36"/>
          <p:cNvSpPr/>
          <p:nvPr/>
        </p:nvSpPr>
        <p:spPr>
          <a:xfrm>
            <a:off x="2105660" y="3276600"/>
            <a:ext cx="1724660" cy="2679700"/>
          </a:xfrm>
          <a:prstGeom prst="roundRect">
            <a:avLst>
              <a:gd name="adj" fmla="val 1095"/>
            </a:avLst>
          </a:prstGeom>
          <a:solidFill>
            <a:srgbClr val="DBEEF4"/>
          </a:solidFill>
        </p:spPr>
        <p:style>
          <a:lnRef idx="0">
            <a:srgbClr val="FFFFFF"/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sz="1200"/>
          </a:p>
        </p:txBody>
      </p:sp>
      <p:sp>
        <p:nvSpPr>
          <p:cNvPr id="39" name="圆角矩形 38"/>
          <p:cNvSpPr/>
          <p:nvPr/>
        </p:nvSpPr>
        <p:spPr>
          <a:xfrm>
            <a:off x="2583180" y="3594100"/>
            <a:ext cx="1079500" cy="452755"/>
          </a:xfrm>
          <a:prstGeom prst="roundRect">
            <a:avLst>
              <a:gd name="adj" fmla="val 5430"/>
            </a:avLst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r>
              <a:rPr lang="zh-CN" altLang="en-US" sz="1200" b="1">
                <a:latin typeface="宋体" panose="02010600030101010101" pitchFamily="2" charset="-122"/>
                <a:ea typeface="宋体" panose="02010600030101010101" pitchFamily="2" charset="-122"/>
              </a:rPr>
              <a:t>稳定注视态</a:t>
            </a:r>
            <a:endParaRPr lang="zh-CN" altLang="en-US" sz="1200" b="1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40" name="圆角矩形 39"/>
          <p:cNvSpPr/>
          <p:nvPr/>
        </p:nvSpPr>
        <p:spPr>
          <a:xfrm>
            <a:off x="2583180" y="4484370"/>
            <a:ext cx="1079500" cy="452755"/>
          </a:xfrm>
          <a:prstGeom prst="roundRect">
            <a:avLst>
              <a:gd name="adj" fmla="val 5430"/>
            </a:avLst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r>
              <a:rPr lang="zh-CN" altLang="en-US" sz="1200" b="1">
                <a:latin typeface="宋体" panose="02010600030101010101" pitchFamily="2" charset="-122"/>
                <a:ea typeface="宋体" panose="02010600030101010101" pitchFamily="2" charset="-122"/>
              </a:rPr>
              <a:t>扫视状态</a:t>
            </a:r>
            <a:endParaRPr lang="zh-CN" altLang="en-US" sz="1200" b="1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41" name="圆角矩形 40"/>
          <p:cNvSpPr/>
          <p:nvPr/>
        </p:nvSpPr>
        <p:spPr>
          <a:xfrm>
            <a:off x="2583180" y="5325745"/>
            <a:ext cx="1079500" cy="452755"/>
          </a:xfrm>
          <a:prstGeom prst="roundRect">
            <a:avLst>
              <a:gd name="adj" fmla="val 5430"/>
            </a:avLst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r>
              <a:rPr lang="zh-CN" altLang="en-US" sz="1200" b="1">
                <a:latin typeface="宋体" panose="02010600030101010101" pitchFamily="2" charset="-122"/>
                <a:ea typeface="宋体" panose="02010600030101010101" pitchFamily="2" charset="-122"/>
              </a:rPr>
              <a:t>扫视恢复</a:t>
            </a:r>
            <a:endParaRPr lang="zh-CN" altLang="en-US" sz="1200" b="1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ctr"/>
            <a:r>
              <a:rPr lang="zh-CN" altLang="en-US" sz="1200" b="1">
                <a:latin typeface="宋体" panose="02010600030101010101" pitchFamily="2" charset="-122"/>
                <a:ea typeface="宋体" panose="02010600030101010101" pitchFamily="2" charset="-122"/>
              </a:rPr>
              <a:t>状态</a:t>
            </a:r>
            <a:endParaRPr lang="zh-CN" altLang="en-US" sz="1200" b="1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42" name="文本框 41"/>
          <p:cNvSpPr txBox="1"/>
          <p:nvPr/>
        </p:nvSpPr>
        <p:spPr>
          <a:xfrm>
            <a:off x="2146935" y="3832225"/>
            <a:ext cx="445135" cy="159956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4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时序窗口状态机</a:t>
            </a:r>
            <a:endParaRPr lang="zh-CN" altLang="en-US" sz="1400" b="1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  <a:sym typeface="+mn-ea"/>
            </a:endParaRPr>
          </a:p>
        </p:txBody>
      </p:sp>
      <p:cxnSp>
        <p:nvCxnSpPr>
          <p:cNvPr id="45" name="直接箭头连接符 44"/>
          <p:cNvCxnSpPr/>
          <p:nvPr/>
        </p:nvCxnSpPr>
        <p:spPr>
          <a:xfrm flipV="1">
            <a:off x="1557020" y="5319395"/>
            <a:ext cx="546735" cy="6350"/>
          </a:xfrm>
          <a:prstGeom prst="straightConnector1">
            <a:avLst/>
          </a:prstGeom>
          <a:ln>
            <a:solidFill>
              <a:schemeClr val="tx1"/>
            </a:solidFill>
            <a:headEnd type="none"/>
            <a:tailEnd type="triangle" w="med" len="med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46" name="直接箭头连接符 45"/>
          <p:cNvCxnSpPr>
            <a:stCxn id="39" idx="2"/>
            <a:endCxn id="40" idx="0"/>
          </p:cNvCxnSpPr>
          <p:nvPr/>
        </p:nvCxnSpPr>
        <p:spPr>
          <a:xfrm>
            <a:off x="3122930" y="4046855"/>
            <a:ext cx="0" cy="437515"/>
          </a:xfrm>
          <a:prstGeom prst="straightConnector1">
            <a:avLst/>
          </a:prstGeom>
          <a:ln>
            <a:solidFill>
              <a:schemeClr val="tx1"/>
            </a:solidFill>
            <a:headEnd type="none"/>
            <a:tailEnd type="triangle" w="med" len="med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47" name="直接箭头连接符 46"/>
          <p:cNvCxnSpPr>
            <a:stCxn id="40" idx="2"/>
            <a:endCxn id="41" idx="0"/>
          </p:cNvCxnSpPr>
          <p:nvPr/>
        </p:nvCxnSpPr>
        <p:spPr>
          <a:xfrm>
            <a:off x="3122930" y="4937125"/>
            <a:ext cx="0" cy="388620"/>
          </a:xfrm>
          <a:prstGeom prst="straightConnector1">
            <a:avLst/>
          </a:prstGeom>
          <a:ln>
            <a:solidFill>
              <a:schemeClr val="tx1"/>
            </a:solidFill>
            <a:headEnd type="none"/>
            <a:tailEnd type="triangle" w="med" len="med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pic>
        <p:nvPicPr>
          <p:cNvPr id="54" name="图片 5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11830" y="4979035"/>
            <a:ext cx="504825" cy="304800"/>
          </a:xfrm>
          <a:prstGeom prst="rect">
            <a:avLst/>
          </a:prstGeom>
        </p:spPr>
      </p:pic>
      <p:pic>
        <p:nvPicPr>
          <p:cNvPr id="55" name="图片 5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47495" y="3627755"/>
            <a:ext cx="523875" cy="257175"/>
          </a:xfrm>
          <a:prstGeom prst="rect">
            <a:avLst/>
          </a:prstGeom>
        </p:spPr>
      </p:pic>
      <p:sp>
        <p:nvSpPr>
          <p:cNvPr id="56" name="圆角矩形 55"/>
          <p:cNvSpPr/>
          <p:nvPr/>
        </p:nvSpPr>
        <p:spPr>
          <a:xfrm>
            <a:off x="727075" y="5090160"/>
            <a:ext cx="828675" cy="466090"/>
          </a:xfrm>
          <a:prstGeom prst="roundRect">
            <a:avLst>
              <a:gd name="adj" fmla="val 5430"/>
            </a:avLst>
          </a:prstGeom>
          <a:solidFill>
            <a:srgbClr val="E5EFF8"/>
          </a:solidFill>
          <a:ln>
            <a:noFill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r>
              <a:rPr lang="zh-CN" altLang="en-US" sz="1200" b="1">
                <a:latin typeface="宋体" panose="02010600030101010101" pitchFamily="2" charset="-122"/>
                <a:ea typeface="宋体" panose="02010600030101010101" pitchFamily="2" charset="-122"/>
              </a:rPr>
              <a:t>扫视结束</a:t>
            </a:r>
            <a:endParaRPr lang="zh-CN" altLang="en-US" sz="1200" b="1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ctr"/>
            <a:r>
              <a:rPr lang="zh-CN" altLang="en-US" sz="1200" b="1">
                <a:latin typeface="宋体" panose="02010600030101010101" pitchFamily="2" charset="-122"/>
                <a:ea typeface="宋体" panose="02010600030101010101" pitchFamily="2" charset="-122"/>
              </a:rPr>
              <a:t>检测器</a:t>
            </a:r>
            <a:endParaRPr lang="zh-CN" altLang="en-US" sz="1200" b="1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cxnSp>
        <p:nvCxnSpPr>
          <p:cNvPr id="57" name="直接箭头连接符 56"/>
          <p:cNvCxnSpPr/>
          <p:nvPr/>
        </p:nvCxnSpPr>
        <p:spPr>
          <a:xfrm flipV="1">
            <a:off x="1548130" y="3975735"/>
            <a:ext cx="546735" cy="6350"/>
          </a:xfrm>
          <a:prstGeom prst="straightConnector1">
            <a:avLst/>
          </a:prstGeom>
          <a:ln>
            <a:solidFill>
              <a:schemeClr val="tx1"/>
            </a:solidFill>
            <a:headEnd type="none"/>
            <a:tailEnd type="triangle" w="med" len="med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pic>
        <p:nvPicPr>
          <p:cNvPr id="58" name="图片 5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08020" y="4132580"/>
            <a:ext cx="523875" cy="257175"/>
          </a:xfrm>
          <a:prstGeom prst="rect">
            <a:avLst/>
          </a:prstGeom>
        </p:spPr>
      </p:pic>
      <p:pic>
        <p:nvPicPr>
          <p:cNvPr id="59" name="图片 5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69085" y="4944110"/>
            <a:ext cx="504825" cy="304800"/>
          </a:xfrm>
          <a:prstGeom prst="rect">
            <a:avLst/>
          </a:prstGeom>
        </p:spPr>
      </p:pic>
      <p:cxnSp>
        <p:nvCxnSpPr>
          <p:cNvPr id="64" name="肘形连接符 63"/>
          <p:cNvCxnSpPr>
            <a:endCxn id="34" idx="1"/>
          </p:cNvCxnSpPr>
          <p:nvPr/>
        </p:nvCxnSpPr>
        <p:spPr>
          <a:xfrm rot="5400000" flipV="1">
            <a:off x="-562610" y="2724150"/>
            <a:ext cx="2221230" cy="320675"/>
          </a:xfrm>
          <a:prstGeom prst="bentConnector2">
            <a:avLst/>
          </a:prstGeom>
          <a:ln>
            <a:solidFill>
              <a:schemeClr val="tx1"/>
            </a:solidFill>
            <a:headEnd type="none"/>
            <a:tailEnd type="triangle" w="med" len="med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65" name="肘形连接符 64"/>
          <p:cNvCxnSpPr/>
          <p:nvPr/>
        </p:nvCxnSpPr>
        <p:spPr>
          <a:xfrm rot="5400000" flipV="1">
            <a:off x="-1210945" y="3394710"/>
            <a:ext cx="3528060" cy="328295"/>
          </a:xfrm>
          <a:prstGeom prst="bentConnector2">
            <a:avLst/>
          </a:prstGeom>
          <a:ln>
            <a:solidFill>
              <a:schemeClr val="tx1"/>
            </a:solidFill>
            <a:headEnd type="none"/>
            <a:tailEnd type="triangle" w="med" len="med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67" name="矩形 66"/>
          <p:cNvSpPr/>
          <p:nvPr/>
        </p:nvSpPr>
        <p:spPr>
          <a:xfrm>
            <a:off x="4685030" y="1108075"/>
            <a:ext cx="1042035" cy="2653665"/>
          </a:xfrm>
          <a:prstGeom prst="rect">
            <a:avLst/>
          </a:prstGeom>
          <a:solidFill>
            <a:srgbClr val="F7CBAE"/>
          </a:solidFill>
          <a:ln>
            <a:noFill/>
          </a:ln>
        </p:spPr>
        <p:style>
          <a:lnRef idx="0">
            <a:srgbClr val="FFFFFF"/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68" name="圆角矩形 67"/>
          <p:cNvSpPr/>
          <p:nvPr/>
        </p:nvSpPr>
        <p:spPr>
          <a:xfrm>
            <a:off x="4766310" y="1604010"/>
            <a:ext cx="876935" cy="260985"/>
          </a:xfrm>
          <a:prstGeom prst="roundRect">
            <a:avLst>
              <a:gd name="adj" fmla="val 5430"/>
            </a:avLst>
          </a:prstGeom>
          <a:solidFill>
            <a:srgbClr val="FBEDE0"/>
          </a:solidFill>
          <a:ln>
            <a:noFill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r>
              <a:rPr lang="zh-CN" altLang="en-US" sz="1200" b="1">
                <a:latin typeface="宋体" panose="02010600030101010101" pitchFamily="2" charset="-122"/>
                <a:ea typeface="宋体" panose="02010600030101010101" pitchFamily="2" charset="-122"/>
              </a:rPr>
              <a:t>亮度</a:t>
            </a:r>
            <a:endParaRPr lang="zh-CN" altLang="en-US" sz="1200" b="1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70" name="圆角矩形 69"/>
          <p:cNvSpPr/>
          <p:nvPr/>
        </p:nvSpPr>
        <p:spPr>
          <a:xfrm>
            <a:off x="4766310" y="1957070"/>
            <a:ext cx="876935" cy="260985"/>
          </a:xfrm>
          <a:prstGeom prst="roundRect">
            <a:avLst>
              <a:gd name="adj" fmla="val 5430"/>
            </a:avLst>
          </a:prstGeom>
          <a:solidFill>
            <a:srgbClr val="FBEDE0"/>
          </a:solidFill>
          <a:ln>
            <a:noFill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r>
              <a:rPr lang="zh-CN" altLang="en-US" sz="1200" b="1">
                <a:latin typeface="宋体" panose="02010600030101010101" pitchFamily="2" charset="-122"/>
                <a:ea typeface="宋体" panose="02010600030101010101" pitchFamily="2" charset="-122"/>
              </a:rPr>
              <a:t>色彩</a:t>
            </a:r>
            <a:endParaRPr lang="zh-CN" altLang="en-US" sz="1200" b="1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71" name="圆角矩形 70"/>
          <p:cNvSpPr/>
          <p:nvPr/>
        </p:nvSpPr>
        <p:spPr>
          <a:xfrm>
            <a:off x="4766310" y="2307590"/>
            <a:ext cx="876935" cy="260985"/>
          </a:xfrm>
          <a:prstGeom prst="roundRect">
            <a:avLst>
              <a:gd name="adj" fmla="val 5430"/>
            </a:avLst>
          </a:prstGeom>
          <a:solidFill>
            <a:srgbClr val="FBEDE0"/>
          </a:solidFill>
          <a:ln>
            <a:noFill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r>
              <a:rPr lang="zh-CN" altLang="en-US" sz="1200" b="1">
                <a:latin typeface="宋体" panose="02010600030101010101" pitchFamily="2" charset="-122"/>
                <a:ea typeface="宋体" panose="02010600030101010101" pitchFamily="2" charset="-122"/>
              </a:rPr>
              <a:t>刺激面积</a:t>
            </a:r>
            <a:endParaRPr lang="zh-CN" altLang="en-US" sz="1200" b="1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72" name="圆角矩形 71"/>
          <p:cNvSpPr/>
          <p:nvPr/>
        </p:nvSpPr>
        <p:spPr>
          <a:xfrm>
            <a:off x="4766310" y="2648585"/>
            <a:ext cx="876935" cy="260985"/>
          </a:xfrm>
          <a:prstGeom prst="roundRect">
            <a:avLst>
              <a:gd name="adj" fmla="val 5430"/>
            </a:avLst>
          </a:prstGeom>
          <a:solidFill>
            <a:srgbClr val="FBEDE0"/>
          </a:solidFill>
          <a:ln>
            <a:noFill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r>
              <a:rPr lang="zh-CN" altLang="en-US" sz="1200" b="1">
                <a:latin typeface="宋体" panose="02010600030101010101" pitchFamily="2" charset="-122"/>
                <a:ea typeface="宋体" panose="02010600030101010101" pitchFamily="2" charset="-122"/>
              </a:rPr>
              <a:t>偏心度</a:t>
            </a:r>
            <a:endParaRPr lang="zh-CN" altLang="en-US" sz="1200" b="1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73" name="圆角矩形 72"/>
          <p:cNvSpPr/>
          <p:nvPr/>
        </p:nvSpPr>
        <p:spPr>
          <a:xfrm>
            <a:off x="4766310" y="3008630"/>
            <a:ext cx="876935" cy="260985"/>
          </a:xfrm>
          <a:prstGeom prst="roundRect">
            <a:avLst>
              <a:gd name="adj" fmla="val 5430"/>
            </a:avLst>
          </a:prstGeom>
          <a:solidFill>
            <a:srgbClr val="FBEDE0"/>
          </a:solidFill>
          <a:ln>
            <a:noFill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r>
              <a:rPr lang="zh-CN" altLang="en-US" sz="1200" b="1">
                <a:latin typeface="宋体" panose="02010600030101010101" pitchFamily="2" charset="-122"/>
                <a:ea typeface="宋体" panose="02010600030101010101" pitchFamily="2" charset="-122"/>
              </a:rPr>
              <a:t>空间频率</a:t>
            </a:r>
            <a:endParaRPr lang="zh-CN" altLang="en-US" sz="1200" b="1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74" name="圆角矩形 73"/>
          <p:cNvSpPr/>
          <p:nvPr/>
        </p:nvSpPr>
        <p:spPr>
          <a:xfrm>
            <a:off x="4766310" y="3355975"/>
            <a:ext cx="876935" cy="260985"/>
          </a:xfrm>
          <a:prstGeom prst="roundRect">
            <a:avLst>
              <a:gd name="adj" fmla="val 5430"/>
            </a:avLst>
          </a:prstGeom>
          <a:solidFill>
            <a:srgbClr val="FBEDE0"/>
          </a:solidFill>
          <a:ln>
            <a:noFill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r>
              <a:rPr lang="zh-CN" altLang="en-US" sz="1200" b="1">
                <a:latin typeface="宋体" panose="02010600030101010101" pitchFamily="2" charset="-122"/>
                <a:ea typeface="宋体" panose="02010600030101010101" pitchFamily="2" charset="-122"/>
              </a:rPr>
              <a:t>时间频率</a:t>
            </a:r>
            <a:endParaRPr lang="zh-CN" altLang="en-US" sz="1200" b="1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75" name="文本框 74"/>
          <p:cNvSpPr txBox="1"/>
          <p:nvPr/>
        </p:nvSpPr>
        <p:spPr>
          <a:xfrm>
            <a:off x="4766310" y="1225550"/>
            <a:ext cx="960755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4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静态参数</a:t>
            </a:r>
            <a:endParaRPr lang="zh-CN" altLang="en-US" sz="1400" b="1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  <a:sym typeface="+mn-ea"/>
            </a:endParaRPr>
          </a:p>
        </p:txBody>
      </p:sp>
      <p:sp>
        <p:nvSpPr>
          <p:cNvPr id="76" name="矩形 75"/>
          <p:cNvSpPr/>
          <p:nvPr/>
        </p:nvSpPr>
        <p:spPr>
          <a:xfrm>
            <a:off x="4685030" y="4046855"/>
            <a:ext cx="1042035" cy="1813560"/>
          </a:xfrm>
          <a:prstGeom prst="rect">
            <a:avLst/>
          </a:prstGeom>
          <a:solidFill>
            <a:srgbClr val="F7CBAE"/>
          </a:solidFill>
          <a:ln>
            <a:noFill/>
          </a:ln>
        </p:spPr>
        <p:style>
          <a:lnRef idx="0">
            <a:srgbClr val="FFFFFF"/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77" name="圆角矩形 76"/>
          <p:cNvSpPr/>
          <p:nvPr/>
        </p:nvSpPr>
        <p:spPr>
          <a:xfrm>
            <a:off x="4766310" y="5417185"/>
            <a:ext cx="876935" cy="260985"/>
          </a:xfrm>
          <a:prstGeom prst="roundRect">
            <a:avLst>
              <a:gd name="adj" fmla="val 5430"/>
            </a:avLst>
          </a:prstGeom>
          <a:solidFill>
            <a:srgbClr val="FBEDE0"/>
          </a:solidFill>
          <a:ln>
            <a:noFill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r>
              <a:rPr lang="zh-CN" altLang="en-US" sz="1200" b="1">
                <a:latin typeface="宋体" panose="02010600030101010101" pitchFamily="2" charset="-122"/>
                <a:ea typeface="宋体" panose="02010600030101010101" pitchFamily="2" charset="-122"/>
              </a:rPr>
              <a:t>眼动状态</a:t>
            </a:r>
            <a:endParaRPr lang="zh-CN" altLang="en-US" sz="1200" b="1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78" name="文本框 77"/>
          <p:cNvSpPr txBox="1"/>
          <p:nvPr/>
        </p:nvSpPr>
        <p:spPr>
          <a:xfrm>
            <a:off x="4747260" y="4199255"/>
            <a:ext cx="960755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4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动态参数</a:t>
            </a:r>
            <a:endParaRPr lang="zh-CN" altLang="en-US" sz="1400" b="1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  <a:sym typeface="+mn-ea"/>
            </a:endParaRPr>
          </a:p>
        </p:txBody>
      </p:sp>
      <p:sp>
        <p:nvSpPr>
          <p:cNvPr id="79" name="圆角矩形 78"/>
          <p:cNvSpPr/>
          <p:nvPr/>
        </p:nvSpPr>
        <p:spPr>
          <a:xfrm>
            <a:off x="4756785" y="4572000"/>
            <a:ext cx="876935" cy="565785"/>
          </a:xfrm>
          <a:prstGeom prst="roundRect">
            <a:avLst>
              <a:gd name="adj" fmla="val 5430"/>
            </a:avLst>
          </a:prstGeom>
          <a:solidFill>
            <a:srgbClr val="FBEDE0"/>
          </a:solidFill>
          <a:ln>
            <a:noFill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r>
              <a:rPr lang="zh-CN" altLang="en-US" sz="1200" b="1">
                <a:latin typeface="宋体" panose="02010600030101010101" pitchFamily="2" charset="-122"/>
                <a:ea typeface="宋体" panose="02010600030101010101" pitchFamily="2" charset="-122"/>
              </a:rPr>
              <a:t>扫视后</a:t>
            </a:r>
            <a:endParaRPr lang="zh-CN" altLang="en-US" sz="1200" b="1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ctr"/>
            <a:r>
              <a:rPr lang="zh-CN" altLang="en-US" sz="1200" b="1">
                <a:latin typeface="宋体" panose="02010600030101010101" pitchFamily="2" charset="-122"/>
                <a:ea typeface="宋体" panose="02010600030101010101" pitchFamily="2" charset="-122"/>
              </a:rPr>
              <a:t>时间</a:t>
            </a:r>
            <a:endParaRPr lang="zh-CN" altLang="en-US" sz="1200" b="1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cxnSp>
        <p:nvCxnSpPr>
          <p:cNvPr id="80" name="肘形连接符 79"/>
          <p:cNvCxnSpPr>
            <a:stCxn id="20" idx="3"/>
            <a:endCxn id="68" idx="1"/>
          </p:cNvCxnSpPr>
          <p:nvPr/>
        </p:nvCxnSpPr>
        <p:spPr>
          <a:xfrm>
            <a:off x="3866515" y="1550035"/>
            <a:ext cx="899795" cy="184785"/>
          </a:xfrm>
          <a:prstGeom prst="bentConnector3">
            <a:avLst>
              <a:gd name="adj1" fmla="val 50035"/>
            </a:avLst>
          </a:prstGeom>
          <a:ln>
            <a:solidFill>
              <a:schemeClr val="tx1"/>
            </a:solidFill>
            <a:headEnd type="none"/>
            <a:tailEnd type="triangle" w="med" len="med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82" name="肘形连接符 81"/>
          <p:cNvCxnSpPr>
            <a:stCxn id="20" idx="3"/>
            <a:endCxn id="70" idx="1"/>
          </p:cNvCxnSpPr>
          <p:nvPr/>
        </p:nvCxnSpPr>
        <p:spPr>
          <a:xfrm>
            <a:off x="3866515" y="1550035"/>
            <a:ext cx="899795" cy="537845"/>
          </a:xfrm>
          <a:prstGeom prst="bentConnector3">
            <a:avLst>
              <a:gd name="adj1" fmla="val 50035"/>
            </a:avLst>
          </a:prstGeom>
          <a:ln>
            <a:solidFill>
              <a:schemeClr val="tx1"/>
            </a:solidFill>
            <a:headEnd type="none"/>
            <a:tailEnd type="triangle" w="med" len="med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84" name="肘形连接符 83"/>
          <p:cNvCxnSpPr>
            <a:stCxn id="20" idx="3"/>
            <a:endCxn id="71" idx="1"/>
          </p:cNvCxnSpPr>
          <p:nvPr/>
        </p:nvCxnSpPr>
        <p:spPr>
          <a:xfrm>
            <a:off x="3866515" y="1550035"/>
            <a:ext cx="899795" cy="888365"/>
          </a:xfrm>
          <a:prstGeom prst="bentConnector3">
            <a:avLst>
              <a:gd name="adj1" fmla="val 50035"/>
            </a:avLst>
          </a:prstGeom>
          <a:ln>
            <a:solidFill>
              <a:schemeClr val="tx1"/>
            </a:solidFill>
            <a:headEnd type="none"/>
            <a:tailEnd type="triangle" w="med" len="med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87" name="肘形连接符 86"/>
          <p:cNvCxnSpPr>
            <a:stCxn id="20" idx="3"/>
            <a:endCxn id="73" idx="1"/>
          </p:cNvCxnSpPr>
          <p:nvPr/>
        </p:nvCxnSpPr>
        <p:spPr>
          <a:xfrm>
            <a:off x="3866515" y="1550035"/>
            <a:ext cx="899795" cy="1589405"/>
          </a:xfrm>
          <a:prstGeom prst="bentConnector3">
            <a:avLst>
              <a:gd name="adj1" fmla="val 50035"/>
            </a:avLst>
          </a:prstGeom>
          <a:ln>
            <a:solidFill>
              <a:schemeClr val="tx1"/>
            </a:solidFill>
            <a:headEnd type="none"/>
            <a:tailEnd type="triangle" w="med" len="med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88" name="肘形连接符 87"/>
          <p:cNvCxnSpPr>
            <a:stCxn id="20" idx="3"/>
            <a:endCxn id="74" idx="1"/>
          </p:cNvCxnSpPr>
          <p:nvPr/>
        </p:nvCxnSpPr>
        <p:spPr>
          <a:xfrm>
            <a:off x="3866515" y="1550035"/>
            <a:ext cx="899795" cy="1936750"/>
          </a:xfrm>
          <a:prstGeom prst="bentConnector3">
            <a:avLst>
              <a:gd name="adj1" fmla="val 50035"/>
            </a:avLst>
          </a:prstGeom>
          <a:ln>
            <a:solidFill>
              <a:schemeClr val="tx1"/>
            </a:solidFill>
            <a:headEnd type="none"/>
            <a:tailEnd type="triangle" w="med" len="med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90" name="肘形连接符 89"/>
          <p:cNvCxnSpPr/>
          <p:nvPr/>
        </p:nvCxnSpPr>
        <p:spPr>
          <a:xfrm>
            <a:off x="3942715" y="1550035"/>
            <a:ext cx="732790" cy="3403600"/>
          </a:xfrm>
          <a:prstGeom prst="bentConnector3">
            <a:avLst>
              <a:gd name="adj1" fmla="val 50000"/>
            </a:avLst>
          </a:prstGeom>
          <a:ln w="19050">
            <a:solidFill>
              <a:schemeClr val="tx1"/>
            </a:solidFill>
            <a:headEnd type="none"/>
            <a:tailEnd type="triangle" w="med" len="med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94" name="直接箭头连接符 93"/>
          <p:cNvCxnSpPr>
            <a:endCxn id="72" idx="1"/>
          </p:cNvCxnSpPr>
          <p:nvPr/>
        </p:nvCxnSpPr>
        <p:spPr>
          <a:xfrm flipV="1">
            <a:off x="4318000" y="2779395"/>
            <a:ext cx="448310" cy="6350"/>
          </a:xfrm>
          <a:prstGeom prst="straightConnector1">
            <a:avLst/>
          </a:prstGeom>
          <a:ln>
            <a:solidFill>
              <a:schemeClr val="tx1"/>
            </a:solidFill>
            <a:headEnd type="none"/>
            <a:tailEnd type="triangle" w="med" len="med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95" name="肘形连接符 94"/>
          <p:cNvCxnSpPr>
            <a:stCxn id="39" idx="3"/>
            <a:endCxn id="77" idx="1"/>
          </p:cNvCxnSpPr>
          <p:nvPr/>
        </p:nvCxnSpPr>
        <p:spPr>
          <a:xfrm>
            <a:off x="3662680" y="3820795"/>
            <a:ext cx="1103630" cy="1727200"/>
          </a:xfrm>
          <a:prstGeom prst="bentConnector3">
            <a:avLst>
              <a:gd name="adj1" fmla="val 50000"/>
            </a:avLst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98" name="直接箭头连接符 97"/>
          <p:cNvCxnSpPr>
            <a:stCxn id="41" idx="3"/>
            <a:endCxn id="77" idx="1"/>
          </p:cNvCxnSpPr>
          <p:nvPr/>
        </p:nvCxnSpPr>
        <p:spPr>
          <a:xfrm flipV="1">
            <a:off x="3662680" y="5547995"/>
            <a:ext cx="1103630" cy="4445"/>
          </a:xfrm>
          <a:prstGeom prst="straightConnector1">
            <a:avLst/>
          </a:prstGeom>
          <a:ln w="19050">
            <a:solidFill>
              <a:schemeClr val="tx1"/>
            </a:solidFill>
            <a:headEnd type="none"/>
            <a:tailEnd type="triangle" w="med" len="med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00" name="肘形连接符 99"/>
          <p:cNvCxnSpPr>
            <a:stCxn id="40" idx="3"/>
            <a:endCxn id="77" idx="1"/>
          </p:cNvCxnSpPr>
          <p:nvPr/>
        </p:nvCxnSpPr>
        <p:spPr>
          <a:xfrm>
            <a:off x="3662680" y="4711065"/>
            <a:ext cx="1103630" cy="836930"/>
          </a:xfrm>
          <a:prstGeom prst="bentConnector3">
            <a:avLst>
              <a:gd name="adj1" fmla="val 50000"/>
            </a:avLst>
          </a:prstGeom>
          <a:ln w="190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01" name="矩形 100"/>
          <p:cNvSpPr/>
          <p:nvPr/>
        </p:nvSpPr>
        <p:spPr>
          <a:xfrm>
            <a:off x="6172835" y="1104900"/>
            <a:ext cx="1365250" cy="4754880"/>
          </a:xfrm>
          <a:prstGeom prst="rect">
            <a:avLst/>
          </a:prstGeom>
          <a:solidFill>
            <a:srgbClr val="F7CBAE"/>
          </a:solidFill>
          <a:ln>
            <a:noFill/>
          </a:ln>
        </p:spPr>
        <p:style>
          <a:lnRef idx="0">
            <a:srgbClr val="FFFFFF"/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03" name="文本框 102"/>
          <p:cNvSpPr txBox="1"/>
          <p:nvPr/>
        </p:nvSpPr>
        <p:spPr>
          <a:xfrm>
            <a:off x="6172835" y="3031490"/>
            <a:ext cx="1365250" cy="95313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sz="1400" b="1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  <a:sym typeface="+mn-ea"/>
              </a:rPr>
              <a:t>castleCSF-TS</a:t>
            </a:r>
            <a:endParaRPr lang="en-US" altLang="zh-CN" sz="1400" b="1">
              <a:solidFill>
                <a:schemeClr val="tx1"/>
              </a:solidFill>
              <a:latin typeface="Times New Roman" panose="02020603050405020304" charset="0"/>
              <a:ea typeface="宋体" panose="02010600030101010101" pitchFamily="2" charset="-122"/>
              <a:cs typeface="Times New Roman" panose="02020603050405020304" charset="0"/>
              <a:sym typeface="+mn-ea"/>
            </a:endParaRPr>
          </a:p>
          <a:p>
            <a:pPr algn="ctr"/>
            <a:endParaRPr lang="en-US" altLang="zh-CN" sz="1400" b="1">
              <a:solidFill>
                <a:schemeClr val="tx1"/>
              </a:solidFill>
              <a:latin typeface="Times New Roman" panose="02020603050405020304" charset="0"/>
              <a:ea typeface="宋体" panose="02010600030101010101" pitchFamily="2" charset="-122"/>
              <a:cs typeface="Times New Roman" panose="02020603050405020304" charset="0"/>
              <a:sym typeface="+mn-ea"/>
            </a:endParaRPr>
          </a:p>
          <a:p>
            <a:pPr algn="ctr"/>
            <a:r>
              <a:rPr lang="zh-CN" altLang="en-US" sz="14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视觉感知模型</a:t>
            </a:r>
            <a:endParaRPr lang="zh-CN" altLang="en-US" sz="1400" b="1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  <a:sym typeface="+mn-ea"/>
            </a:endParaRPr>
          </a:p>
          <a:p>
            <a:pPr algn="ctr"/>
            <a:r>
              <a:rPr lang="zh-CN" altLang="en-US" sz="14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输出阈值</a:t>
            </a:r>
            <a:endParaRPr lang="zh-CN" altLang="en-US" sz="1400" b="1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  <a:sym typeface="+mn-ea"/>
            </a:endParaRPr>
          </a:p>
        </p:txBody>
      </p:sp>
      <p:cxnSp>
        <p:nvCxnSpPr>
          <p:cNvPr id="105" name="肘形连接符 104"/>
          <p:cNvCxnSpPr>
            <a:stCxn id="67" idx="3"/>
            <a:endCxn id="101" idx="1"/>
          </p:cNvCxnSpPr>
          <p:nvPr/>
        </p:nvCxnSpPr>
        <p:spPr>
          <a:xfrm>
            <a:off x="5727065" y="2435225"/>
            <a:ext cx="445770" cy="1047115"/>
          </a:xfrm>
          <a:prstGeom prst="bentConnector3">
            <a:avLst>
              <a:gd name="adj1" fmla="val 50000"/>
            </a:avLst>
          </a:prstGeom>
          <a:ln w="19050">
            <a:solidFill>
              <a:schemeClr val="tx1"/>
            </a:solidFill>
            <a:headEnd type="none"/>
            <a:tailEnd type="triangle" w="med" len="med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06" name="肘形连接符 105"/>
          <p:cNvCxnSpPr>
            <a:stCxn id="76" idx="3"/>
            <a:endCxn id="101" idx="1"/>
          </p:cNvCxnSpPr>
          <p:nvPr/>
        </p:nvCxnSpPr>
        <p:spPr>
          <a:xfrm flipV="1">
            <a:off x="5727065" y="3482340"/>
            <a:ext cx="445770" cy="1471295"/>
          </a:xfrm>
          <a:prstGeom prst="bentConnector3">
            <a:avLst>
              <a:gd name="adj1" fmla="val 50000"/>
            </a:avLst>
          </a:prstGeom>
          <a:ln w="19050">
            <a:solidFill>
              <a:schemeClr val="tx1"/>
            </a:solidFill>
            <a:headEnd type="none"/>
            <a:tailEnd type="triangle" w="med" len="med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07" name="矩形 106"/>
          <p:cNvSpPr/>
          <p:nvPr/>
        </p:nvSpPr>
        <p:spPr>
          <a:xfrm>
            <a:off x="8242935" y="1104900"/>
            <a:ext cx="3707765" cy="2002790"/>
          </a:xfrm>
          <a:prstGeom prst="rect">
            <a:avLst/>
          </a:prstGeom>
          <a:solidFill>
            <a:srgbClr val="C5DEB6"/>
          </a:solidFill>
          <a:ln>
            <a:noFill/>
          </a:ln>
        </p:spPr>
        <p:style>
          <a:lnRef idx="0">
            <a:srgbClr val="FFFFFF"/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08" name="圆角矩形 107"/>
          <p:cNvSpPr/>
          <p:nvPr/>
        </p:nvSpPr>
        <p:spPr>
          <a:xfrm>
            <a:off x="8465820" y="1489710"/>
            <a:ext cx="3286125" cy="391160"/>
          </a:xfrm>
          <a:prstGeom prst="roundRect">
            <a:avLst>
              <a:gd name="adj" fmla="val 5430"/>
            </a:avLst>
          </a:prstGeom>
          <a:solidFill>
            <a:srgbClr val="E6F1E0"/>
          </a:solidFill>
          <a:ln>
            <a:noFill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r>
              <a:rPr lang="zh-CN" altLang="en-US" sz="1200" b="1">
                <a:latin typeface="宋体" panose="02010600030101010101" pitchFamily="2" charset="-122"/>
                <a:ea typeface="宋体" panose="02010600030101010101" pitchFamily="2" charset="-122"/>
              </a:rPr>
              <a:t>视觉敏感度阈值计算</a:t>
            </a:r>
            <a:endParaRPr lang="zh-CN" altLang="en-US" sz="1200" b="1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10" name="圆角矩形 109"/>
          <p:cNvSpPr/>
          <p:nvPr/>
        </p:nvSpPr>
        <p:spPr>
          <a:xfrm>
            <a:off x="8465820" y="2047240"/>
            <a:ext cx="3286125" cy="391160"/>
          </a:xfrm>
          <a:prstGeom prst="roundRect">
            <a:avLst>
              <a:gd name="adj" fmla="val 5430"/>
            </a:avLst>
          </a:prstGeom>
          <a:solidFill>
            <a:srgbClr val="E6F1E0"/>
          </a:solidFill>
          <a:ln>
            <a:noFill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r>
              <a:rPr lang="zh-CN" altLang="en-US" sz="1200" b="1">
                <a:latin typeface="宋体" panose="02010600030101010101" pitchFamily="2" charset="-122"/>
                <a:ea typeface="宋体" panose="02010600030101010101" pitchFamily="2" charset="-122"/>
              </a:rPr>
              <a:t>分辨率缩放因子映射</a:t>
            </a:r>
            <a:endParaRPr lang="zh-CN" altLang="en-US" sz="1200" b="1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11" name="圆角矩形 110"/>
          <p:cNvSpPr/>
          <p:nvPr/>
        </p:nvSpPr>
        <p:spPr>
          <a:xfrm>
            <a:off x="8465820" y="2602230"/>
            <a:ext cx="3286125" cy="391160"/>
          </a:xfrm>
          <a:prstGeom prst="roundRect">
            <a:avLst>
              <a:gd name="adj" fmla="val 5430"/>
            </a:avLst>
          </a:prstGeom>
          <a:solidFill>
            <a:srgbClr val="E6F1E0"/>
          </a:solidFill>
          <a:ln>
            <a:noFill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r>
              <a:rPr lang="zh-CN" altLang="en-US" sz="1200" b="1">
                <a:latin typeface="宋体" panose="02010600030101010101" pitchFamily="2" charset="-122"/>
                <a:ea typeface="宋体" panose="02010600030101010101" pitchFamily="2" charset="-122"/>
              </a:rPr>
              <a:t>中央凹区域动态定义</a:t>
            </a:r>
            <a:endParaRPr lang="zh-CN" altLang="en-US" sz="1200" b="1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12" name="文本框 111"/>
          <p:cNvSpPr txBox="1"/>
          <p:nvPr/>
        </p:nvSpPr>
        <p:spPr>
          <a:xfrm>
            <a:off x="9360535" y="1120775"/>
            <a:ext cx="2207895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4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分辨率映射模块</a:t>
            </a:r>
            <a:endParaRPr lang="zh-CN" altLang="en-US" sz="1400" b="1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  <a:sym typeface="+mn-ea"/>
            </a:endParaRPr>
          </a:p>
        </p:txBody>
      </p:sp>
      <p:sp>
        <p:nvSpPr>
          <p:cNvPr id="113" name="矩形 112"/>
          <p:cNvSpPr/>
          <p:nvPr/>
        </p:nvSpPr>
        <p:spPr>
          <a:xfrm>
            <a:off x="8242935" y="3355975"/>
            <a:ext cx="3707765" cy="1128395"/>
          </a:xfrm>
          <a:prstGeom prst="rect">
            <a:avLst/>
          </a:prstGeom>
          <a:solidFill>
            <a:srgbClr val="C5DEB6"/>
          </a:solidFill>
          <a:ln>
            <a:noFill/>
          </a:ln>
        </p:spPr>
        <p:style>
          <a:lnRef idx="0">
            <a:srgbClr val="FFFFFF"/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14" name="文本框 113"/>
          <p:cNvSpPr txBox="1"/>
          <p:nvPr/>
        </p:nvSpPr>
        <p:spPr>
          <a:xfrm>
            <a:off x="9303385" y="3401060"/>
            <a:ext cx="2207895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4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渲染管线调度模块</a:t>
            </a:r>
            <a:endParaRPr lang="zh-CN" altLang="en-US" sz="1400" b="1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  <a:sym typeface="+mn-ea"/>
            </a:endParaRPr>
          </a:p>
        </p:txBody>
      </p:sp>
      <p:sp>
        <p:nvSpPr>
          <p:cNvPr id="115" name="圆角矩形 114"/>
          <p:cNvSpPr/>
          <p:nvPr/>
        </p:nvSpPr>
        <p:spPr>
          <a:xfrm>
            <a:off x="8340090" y="3762375"/>
            <a:ext cx="1019810" cy="552450"/>
          </a:xfrm>
          <a:prstGeom prst="roundRect">
            <a:avLst>
              <a:gd name="adj" fmla="val 5430"/>
            </a:avLst>
          </a:prstGeom>
          <a:solidFill>
            <a:srgbClr val="E6F1E0"/>
          </a:solidFill>
          <a:ln>
            <a:noFill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r>
              <a:rPr lang="zh-CN" altLang="en-US" sz="1200" b="1">
                <a:latin typeface="宋体" panose="02010600030101010101" pitchFamily="2" charset="-122"/>
                <a:ea typeface="宋体" panose="02010600030101010101" pitchFamily="2" charset="-122"/>
              </a:rPr>
              <a:t>扫视期</a:t>
            </a:r>
            <a:endParaRPr lang="zh-CN" altLang="en-US" sz="1200" b="1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ctr"/>
            <a:r>
              <a:rPr lang="zh-CN" altLang="en-US" sz="1200" b="1">
                <a:latin typeface="宋体" panose="02010600030101010101" pitchFamily="2" charset="-122"/>
                <a:ea typeface="宋体" panose="02010600030101010101" pitchFamily="2" charset="-122"/>
              </a:rPr>
              <a:t>渲染策略</a:t>
            </a:r>
            <a:endParaRPr lang="zh-CN" altLang="en-US" sz="1200" b="1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16" name="圆角矩形 115"/>
          <p:cNvSpPr/>
          <p:nvPr/>
        </p:nvSpPr>
        <p:spPr>
          <a:xfrm>
            <a:off x="9544050" y="3762375"/>
            <a:ext cx="1047750" cy="552450"/>
          </a:xfrm>
          <a:prstGeom prst="roundRect">
            <a:avLst>
              <a:gd name="adj" fmla="val 5430"/>
            </a:avLst>
          </a:prstGeom>
          <a:solidFill>
            <a:srgbClr val="E6F1E0"/>
          </a:solidFill>
          <a:ln>
            <a:noFill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r>
              <a:rPr lang="zh-CN" altLang="en-US" sz="1200" b="1">
                <a:latin typeface="宋体" panose="02010600030101010101" pitchFamily="2" charset="-122"/>
                <a:ea typeface="宋体" panose="02010600030101010101" pitchFamily="2" charset="-122"/>
              </a:rPr>
              <a:t>恢复期</a:t>
            </a:r>
            <a:endParaRPr lang="zh-CN" altLang="en-US" sz="1200" b="1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ctr"/>
            <a:r>
              <a:rPr lang="zh-CN" altLang="en-US" sz="1200" b="1">
                <a:latin typeface="宋体" panose="02010600030101010101" pitchFamily="2" charset="-122"/>
                <a:ea typeface="宋体" panose="02010600030101010101" pitchFamily="2" charset="-122"/>
              </a:rPr>
              <a:t>渲染策略</a:t>
            </a:r>
            <a:endParaRPr lang="zh-CN" altLang="en-US" sz="1200" b="1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17" name="圆角矩形 116"/>
          <p:cNvSpPr/>
          <p:nvPr/>
        </p:nvSpPr>
        <p:spPr>
          <a:xfrm>
            <a:off x="10798175" y="3762375"/>
            <a:ext cx="1047750" cy="552450"/>
          </a:xfrm>
          <a:prstGeom prst="roundRect">
            <a:avLst>
              <a:gd name="adj" fmla="val 5430"/>
            </a:avLst>
          </a:prstGeom>
          <a:solidFill>
            <a:srgbClr val="E6F1E0"/>
          </a:solidFill>
          <a:ln>
            <a:noFill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r>
              <a:rPr lang="zh-CN" altLang="en-US" sz="1200" b="1">
                <a:latin typeface="宋体" panose="02010600030101010101" pitchFamily="2" charset="-122"/>
                <a:ea typeface="宋体" panose="02010600030101010101" pitchFamily="2" charset="-122"/>
              </a:rPr>
              <a:t>帧间平滑</a:t>
            </a:r>
            <a:endParaRPr lang="zh-CN" altLang="en-US" sz="1200" b="1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ctr"/>
            <a:r>
              <a:rPr lang="zh-CN" altLang="en-US" sz="1200" b="1">
                <a:latin typeface="宋体" panose="02010600030101010101" pitchFamily="2" charset="-122"/>
                <a:ea typeface="宋体" panose="02010600030101010101" pitchFamily="2" charset="-122"/>
              </a:rPr>
              <a:t>过渡算法</a:t>
            </a:r>
            <a:endParaRPr lang="zh-CN" altLang="en-US" sz="1200" b="1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pic>
        <p:nvPicPr>
          <p:cNvPr id="118" name="图片 11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240520" y="4722495"/>
            <a:ext cx="1716405" cy="1099820"/>
          </a:xfrm>
          <a:prstGeom prst="rect">
            <a:avLst/>
          </a:prstGeom>
        </p:spPr>
      </p:pic>
      <p:sp>
        <p:nvSpPr>
          <p:cNvPr id="120" name="文本框 119"/>
          <p:cNvSpPr txBox="1"/>
          <p:nvPr/>
        </p:nvSpPr>
        <p:spPr>
          <a:xfrm>
            <a:off x="9458325" y="5812155"/>
            <a:ext cx="1779270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4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高质量渲染输出</a:t>
            </a:r>
            <a:endParaRPr lang="zh-CN" altLang="en-US" sz="1400" b="1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  <a:sym typeface="+mn-ea"/>
            </a:endParaRPr>
          </a:p>
        </p:txBody>
      </p:sp>
      <p:cxnSp>
        <p:nvCxnSpPr>
          <p:cNvPr id="123" name="直接箭头连接符 122"/>
          <p:cNvCxnSpPr>
            <a:stCxn id="107" idx="2"/>
            <a:endCxn id="113" idx="0"/>
          </p:cNvCxnSpPr>
          <p:nvPr/>
        </p:nvCxnSpPr>
        <p:spPr>
          <a:xfrm>
            <a:off x="10097135" y="3107690"/>
            <a:ext cx="0" cy="248285"/>
          </a:xfrm>
          <a:prstGeom prst="straightConnector1">
            <a:avLst/>
          </a:prstGeom>
          <a:ln w="19050">
            <a:solidFill>
              <a:schemeClr val="tx1"/>
            </a:solidFill>
            <a:headEnd type="none"/>
            <a:tailEnd type="triangle" w="med" len="med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24" name="直接箭头连接符 123"/>
          <p:cNvCxnSpPr>
            <a:stCxn id="113" idx="2"/>
            <a:endCxn id="118" idx="0"/>
          </p:cNvCxnSpPr>
          <p:nvPr/>
        </p:nvCxnSpPr>
        <p:spPr>
          <a:xfrm>
            <a:off x="10097135" y="4484370"/>
            <a:ext cx="1905" cy="238125"/>
          </a:xfrm>
          <a:prstGeom prst="straightConnector1">
            <a:avLst/>
          </a:prstGeom>
          <a:ln w="19050">
            <a:solidFill>
              <a:schemeClr val="tx1"/>
            </a:solidFill>
            <a:headEnd type="none"/>
            <a:tailEnd type="triangle" w="med" len="med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25" name="直接箭头连接符 124"/>
          <p:cNvCxnSpPr/>
          <p:nvPr/>
        </p:nvCxnSpPr>
        <p:spPr>
          <a:xfrm>
            <a:off x="7761605" y="3602355"/>
            <a:ext cx="345440" cy="0"/>
          </a:xfrm>
          <a:prstGeom prst="straightConnector1">
            <a:avLst/>
          </a:prstGeom>
          <a:ln w="19050">
            <a:solidFill>
              <a:schemeClr val="tx1"/>
            </a:solidFill>
            <a:headEnd type="none"/>
            <a:tailEnd type="triangle" w="med" len="med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6" name="矩形 15"/>
          <p:cNvSpPr/>
          <p:nvPr/>
        </p:nvSpPr>
        <p:spPr>
          <a:xfrm>
            <a:off x="1264285" y="1052195"/>
            <a:ext cx="2345690" cy="5033645"/>
          </a:xfrm>
          <a:prstGeom prst="rect">
            <a:avLst/>
          </a:prstGeom>
          <a:solidFill>
            <a:srgbClr val="FBEDE0"/>
          </a:solidFill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3" name="矩形 12"/>
          <p:cNvSpPr/>
          <p:nvPr/>
        </p:nvSpPr>
        <p:spPr>
          <a:xfrm>
            <a:off x="1264285" y="490220"/>
            <a:ext cx="2346325" cy="561975"/>
          </a:xfrm>
          <a:prstGeom prst="rect">
            <a:avLst/>
          </a:prstGeom>
          <a:solidFill>
            <a:srgbClr val="F7CAAB"/>
          </a:solidFill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400" b="1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  <a:sym typeface="+mn-ea"/>
              </a:rPr>
              <a:t>castleCSF-TS</a:t>
            </a:r>
            <a:endParaRPr lang="zh-CN" altLang="en-US" sz="1400" b="1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" name="圆角矩形 3"/>
          <p:cNvSpPr/>
          <p:nvPr/>
        </p:nvSpPr>
        <p:spPr>
          <a:xfrm>
            <a:off x="1575435" y="1250950"/>
            <a:ext cx="1675765" cy="457835"/>
          </a:xfrm>
          <a:prstGeom prst="roundRect">
            <a:avLst>
              <a:gd name="adj" fmla="val 5430"/>
            </a:avLst>
          </a:prstGeom>
          <a:noFill/>
          <a:ln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BEDE0"/>
                </a:solidFill>
              </a14:hiddenFill>
            </a:ext>
          </a:extLst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r>
              <a:rPr lang="zh-CN" altLang="en-US" sz="1200" b="1">
                <a:latin typeface="宋体" panose="02010600030101010101" pitchFamily="2" charset="-122"/>
                <a:ea typeface="宋体" panose="02010600030101010101" pitchFamily="2" charset="-122"/>
              </a:rPr>
              <a:t>亮度</a:t>
            </a:r>
            <a:r>
              <a:rPr lang="en-US" altLang="zh-CN" sz="1200" b="1"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r>
              <a:rPr lang="en-US" altLang="zh-CN" sz="1200" b="1"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</a:rPr>
              <a:t>Luminance </a:t>
            </a:r>
            <a:endParaRPr lang="en-US" altLang="zh-CN" sz="1200" b="1">
              <a:latin typeface="Times New Roman" panose="02020603050405020304" charset="0"/>
              <a:ea typeface="宋体" panose="02010600030101010101" pitchFamily="2" charset="-122"/>
              <a:cs typeface="Times New Roman" panose="02020603050405020304" charset="0"/>
            </a:endParaRPr>
          </a:p>
        </p:txBody>
      </p:sp>
      <p:sp>
        <p:nvSpPr>
          <p:cNvPr id="6" name="圆角矩形 5"/>
          <p:cNvSpPr/>
          <p:nvPr/>
        </p:nvSpPr>
        <p:spPr>
          <a:xfrm>
            <a:off x="1575435" y="1903095"/>
            <a:ext cx="1675765" cy="457835"/>
          </a:xfrm>
          <a:prstGeom prst="roundRect">
            <a:avLst>
              <a:gd name="adj" fmla="val 5430"/>
            </a:avLst>
          </a:prstGeom>
          <a:noFill/>
          <a:ln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BEDE0"/>
                </a:solidFill>
              </a14:hiddenFill>
            </a:ext>
          </a:extLst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r>
              <a:rPr lang="zh-CN" altLang="en-US" sz="1200" b="1">
                <a:latin typeface="宋体" panose="02010600030101010101" pitchFamily="2" charset="-122"/>
                <a:ea typeface="宋体" panose="02010600030101010101" pitchFamily="2" charset="-122"/>
              </a:rPr>
              <a:t>色彩</a:t>
            </a:r>
            <a:r>
              <a:rPr lang="en-US" altLang="zh-CN" sz="1200" b="1"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r>
              <a:rPr lang="en-US" altLang="zh-CN" sz="1200" b="1"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</a:rPr>
              <a:t>Color </a:t>
            </a:r>
            <a:endParaRPr lang="en-US" altLang="zh-CN" sz="1200" b="1">
              <a:latin typeface="Times New Roman" panose="02020603050405020304" charset="0"/>
              <a:ea typeface="宋体" panose="02010600030101010101" pitchFamily="2" charset="-122"/>
              <a:cs typeface="Times New Roman" panose="02020603050405020304" charset="0"/>
            </a:endParaRPr>
          </a:p>
        </p:txBody>
      </p:sp>
      <p:sp>
        <p:nvSpPr>
          <p:cNvPr id="7" name="圆角矩形 6"/>
          <p:cNvSpPr/>
          <p:nvPr/>
        </p:nvSpPr>
        <p:spPr>
          <a:xfrm>
            <a:off x="1575435" y="2555240"/>
            <a:ext cx="1675765" cy="457835"/>
          </a:xfrm>
          <a:prstGeom prst="roundRect">
            <a:avLst>
              <a:gd name="adj" fmla="val 5430"/>
            </a:avLst>
          </a:prstGeom>
          <a:noFill/>
          <a:ln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BEDE0"/>
                </a:solidFill>
              </a14:hiddenFill>
            </a:ext>
          </a:extLst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r>
              <a:rPr lang="zh-CN" altLang="en-US" sz="1200" b="1">
                <a:latin typeface="宋体" panose="02010600030101010101" pitchFamily="2" charset="-122"/>
                <a:ea typeface="宋体" panose="02010600030101010101" pitchFamily="2" charset="-122"/>
              </a:rPr>
              <a:t>空间频率</a:t>
            </a:r>
            <a:r>
              <a:rPr lang="en-US" altLang="zh-CN" sz="1200" b="1"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r>
              <a:rPr lang="en-US" altLang="zh-CN" sz="1200" b="1"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</a:rPr>
              <a:t>Spatio</a:t>
            </a:r>
            <a:r>
              <a:rPr lang="en-US" altLang="zh-CN" sz="1200" b="1"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</a:rPr>
              <a:t> </a:t>
            </a:r>
            <a:endParaRPr lang="en-US" altLang="zh-CN" sz="1200" b="1">
              <a:latin typeface="Times New Roman" panose="02020603050405020304" charset="0"/>
              <a:ea typeface="宋体" panose="02010600030101010101" pitchFamily="2" charset="-122"/>
              <a:cs typeface="Times New Roman" panose="02020603050405020304" charset="0"/>
            </a:endParaRPr>
          </a:p>
        </p:txBody>
      </p:sp>
      <p:sp>
        <p:nvSpPr>
          <p:cNvPr id="8" name="圆角矩形 7"/>
          <p:cNvSpPr/>
          <p:nvPr/>
        </p:nvSpPr>
        <p:spPr>
          <a:xfrm>
            <a:off x="1575435" y="3207385"/>
            <a:ext cx="1675765" cy="457835"/>
          </a:xfrm>
          <a:prstGeom prst="roundRect">
            <a:avLst>
              <a:gd name="adj" fmla="val 5430"/>
            </a:avLst>
          </a:prstGeom>
          <a:noFill/>
          <a:ln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BEDE0"/>
                </a:solidFill>
              </a14:hiddenFill>
            </a:ext>
          </a:extLst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r>
              <a:rPr lang="zh-CN" altLang="en-US" sz="1200" b="1">
                <a:latin typeface="宋体" panose="02010600030101010101" pitchFamily="2" charset="-122"/>
                <a:ea typeface="宋体" panose="02010600030101010101" pitchFamily="2" charset="-122"/>
              </a:rPr>
              <a:t>时间频率</a:t>
            </a:r>
            <a:r>
              <a:rPr lang="en-US" altLang="zh-CN" sz="1200" b="1"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r>
              <a:rPr lang="en-US" altLang="zh-CN" sz="1200" b="1"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</a:rPr>
              <a:t>Temporal </a:t>
            </a:r>
            <a:endParaRPr lang="en-US" altLang="zh-CN" sz="1200" b="1">
              <a:latin typeface="Times New Roman" panose="02020603050405020304" charset="0"/>
              <a:ea typeface="宋体" panose="02010600030101010101" pitchFamily="2" charset="-122"/>
              <a:cs typeface="Times New Roman" panose="02020603050405020304" charset="0"/>
            </a:endParaRPr>
          </a:p>
        </p:txBody>
      </p:sp>
      <p:sp>
        <p:nvSpPr>
          <p:cNvPr id="9" name="圆角矩形 8"/>
          <p:cNvSpPr/>
          <p:nvPr/>
        </p:nvSpPr>
        <p:spPr>
          <a:xfrm>
            <a:off x="1575435" y="3859530"/>
            <a:ext cx="1675765" cy="457835"/>
          </a:xfrm>
          <a:prstGeom prst="roundRect">
            <a:avLst>
              <a:gd name="adj" fmla="val 5430"/>
            </a:avLst>
          </a:prstGeom>
          <a:noFill/>
          <a:ln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BEDE0"/>
                </a:solidFill>
              </a14:hiddenFill>
            </a:ext>
          </a:extLst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r>
              <a:rPr lang="zh-CN" altLang="en-US" sz="1200" b="1">
                <a:latin typeface="宋体" panose="02010600030101010101" pitchFamily="2" charset="-122"/>
                <a:ea typeface="宋体" panose="02010600030101010101" pitchFamily="2" charset="-122"/>
              </a:rPr>
              <a:t>面积</a:t>
            </a:r>
            <a:r>
              <a:rPr lang="en-US" altLang="zh-CN" sz="1200" b="1">
                <a:latin typeface="宋体" panose="02010600030101010101" pitchFamily="2" charset="-122"/>
                <a:ea typeface="宋体" panose="02010600030101010101" pitchFamily="2" charset="-122"/>
              </a:rPr>
              <a:t> Area</a:t>
            </a:r>
            <a:r>
              <a:rPr lang="en-US" altLang="zh-CN" sz="1200" b="1"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</a:rPr>
              <a:t> </a:t>
            </a:r>
            <a:endParaRPr lang="en-US" altLang="zh-CN" sz="1200" b="1">
              <a:latin typeface="Times New Roman" panose="02020603050405020304" charset="0"/>
              <a:ea typeface="宋体" panose="02010600030101010101" pitchFamily="2" charset="-122"/>
              <a:cs typeface="Times New Roman" panose="02020603050405020304" charset="0"/>
            </a:endParaRPr>
          </a:p>
        </p:txBody>
      </p:sp>
      <p:sp>
        <p:nvSpPr>
          <p:cNvPr id="10" name="圆角矩形 9"/>
          <p:cNvSpPr/>
          <p:nvPr/>
        </p:nvSpPr>
        <p:spPr>
          <a:xfrm>
            <a:off x="1575435" y="4538980"/>
            <a:ext cx="1675765" cy="457835"/>
          </a:xfrm>
          <a:prstGeom prst="roundRect">
            <a:avLst>
              <a:gd name="adj" fmla="val 5430"/>
            </a:avLst>
          </a:prstGeom>
          <a:noFill/>
          <a:ln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BEDE0"/>
                </a:solidFill>
              </a14:hiddenFill>
            </a:ext>
          </a:extLst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r>
              <a:rPr lang="zh-CN" altLang="en-US" sz="1200" b="1">
                <a:latin typeface="宋体" panose="02010600030101010101" pitchFamily="2" charset="-122"/>
                <a:ea typeface="宋体" panose="02010600030101010101" pitchFamily="2" charset="-122"/>
              </a:rPr>
              <a:t>偏心度</a:t>
            </a:r>
            <a:r>
              <a:rPr lang="en-US" altLang="zh-CN" sz="1200" b="1">
                <a:latin typeface="宋体" panose="02010600030101010101" pitchFamily="2" charset="-122"/>
                <a:ea typeface="宋体" panose="02010600030101010101" pitchFamily="2" charset="-122"/>
              </a:rPr>
              <a:t> Eccentricity</a:t>
            </a:r>
            <a:r>
              <a:rPr lang="en-US" altLang="zh-CN" sz="1200" b="1"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</a:rPr>
              <a:t> </a:t>
            </a:r>
            <a:endParaRPr lang="en-US" altLang="zh-CN" sz="1200" b="1">
              <a:latin typeface="Times New Roman" panose="02020603050405020304" charset="0"/>
              <a:ea typeface="宋体" panose="02010600030101010101" pitchFamily="2" charset="-122"/>
              <a:cs typeface="Times New Roman" panose="02020603050405020304" charset="0"/>
            </a:endParaRPr>
          </a:p>
        </p:txBody>
      </p:sp>
      <p:sp>
        <p:nvSpPr>
          <p:cNvPr id="11" name="圆角矩形 10"/>
          <p:cNvSpPr/>
          <p:nvPr/>
        </p:nvSpPr>
        <p:spPr>
          <a:xfrm>
            <a:off x="1575435" y="5218430"/>
            <a:ext cx="1675765" cy="504825"/>
          </a:xfrm>
          <a:prstGeom prst="roundRect">
            <a:avLst>
              <a:gd name="adj" fmla="val 5430"/>
            </a:avLst>
          </a:prstGeom>
          <a:noFill/>
          <a:ln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BEDE0"/>
                </a:solidFill>
              </a14:hiddenFill>
            </a:ext>
          </a:extLst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r>
              <a:rPr lang="zh-CN" altLang="en-US" sz="1200" b="1">
                <a:latin typeface="宋体" panose="02010600030101010101" pitchFamily="2" charset="-122"/>
                <a:ea typeface="宋体" panose="02010600030101010101" pitchFamily="2" charset="-122"/>
              </a:rPr>
              <a:t>扫视时序特征</a:t>
            </a:r>
            <a:r>
              <a:rPr lang="en-US" altLang="zh-CN" sz="1200" b="1"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endParaRPr lang="en-US" altLang="zh-CN" sz="1200" b="1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ctr"/>
            <a:r>
              <a:rPr lang="en-US" altLang="zh-CN" sz="1200" b="1">
                <a:latin typeface="宋体" panose="02010600030101010101" pitchFamily="2" charset="-122"/>
                <a:ea typeface="宋体" panose="02010600030101010101" pitchFamily="2" charset="-122"/>
              </a:rPr>
              <a:t>temporal Saccade</a:t>
            </a:r>
            <a:r>
              <a:rPr lang="en-US" altLang="zh-CN" sz="1200" b="1"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</a:rPr>
              <a:t> </a:t>
            </a:r>
            <a:endParaRPr lang="en-US" altLang="zh-CN" sz="1200" b="1">
              <a:latin typeface="Times New Roman" panose="02020603050405020304" charset="0"/>
              <a:ea typeface="宋体" panose="02010600030101010101" pitchFamily="2" charset="-122"/>
              <a:cs typeface="Times New Roman" panose="02020603050405020304" charset="0"/>
            </a:endParaRPr>
          </a:p>
        </p:txBody>
      </p:sp>
      <p:sp>
        <p:nvSpPr>
          <p:cNvPr id="15" name="圆角矩形 14"/>
          <p:cNvSpPr/>
          <p:nvPr/>
        </p:nvSpPr>
        <p:spPr>
          <a:xfrm>
            <a:off x="4176395" y="3101975"/>
            <a:ext cx="1471295" cy="595630"/>
          </a:xfrm>
          <a:prstGeom prst="roundRect">
            <a:avLst>
              <a:gd name="adj" fmla="val 5430"/>
            </a:avLst>
          </a:prstGeom>
          <a:solidFill>
            <a:srgbClr val="FBEDE0"/>
          </a:solidFill>
          <a:ln>
            <a:noFill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r>
              <a:rPr lang="zh-CN" altLang="en-US" sz="1400" b="1">
                <a:latin typeface="宋体" panose="02010600030101010101" pitchFamily="2" charset="-122"/>
                <a:ea typeface="宋体" panose="02010600030101010101" pitchFamily="2" charset="-122"/>
              </a:rPr>
              <a:t>对比敏感度阈值</a:t>
            </a:r>
            <a:endParaRPr lang="zh-CN" altLang="en-US" sz="1400" b="1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cxnSp>
        <p:nvCxnSpPr>
          <p:cNvPr id="18" name="直接箭头连接符 17"/>
          <p:cNvCxnSpPr/>
          <p:nvPr/>
        </p:nvCxnSpPr>
        <p:spPr>
          <a:xfrm>
            <a:off x="3618230" y="3407410"/>
            <a:ext cx="539115" cy="6985"/>
          </a:xfrm>
          <a:prstGeom prst="straightConnector1">
            <a:avLst/>
          </a:prstGeom>
          <a:ln w="19050">
            <a:solidFill>
              <a:schemeClr val="tx1"/>
            </a:solidFill>
            <a:headEnd type="none"/>
            <a:tailEnd type="triangle" w="med" len="med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0" name="直接箭头连接符 19"/>
          <p:cNvCxnSpPr/>
          <p:nvPr/>
        </p:nvCxnSpPr>
        <p:spPr>
          <a:xfrm flipV="1">
            <a:off x="5654040" y="3379470"/>
            <a:ext cx="523240" cy="6985"/>
          </a:xfrm>
          <a:prstGeom prst="straightConnector1">
            <a:avLst/>
          </a:prstGeom>
          <a:ln w="19050">
            <a:solidFill>
              <a:schemeClr val="tx1"/>
            </a:solidFill>
            <a:headEnd type="none"/>
            <a:tailEnd type="triangle" w="med" len="med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21" name="圆角矩形 20"/>
          <p:cNvSpPr/>
          <p:nvPr/>
        </p:nvSpPr>
        <p:spPr>
          <a:xfrm>
            <a:off x="6186805" y="3088640"/>
            <a:ext cx="1556385" cy="595630"/>
          </a:xfrm>
          <a:prstGeom prst="roundRect">
            <a:avLst>
              <a:gd name="adj" fmla="val 5430"/>
            </a:avLst>
          </a:prstGeom>
          <a:solidFill>
            <a:srgbClr val="FBEDE0"/>
          </a:solidFill>
          <a:ln>
            <a:noFill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r>
              <a:rPr lang="zh-CN" altLang="en-US" sz="1400" b="1">
                <a:latin typeface="宋体" panose="02010600030101010101" pitchFamily="2" charset="-122"/>
                <a:ea typeface="宋体" panose="02010600030101010101" pitchFamily="2" charset="-122"/>
              </a:rPr>
              <a:t>分辨率缩放因子</a:t>
            </a:r>
            <a:endParaRPr lang="zh-CN" altLang="en-US" sz="1400" b="1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3" name="圆角矩形 2"/>
          <p:cNvSpPr/>
          <p:nvPr/>
        </p:nvSpPr>
        <p:spPr>
          <a:xfrm>
            <a:off x="8482330" y="1959610"/>
            <a:ext cx="1699260" cy="595630"/>
          </a:xfrm>
          <a:prstGeom prst="roundRect">
            <a:avLst>
              <a:gd name="adj" fmla="val 5430"/>
            </a:avLst>
          </a:prstGeom>
          <a:solidFill>
            <a:srgbClr val="FBEDE0"/>
          </a:solidFill>
          <a:ln>
            <a:noFill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r>
              <a:rPr lang="zh-CN" altLang="en-US" sz="1400" b="1">
                <a:latin typeface="宋体" panose="02010600030101010101" pitchFamily="2" charset="-122"/>
                <a:ea typeface="宋体" panose="02010600030101010101" pitchFamily="2" charset="-122"/>
              </a:rPr>
              <a:t>扫视窗口</a:t>
            </a:r>
            <a:endParaRPr lang="zh-CN" altLang="en-US" sz="1400" b="1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ctr"/>
            <a:r>
              <a:rPr lang="zh-CN" sz="1400" b="1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前瞻性激进降采样</a:t>
            </a:r>
            <a:endParaRPr lang="zh-CN" altLang="en-US" sz="1400" b="1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圆角矩形 4"/>
          <p:cNvSpPr/>
          <p:nvPr/>
        </p:nvSpPr>
        <p:spPr>
          <a:xfrm>
            <a:off x="8463280" y="3088640"/>
            <a:ext cx="1718310" cy="576580"/>
          </a:xfrm>
          <a:prstGeom prst="roundRect">
            <a:avLst>
              <a:gd name="adj" fmla="val 5430"/>
            </a:avLst>
          </a:prstGeom>
          <a:solidFill>
            <a:srgbClr val="FBEDE0"/>
          </a:solidFill>
          <a:ln>
            <a:noFill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r>
              <a:rPr lang="zh-CN" altLang="en-US" sz="1400" b="1">
                <a:latin typeface="宋体" panose="02010600030101010101" pitchFamily="2" charset="-122"/>
                <a:ea typeface="宋体" panose="02010600030101010101" pitchFamily="2" charset="-122"/>
              </a:rPr>
              <a:t>恢复窗口</a:t>
            </a:r>
            <a:endParaRPr lang="zh-CN" altLang="en-US" sz="1400" b="1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ctr"/>
            <a:r>
              <a:rPr lang="zh-CN" sz="1400" b="1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动态平滑恢复</a:t>
            </a:r>
            <a:endParaRPr lang="zh-CN" altLang="en-US" sz="1400" b="1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2" name="圆角矩形 11"/>
          <p:cNvSpPr/>
          <p:nvPr/>
        </p:nvSpPr>
        <p:spPr>
          <a:xfrm>
            <a:off x="8482330" y="4220210"/>
            <a:ext cx="1699260" cy="595630"/>
          </a:xfrm>
          <a:prstGeom prst="roundRect">
            <a:avLst>
              <a:gd name="adj" fmla="val 5430"/>
            </a:avLst>
          </a:prstGeom>
          <a:solidFill>
            <a:srgbClr val="FBEDE0"/>
          </a:solidFill>
          <a:ln>
            <a:noFill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r>
              <a:rPr lang="zh-CN" altLang="en-US" sz="1400" b="1">
                <a:latin typeface="宋体" panose="02010600030101010101" pitchFamily="2" charset="-122"/>
                <a:ea typeface="宋体" panose="02010600030101010101" pitchFamily="2" charset="-122"/>
              </a:rPr>
              <a:t>稳定注视</a:t>
            </a:r>
            <a:endParaRPr lang="zh-CN" altLang="en-US" sz="1400" b="1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ctr"/>
            <a:r>
              <a:rPr lang="zh-CN" altLang="en-US" sz="1400" b="1">
                <a:latin typeface="宋体" panose="02010600030101010101" pitchFamily="2" charset="-122"/>
                <a:ea typeface="宋体" panose="02010600030101010101" pitchFamily="2" charset="-122"/>
              </a:rPr>
              <a:t>全分辨率渲染</a:t>
            </a:r>
            <a:endParaRPr lang="zh-CN" altLang="en-US" sz="1400" b="1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cxnSp>
        <p:nvCxnSpPr>
          <p:cNvPr id="17" name="肘形连接符 16"/>
          <p:cNvCxnSpPr>
            <a:stCxn id="21" idx="3"/>
            <a:endCxn id="3" idx="1"/>
          </p:cNvCxnSpPr>
          <p:nvPr/>
        </p:nvCxnSpPr>
        <p:spPr>
          <a:xfrm flipV="1">
            <a:off x="7743190" y="2257425"/>
            <a:ext cx="739140" cy="1129030"/>
          </a:xfrm>
          <a:prstGeom prst="bentConnector3">
            <a:avLst>
              <a:gd name="adj1" fmla="val 50000"/>
            </a:avLst>
          </a:prstGeom>
          <a:ln w="19050">
            <a:solidFill>
              <a:schemeClr val="tx1"/>
            </a:solidFill>
            <a:headEnd type="none"/>
            <a:tailEnd type="triangle" w="med" len="med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7" name="肘形连接符 26"/>
          <p:cNvCxnSpPr/>
          <p:nvPr/>
        </p:nvCxnSpPr>
        <p:spPr>
          <a:xfrm flipV="1">
            <a:off x="7743190" y="3386455"/>
            <a:ext cx="720090" cy="9525"/>
          </a:xfrm>
          <a:prstGeom prst="bentConnector3">
            <a:avLst>
              <a:gd name="adj1" fmla="val 50000"/>
            </a:avLst>
          </a:prstGeom>
          <a:ln w="19050">
            <a:solidFill>
              <a:schemeClr val="tx1"/>
            </a:solidFill>
            <a:headEnd type="none"/>
            <a:tailEnd type="triangle" w="med" len="med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31" name="肘形连接符 30"/>
          <p:cNvCxnSpPr>
            <a:stCxn id="21" idx="3"/>
            <a:endCxn id="12" idx="1"/>
          </p:cNvCxnSpPr>
          <p:nvPr/>
        </p:nvCxnSpPr>
        <p:spPr>
          <a:xfrm>
            <a:off x="7743190" y="3386455"/>
            <a:ext cx="739140" cy="1131570"/>
          </a:xfrm>
          <a:prstGeom prst="bentConnector3">
            <a:avLst>
              <a:gd name="adj1" fmla="val 50000"/>
            </a:avLst>
          </a:prstGeom>
          <a:ln w="19050">
            <a:solidFill>
              <a:schemeClr val="tx1"/>
            </a:solidFill>
            <a:headEnd type="none"/>
            <a:tailEnd type="triangle" w="med" len="med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1665" y="1909445"/>
            <a:ext cx="11238865" cy="3181350"/>
          </a:xfrm>
          <a:prstGeom prst="rect">
            <a:avLst/>
          </a:prstGeom>
        </p:spPr>
      </p:pic>
      <p:sp>
        <p:nvSpPr>
          <p:cNvPr id="112" name="文本框 111"/>
          <p:cNvSpPr txBox="1"/>
          <p:nvPr/>
        </p:nvSpPr>
        <p:spPr>
          <a:xfrm>
            <a:off x="1423670" y="5159375"/>
            <a:ext cx="1428750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6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初始注视位置</a:t>
            </a:r>
            <a:endParaRPr lang="zh-CN" altLang="en-US" sz="1600" b="1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  <a:sym typeface="+mn-ea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4380230" y="5159375"/>
            <a:ext cx="12858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6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扫视开始</a:t>
            </a:r>
            <a:endParaRPr lang="zh-CN" altLang="en-US" sz="1600" b="1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7014210" y="5159375"/>
            <a:ext cx="12858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6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扫视结束</a:t>
            </a:r>
            <a:endParaRPr lang="zh-CN" altLang="en-US" sz="1600" b="1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  <a:sym typeface="+mn-ea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9612630" y="5159375"/>
            <a:ext cx="1501140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6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辨别条纹方向</a:t>
            </a:r>
            <a:endParaRPr lang="zh-CN" altLang="en-US" sz="1600" b="1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  <a:sym typeface="+mn-ea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8495665" y="1623060"/>
            <a:ext cx="12858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6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延迟时间</a:t>
            </a:r>
            <a:endParaRPr lang="zh-CN" altLang="en-US" sz="1600" b="1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  <a:sym typeface="+mn-ea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595245" y="179070"/>
            <a:ext cx="7001510" cy="6106795"/>
          </a:xfrm>
          <a:prstGeom prst="rect">
            <a:avLst/>
          </a:prstGeom>
        </p:spPr>
      </p:pic>
      <p:sp>
        <p:nvSpPr>
          <p:cNvPr id="112" name="文本框 111"/>
          <p:cNvSpPr txBox="1"/>
          <p:nvPr/>
        </p:nvSpPr>
        <p:spPr>
          <a:xfrm>
            <a:off x="5231765" y="6376670"/>
            <a:ext cx="213804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6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扫视后延迟时间</a:t>
            </a:r>
            <a:r>
              <a:rPr lang="zh-CN" altLang="en-US" sz="1600" b="1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  <a:sym typeface="+mn-ea"/>
              </a:rPr>
              <a:t>（</a:t>
            </a:r>
            <a:r>
              <a:rPr lang="en-US" altLang="zh-CN" sz="1600" b="1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  <a:sym typeface="+mn-ea"/>
              </a:rPr>
              <a:t>ms</a:t>
            </a:r>
            <a:r>
              <a:rPr lang="zh-CN" altLang="en-US" sz="1600" b="1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  <a:sym typeface="+mn-ea"/>
              </a:rPr>
              <a:t>）</a:t>
            </a:r>
            <a:endParaRPr lang="zh-CN" altLang="en-US" sz="1600" b="1">
              <a:solidFill>
                <a:schemeClr val="tx1"/>
              </a:solidFill>
              <a:latin typeface="Times New Roman" panose="02020603050405020304" charset="0"/>
              <a:ea typeface="宋体" panose="02010600030101010101" pitchFamily="2" charset="-122"/>
              <a:cs typeface="Times New Roman" panose="02020603050405020304" charset="0"/>
              <a:sym typeface="+mn-ea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1943735" y="1934845"/>
            <a:ext cx="359410" cy="238633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 sz="16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视觉敏感度</a:t>
            </a:r>
            <a:endParaRPr lang="zh-CN" altLang="en-US" sz="1600" b="1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  <a:sym typeface="+mn-ea"/>
            </a:endParaRPr>
          </a:p>
          <a:p>
            <a:endParaRPr lang="en-US" altLang="zh-CN" sz="1600" b="1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  <a:sym typeface="+mn-ea"/>
            </a:endParaRPr>
          </a:p>
        </p:txBody>
      </p:sp>
      <p:sp>
        <p:nvSpPr>
          <p:cNvPr id="8" name="文本框 7"/>
          <p:cNvSpPr txBox="1"/>
          <p:nvPr/>
        </p:nvSpPr>
        <p:spPr>
          <a:xfrm rot="5400000">
            <a:off x="1830070" y="3340100"/>
            <a:ext cx="655320" cy="32893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 sz="1600" b="1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  <a:sym typeface="+mn-ea"/>
              </a:rPr>
              <a:t>(cpd)</a:t>
            </a:r>
            <a:endParaRPr lang="en-US" altLang="zh-CN" sz="1600" b="1">
              <a:solidFill>
                <a:schemeClr val="tx1"/>
              </a:solidFill>
              <a:latin typeface="Times New Roman" panose="02020603050405020304" charset="0"/>
              <a:ea typeface="宋体" panose="02010600030101010101" pitchFamily="2" charset="-122"/>
              <a:cs typeface="Times New Roman" panose="02020603050405020304" charset="0"/>
              <a:sym typeface="+mn-ea"/>
            </a:endParaRPr>
          </a:p>
          <a:p>
            <a:endParaRPr lang="zh-CN" altLang="en-US" sz="1600" b="1">
              <a:solidFill>
                <a:schemeClr val="tx1"/>
              </a:solidFill>
              <a:latin typeface="Times New Roman" panose="02020603050405020304" charset="0"/>
              <a:ea typeface="宋体" panose="02010600030101010101" pitchFamily="2" charset="-122"/>
              <a:cs typeface="Times New Roman" panose="02020603050405020304" charset="0"/>
              <a:sym typeface="+mn-ea"/>
            </a:endParaRPr>
          </a:p>
          <a:p>
            <a:endParaRPr lang="en-US" altLang="zh-CN" sz="1600" b="1">
              <a:solidFill>
                <a:schemeClr val="tx1"/>
              </a:solidFill>
              <a:latin typeface="Times New Roman" panose="02020603050405020304" charset="0"/>
              <a:ea typeface="宋体" panose="02010600030101010101" pitchFamily="2" charset="-122"/>
              <a:cs typeface="Times New Roman" panose="02020603050405020304" charset="0"/>
              <a:sym typeface="+mn-ea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5300" y="512445"/>
            <a:ext cx="11435715" cy="5532755"/>
          </a:xfrm>
          <a:prstGeom prst="rect">
            <a:avLst/>
          </a:prstGeom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351405" y="762000"/>
            <a:ext cx="7670165" cy="5353685"/>
          </a:xfrm>
          <a:prstGeom prst="rect">
            <a:avLst/>
          </a:prstGeom>
        </p:spPr>
      </p:pic>
      <p:sp>
        <p:nvSpPr>
          <p:cNvPr id="112" name="文本框 111"/>
          <p:cNvSpPr txBox="1"/>
          <p:nvPr/>
        </p:nvSpPr>
        <p:spPr>
          <a:xfrm>
            <a:off x="5099685" y="6158230"/>
            <a:ext cx="213804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6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扫视后延迟时间</a:t>
            </a:r>
            <a:r>
              <a:rPr lang="zh-CN" altLang="en-US" sz="1600" b="1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  <a:sym typeface="+mn-ea"/>
              </a:rPr>
              <a:t>（</a:t>
            </a:r>
            <a:r>
              <a:rPr lang="en-US" altLang="zh-CN" sz="1600" b="1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  <a:sym typeface="+mn-ea"/>
              </a:rPr>
              <a:t>ms</a:t>
            </a:r>
            <a:r>
              <a:rPr lang="zh-CN" altLang="en-US" sz="1600" b="1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  <a:sym typeface="+mn-ea"/>
              </a:rPr>
              <a:t>）</a:t>
            </a:r>
            <a:endParaRPr lang="zh-CN" altLang="en-US" sz="1600" b="1">
              <a:solidFill>
                <a:schemeClr val="tx1"/>
              </a:solidFill>
              <a:latin typeface="Times New Roman" panose="02020603050405020304" charset="0"/>
              <a:ea typeface="宋体" panose="02010600030101010101" pitchFamily="2" charset="-122"/>
              <a:cs typeface="Times New Roman" panose="02020603050405020304" charset="0"/>
              <a:sym typeface="+mn-ea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1882775" y="1934845"/>
            <a:ext cx="359410" cy="238633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 sz="16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视觉敏感度</a:t>
            </a:r>
            <a:endParaRPr lang="zh-CN" altLang="en-US" sz="1600" b="1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  <a:sym typeface="+mn-ea"/>
            </a:endParaRPr>
          </a:p>
          <a:p>
            <a:endParaRPr lang="en-US" altLang="zh-CN" sz="1600" b="1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  <a:sym typeface="+mn-ea"/>
            </a:endParaRPr>
          </a:p>
        </p:txBody>
      </p:sp>
      <p:sp>
        <p:nvSpPr>
          <p:cNvPr id="8" name="文本框 7"/>
          <p:cNvSpPr txBox="1"/>
          <p:nvPr/>
        </p:nvSpPr>
        <p:spPr>
          <a:xfrm rot="5400000">
            <a:off x="1769110" y="3340100"/>
            <a:ext cx="655320" cy="32893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 sz="1600" b="1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  <a:sym typeface="+mn-ea"/>
              </a:rPr>
              <a:t>(cpd)</a:t>
            </a:r>
            <a:endParaRPr lang="en-US" altLang="zh-CN" sz="1600" b="1">
              <a:solidFill>
                <a:schemeClr val="tx1"/>
              </a:solidFill>
              <a:latin typeface="Times New Roman" panose="02020603050405020304" charset="0"/>
              <a:ea typeface="宋体" panose="02010600030101010101" pitchFamily="2" charset="-122"/>
              <a:cs typeface="Times New Roman" panose="02020603050405020304" charset="0"/>
              <a:sym typeface="+mn-ea"/>
            </a:endParaRPr>
          </a:p>
          <a:p>
            <a:endParaRPr lang="zh-CN" altLang="en-US" sz="1600" b="1">
              <a:solidFill>
                <a:schemeClr val="tx1"/>
              </a:solidFill>
              <a:latin typeface="Times New Roman" panose="02020603050405020304" charset="0"/>
              <a:ea typeface="宋体" panose="02010600030101010101" pitchFamily="2" charset="-122"/>
              <a:cs typeface="Times New Roman" panose="02020603050405020304" charset="0"/>
              <a:sym typeface="+mn-ea"/>
            </a:endParaRPr>
          </a:p>
          <a:p>
            <a:endParaRPr lang="en-US" altLang="zh-CN" sz="1600" b="1">
              <a:solidFill>
                <a:schemeClr val="tx1"/>
              </a:solidFill>
              <a:latin typeface="Times New Roman" panose="02020603050405020304" charset="0"/>
              <a:ea typeface="宋体" panose="02010600030101010101" pitchFamily="2" charset="-122"/>
              <a:cs typeface="Times New Roman" panose="02020603050405020304" charset="0"/>
              <a:sym typeface="+mn-ea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7" name="矩形 66"/>
          <p:cNvSpPr/>
          <p:nvPr/>
        </p:nvSpPr>
        <p:spPr>
          <a:xfrm>
            <a:off x="9248140" y="725170"/>
            <a:ext cx="2261870" cy="5957570"/>
          </a:xfrm>
          <a:prstGeom prst="rect">
            <a:avLst/>
          </a:prstGeom>
          <a:solidFill>
            <a:srgbClr val="EFEFEF"/>
          </a:solidFill>
          <a:ln>
            <a:solidFill>
              <a:schemeClr val="tx1"/>
            </a:solidFill>
            <a:prstDash val="sysDash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5" name="矩形 14"/>
          <p:cNvSpPr/>
          <p:nvPr/>
        </p:nvSpPr>
        <p:spPr>
          <a:xfrm>
            <a:off x="261620" y="688975"/>
            <a:ext cx="2261870" cy="5957570"/>
          </a:xfrm>
          <a:prstGeom prst="rect">
            <a:avLst/>
          </a:prstGeom>
          <a:solidFill>
            <a:srgbClr val="EFEFEF"/>
          </a:solidFill>
          <a:ln>
            <a:solidFill>
              <a:schemeClr val="tx1"/>
            </a:solidFill>
            <a:prstDash val="sysDash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0" name="矩形 19"/>
          <p:cNvSpPr/>
          <p:nvPr/>
        </p:nvSpPr>
        <p:spPr>
          <a:xfrm>
            <a:off x="420370" y="1105535"/>
            <a:ext cx="1863725" cy="459740"/>
          </a:xfrm>
          <a:prstGeom prst="rect">
            <a:avLst/>
          </a:prstGeom>
          <a:solidFill>
            <a:srgbClr val="BFD8EC"/>
          </a:solidFill>
          <a:ln>
            <a:solidFill>
              <a:srgbClr val="BDD6EC"/>
            </a:solidFill>
          </a:ln>
        </p:spPr>
        <p:style>
          <a:lnRef idx="0">
            <a:srgbClr val="FFFFFF"/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l"/>
            <a:r>
              <a:rPr lang="en-US" altLang="zh-CN" sz="14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  </a:t>
            </a:r>
            <a:r>
              <a:rPr lang="zh-CN" altLang="en-US" sz="14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眼动追踪数据</a:t>
            </a:r>
            <a:endParaRPr lang="zh-CN" altLang="en-US" sz="1400" b="1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420370" y="1565275"/>
            <a:ext cx="1863725" cy="586105"/>
          </a:xfrm>
          <a:prstGeom prst="rect">
            <a:avLst/>
          </a:prstGeom>
          <a:solidFill>
            <a:srgbClr val="FFFFFF"/>
          </a:solidFill>
          <a:ln>
            <a:solidFill>
              <a:srgbClr val="BDD6EC"/>
            </a:solidFill>
          </a:ln>
        </p:spPr>
        <p:style>
          <a:lnRef idx="0">
            <a:srgbClr val="FFFFFF"/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l"/>
            <a:r>
              <a:rPr lang="en-US" altLang="zh-CN" sz="13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·</a:t>
            </a:r>
            <a:r>
              <a:rPr lang="zh-CN" altLang="en-US" sz="13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注视点坐标</a:t>
            </a:r>
            <a:endParaRPr lang="zh-CN" altLang="en-US" sz="1300" b="1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l"/>
            <a:r>
              <a:rPr lang="en-US" altLang="zh-CN" sz="13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·</a:t>
            </a:r>
            <a:r>
              <a:rPr lang="zh-CN" altLang="en-US" sz="13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眼球角速度</a:t>
            </a:r>
            <a:endParaRPr lang="zh-CN" altLang="en-US" sz="1300" b="1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420370" y="2225040"/>
            <a:ext cx="1863725" cy="459740"/>
          </a:xfrm>
          <a:prstGeom prst="rect">
            <a:avLst/>
          </a:prstGeom>
          <a:solidFill>
            <a:srgbClr val="BFD8EC"/>
          </a:solidFill>
          <a:ln>
            <a:solidFill>
              <a:srgbClr val="BDD6EC"/>
            </a:solidFill>
          </a:ln>
        </p:spPr>
        <p:style>
          <a:lnRef idx="0">
            <a:srgbClr val="FFFFFF"/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4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  </a:t>
            </a:r>
            <a:r>
              <a:rPr lang="zh-CN" altLang="en-US" sz="14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时序时间标记</a:t>
            </a:r>
            <a:endParaRPr lang="zh-CN" altLang="en-US" sz="1400" b="1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0" name="矩形 9"/>
          <p:cNvSpPr/>
          <p:nvPr/>
        </p:nvSpPr>
        <p:spPr>
          <a:xfrm>
            <a:off x="420370" y="2684780"/>
            <a:ext cx="1863725" cy="710565"/>
          </a:xfrm>
          <a:prstGeom prst="rect">
            <a:avLst/>
          </a:prstGeom>
          <a:solidFill>
            <a:srgbClr val="FFFFFF"/>
          </a:solidFill>
          <a:ln>
            <a:solidFill>
              <a:srgbClr val="BDD6EC"/>
            </a:solidFill>
          </a:ln>
        </p:spPr>
        <p:style>
          <a:lnRef idx="0">
            <a:srgbClr val="FFFFFF"/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l"/>
            <a:r>
              <a:rPr lang="en-US" altLang="zh-CN" sz="13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·</a:t>
            </a:r>
            <a:r>
              <a:rPr lang="zh-CN" altLang="en-US" sz="13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扫视开始时间</a:t>
            </a:r>
            <a:endParaRPr lang="zh-CN" altLang="en-US" sz="1300" b="1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l"/>
            <a:r>
              <a:rPr lang="en-US" altLang="zh-CN" sz="13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·</a:t>
            </a:r>
            <a:r>
              <a:rPr lang="zh-CN" altLang="en-US" sz="13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扫视结束时间</a:t>
            </a:r>
            <a:endParaRPr lang="zh-CN" altLang="en-US" sz="1300" b="1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  <a:sym typeface="+mn-ea"/>
            </a:endParaRPr>
          </a:p>
          <a:p>
            <a:pPr algn="l"/>
            <a:r>
              <a:rPr lang="en-US" altLang="zh-CN" sz="13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·</a:t>
            </a:r>
            <a:r>
              <a:rPr lang="zh-CN" altLang="en-US" sz="13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窗口状态</a:t>
            </a:r>
            <a:endParaRPr lang="zh-CN" altLang="en-US" sz="1300" b="1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  <a:sym typeface="+mn-ea"/>
            </a:endParaRPr>
          </a:p>
        </p:txBody>
      </p:sp>
      <p:sp>
        <p:nvSpPr>
          <p:cNvPr id="13" name="矩形 12"/>
          <p:cNvSpPr/>
          <p:nvPr/>
        </p:nvSpPr>
        <p:spPr>
          <a:xfrm>
            <a:off x="420370" y="3469640"/>
            <a:ext cx="1863725" cy="459740"/>
          </a:xfrm>
          <a:prstGeom prst="rect">
            <a:avLst/>
          </a:prstGeom>
          <a:solidFill>
            <a:srgbClr val="BFD8EC"/>
          </a:solidFill>
          <a:ln>
            <a:solidFill>
              <a:srgbClr val="BDD6EC"/>
            </a:solidFill>
          </a:ln>
        </p:spPr>
        <p:style>
          <a:lnRef idx="0">
            <a:srgbClr val="FFFFFF"/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4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  </a:t>
            </a:r>
            <a:r>
              <a:rPr lang="zh-CN" altLang="en-US" sz="14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场景内容参数</a:t>
            </a:r>
            <a:endParaRPr lang="zh-CN" altLang="en-US" sz="1400" b="1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4" name="矩形 13"/>
          <p:cNvSpPr/>
          <p:nvPr/>
        </p:nvSpPr>
        <p:spPr>
          <a:xfrm>
            <a:off x="420370" y="3929380"/>
            <a:ext cx="1863725" cy="1371600"/>
          </a:xfrm>
          <a:prstGeom prst="rect">
            <a:avLst/>
          </a:prstGeom>
          <a:solidFill>
            <a:srgbClr val="FFFFFF"/>
          </a:solidFill>
          <a:ln>
            <a:solidFill>
              <a:srgbClr val="BDD6EC"/>
            </a:solidFill>
          </a:ln>
        </p:spPr>
        <p:style>
          <a:lnRef idx="0">
            <a:srgbClr val="FFFFFF"/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l"/>
            <a:r>
              <a:rPr lang="en-US" altLang="zh-CN" sz="13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·</a:t>
            </a:r>
            <a:r>
              <a:rPr lang="zh-CN" altLang="en-US" sz="13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平均亮度</a:t>
            </a:r>
            <a:endParaRPr lang="zh-CN" altLang="en-US" sz="1300" b="1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l"/>
            <a:r>
              <a:rPr lang="en-US" altLang="zh-CN" sz="13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·</a:t>
            </a:r>
            <a:r>
              <a:rPr lang="zh-CN" altLang="en-US" sz="13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空间频率</a:t>
            </a:r>
            <a:endParaRPr lang="zh-CN" altLang="en-US" sz="1300" b="1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  <a:sym typeface="+mn-ea"/>
            </a:endParaRPr>
          </a:p>
          <a:p>
            <a:pPr algn="l"/>
            <a:r>
              <a:rPr lang="en-US" altLang="zh-CN" sz="13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·</a:t>
            </a:r>
            <a:r>
              <a:rPr lang="zh-CN" altLang="en-US" sz="13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时间频率</a:t>
            </a:r>
            <a:endParaRPr lang="zh-CN" altLang="en-US" sz="1300" b="1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  <a:sym typeface="+mn-ea"/>
            </a:endParaRPr>
          </a:p>
          <a:p>
            <a:pPr algn="l"/>
            <a:r>
              <a:rPr lang="en-US" altLang="zh-CN" sz="13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·</a:t>
            </a:r>
            <a:r>
              <a:rPr lang="zh-CN" altLang="en-US" sz="13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色彩</a:t>
            </a:r>
            <a:endParaRPr lang="zh-CN" altLang="en-US" sz="1300" b="1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  <a:sym typeface="+mn-ea"/>
            </a:endParaRPr>
          </a:p>
          <a:p>
            <a:pPr algn="l"/>
            <a:r>
              <a:rPr lang="en-US" altLang="zh-CN" sz="13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·</a:t>
            </a:r>
            <a:r>
              <a:rPr lang="zh-CN" altLang="en-US" sz="13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偏心度</a:t>
            </a:r>
            <a:endParaRPr lang="zh-CN" altLang="en-US" sz="1300" b="1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  <a:sym typeface="+mn-ea"/>
            </a:endParaRPr>
          </a:p>
          <a:p>
            <a:pPr algn="l"/>
            <a:r>
              <a:rPr lang="en-US" altLang="zh-CN" sz="13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·</a:t>
            </a:r>
            <a:r>
              <a:rPr lang="zh-CN" altLang="en-US" sz="13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刺激面积</a:t>
            </a:r>
            <a:endParaRPr lang="zh-CN" altLang="en-US" sz="1300" b="1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  <a:sym typeface="+mn-ea"/>
            </a:endParaRPr>
          </a:p>
        </p:txBody>
      </p:sp>
      <p:sp>
        <p:nvSpPr>
          <p:cNvPr id="16" name="矩形 15"/>
          <p:cNvSpPr/>
          <p:nvPr/>
        </p:nvSpPr>
        <p:spPr>
          <a:xfrm>
            <a:off x="420370" y="5387340"/>
            <a:ext cx="1863725" cy="459740"/>
          </a:xfrm>
          <a:prstGeom prst="rect">
            <a:avLst/>
          </a:prstGeom>
          <a:solidFill>
            <a:srgbClr val="BFD8EC"/>
          </a:solidFill>
          <a:ln>
            <a:solidFill>
              <a:srgbClr val="BDD6EC"/>
            </a:solidFill>
          </a:ln>
        </p:spPr>
        <p:style>
          <a:lnRef idx="0">
            <a:srgbClr val="FFFFFF"/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4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  </a:t>
            </a:r>
            <a:r>
              <a:rPr lang="zh-CN" altLang="en-US" sz="14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设备物理参数</a:t>
            </a:r>
            <a:endParaRPr lang="zh-CN" altLang="en-US" sz="1400" b="1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7" name="矩形 16"/>
          <p:cNvSpPr/>
          <p:nvPr/>
        </p:nvSpPr>
        <p:spPr>
          <a:xfrm>
            <a:off x="420370" y="5847080"/>
            <a:ext cx="1863725" cy="586105"/>
          </a:xfrm>
          <a:prstGeom prst="rect">
            <a:avLst/>
          </a:prstGeom>
          <a:solidFill>
            <a:srgbClr val="FFFFFF"/>
          </a:solidFill>
          <a:ln>
            <a:solidFill>
              <a:srgbClr val="BDD6EC"/>
            </a:solidFill>
          </a:ln>
        </p:spPr>
        <p:style>
          <a:lnRef idx="0">
            <a:srgbClr val="FFFFFF"/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l"/>
            <a:r>
              <a:rPr lang="en-US" altLang="zh-CN" sz="13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·</a:t>
            </a:r>
            <a:r>
              <a:rPr lang="zh-CN" altLang="en-US" sz="13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像素密度</a:t>
            </a:r>
            <a:endParaRPr lang="zh-CN" altLang="en-US" sz="1300" b="1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l"/>
            <a:r>
              <a:rPr lang="en-US" altLang="zh-CN" sz="13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·</a:t>
            </a:r>
            <a:r>
              <a:rPr lang="zh-CN" altLang="en-US" sz="13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奈奎斯特频率</a:t>
            </a:r>
            <a:endParaRPr lang="zh-CN" altLang="en-US" sz="1300" b="1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  <a:sym typeface="+mn-ea"/>
            </a:endParaRPr>
          </a:p>
        </p:txBody>
      </p:sp>
      <p:sp>
        <p:nvSpPr>
          <p:cNvPr id="19" name="文本框 18"/>
          <p:cNvSpPr txBox="1"/>
          <p:nvPr/>
        </p:nvSpPr>
        <p:spPr>
          <a:xfrm>
            <a:off x="943610" y="725170"/>
            <a:ext cx="1104900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4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输入模块</a:t>
            </a:r>
            <a:endParaRPr lang="zh-CN" altLang="en-US" sz="1400" b="1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21" name="矩形 20"/>
          <p:cNvSpPr/>
          <p:nvPr/>
        </p:nvSpPr>
        <p:spPr>
          <a:xfrm>
            <a:off x="2991485" y="688975"/>
            <a:ext cx="5680075" cy="5957570"/>
          </a:xfrm>
          <a:prstGeom prst="rect">
            <a:avLst/>
          </a:prstGeom>
          <a:solidFill>
            <a:srgbClr val="EFEFEF"/>
          </a:solidFill>
          <a:ln>
            <a:solidFill>
              <a:schemeClr val="tx1"/>
            </a:solidFill>
            <a:prstDash val="sysDash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7" name="矩形 26"/>
          <p:cNvSpPr/>
          <p:nvPr/>
        </p:nvSpPr>
        <p:spPr>
          <a:xfrm>
            <a:off x="3134995" y="1105535"/>
            <a:ext cx="5410835" cy="459740"/>
          </a:xfrm>
          <a:prstGeom prst="rect">
            <a:avLst/>
          </a:prstGeom>
          <a:solidFill>
            <a:srgbClr val="D9E7F1"/>
          </a:solidFill>
          <a:ln>
            <a:solidFill>
              <a:srgbClr val="BDD6EC"/>
            </a:solidFill>
          </a:ln>
        </p:spPr>
        <p:style>
          <a:lnRef idx="0">
            <a:srgbClr val="FFFFFF"/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sz="1400" b="1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28" name="矩形 27"/>
          <p:cNvSpPr/>
          <p:nvPr/>
        </p:nvSpPr>
        <p:spPr>
          <a:xfrm>
            <a:off x="3134995" y="1946275"/>
            <a:ext cx="5412105" cy="459740"/>
          </a:xfrm>
          <a:prstGeom prst="rect">
            <a:avLst/>
          </a:prstGeom>
          <a:solidFill>
            <a:srgbClr val="D9E7F1"/>
          </a:solidFill>
          <a:ln>
            <a:solidFill>
              <a:srgbClr val="BDD6EC"/>
            </a:solidFill>
          </a:ln>
        </p:spPr>
        <p:style>
          <a:lnRef idx="0">
            <a:srgbClr val="FFFFFF"/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sz="1400" b="1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29" name="矩形 28"/>
          <p:cNvSpPr/>
          <p:nvPr/>
        </p:nvSpPr>
        <p:spPr>
          <a:xfrm>
            <a:off x="3134995" y="2693035"/>
            <a:ext cx="5412105" cy="459740"/>
          </a:xfrm>
          <a:prstGeom prst="rect">
            <a:avLst/>
          </a:prstGeom>
          <a:solidFill>
            <a:srgbClr val="D9E7F1"/>
          </a:solidFill>
          <a:ln>
            <a:solidFill>
              <a:srgbClr val="BDD6EC"/>
            </a:solidFill>
          </a:ln>
        </p:spPr>
        <p:style>
          <a:lnRef idx="0">
            <a:srgbClr val="FFFFFF"/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sz="1400" b="1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30" name="矩形 29"/>
          <p:cNvSpPr/>
          <p:nvPr/>
        </p:nvSpPr>
        <p:spPr>
          <a:xfrm>
            <a:off x="3134995" y="3366770"/>
            <a:ext cx="5411470" cy="1288415"/>
          </a:xfrm>
          <a:prstGeom prst="rect">
            <a:avLst/>
          </a:prstGeom>
          <a:solidFill>
            <a:srgbClr val="A6CB86"/>
          </a:solidFill>
          <a:ln>
            <a:solidFill>
              <a:srgbClr val="BDD6EC"/>
            </a:solidFill>
          </a:ln>
        </p:spPr>
        <p:style>
          <a:lnRef idx="0">
            <a:srgbClr val="FFFFFF"/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sz="1400" b="1">
              <a:solidFill>
                <a:srgbClr val="FEF1C6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31" name="矩形 30"/>
          <p:cNvSpPr/>
          <p:nvPr/>
        </p:nvSpPr>
        <p:spPr>
          <a:xfrm>
            <a:off x="3215005" y="3785235"/>
            <a:ext cx="1638935" cy="683260"/>
          </a:xfrm>
          <a:prstGeom prst="rect">
            <a:avLst/>
          </a:prstGeom>
          <a:solidFill>
            <a:srgbClr val="DFEDD3"/>
          </a:solidFill>
          <a:ln>
            <a:solidFill>
              <a:srgbClr val="BDD6EC"/>
            </a:solidFill>
          </a:ln>
        </p:spPr>
        <p:style>
          <a:lnRef idx="0">
            <a:srgbClr val="FFFFFF"/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sz="13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扫视窗口策略</a:t>
            </a:r>
            <a:endParaRPr lang="zh-CN" sz="1300" b="1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ctr"/>
            <a:r>
              <a:rPr lang="zh-CN" sz="13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前瞻性激进降采样</a:t>
            </a:r>
            <a:endParaRPr lang="zh-CN" sz="1300" b="1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  <a:sym typeface="+mn-ea"/>
            </a:endParaRPr>
          </a:p>
        </p:txBody>
      </p:sp>
      <p:sp>
        <p:nvSpPr>
          <p:cNvPr id="32" name="矩形 31"/>
          <p:cNvSpPr/>
          <p:nvPr/>
        </p:nvSpPr>
        <p:spPr>
          <a:xfrm>
            <a:off x="4980940" y="3785235"/>
            <a:ext cx="1638935" cy="683260"/>
          </a:xfrm>
          <a:prstGeom prst="rect">
            <a:avLst/>
          </a:prstGeom>
          <a:solidFill>
            <a:srgbClr val="DFEDD3"/>
          </a:solidFill>
          <a:ln>
            <a:solidFill>
              <a:srgbClr val="BDD6EC"/>
            </a:solidFill>
          </a:ln>
        </p:spPr>
        <p:style>
          <a:lnRef idx="0">
            <a:srgbClr val="FFFFFF"/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sz="13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恢复窗口策略</a:t>
            </a:r>
            <a:endParaRPr lang="zh-CN" sz="1300" b="1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ctr"/>
            <a:r>
              <a:rPr lang="zh-CN" sz="13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动态平滑恢复</a:t>
            </a:r>
            <a:endParaRPr lang="zh-CN" sz="1300" b="1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  <a:sym typeface="+mn-ea"/>
            </a:endParaRPr>
          </a:p>
        </p:txBody>
      </p:sp>
      <p:sp>
        <p:nvSpPr>
          <p:cNvPr id="33" name="矩形 32"/>
          <p:cNvSpPr/>
          <p:nvPr/>
        </p:nvSpPr>
        <p:spPr>
          <a:xfrm>
            <a:off x="6779260" y="3785235"/>
            <a:ext cx="1638935" cy="683260"/>
          </a:xfrm>
          <a:prstGeom prst="rect">
            <a:avLst/>
          </a:prstGeom>
          <a:solidFill>
            <a:srgbClr val="DFEDD3"/>
          </a:solidFill>
          <a:ln>
            <a:solidFill>
              <a:srgbClr val="BDD6EC"/>
            </a:solidFill>
          </a:ln>
        </p:spPr>
        <p:style>
          <a:lnRef idx="0">
            <a:srgbClr val="FFFFFF"/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sz="13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稳定注视期策略</a:t>
            </a:r>
            <a:endParaRPr lang="zh-CN" sz="1300" b="1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ctr"/>
            <a:r>
              <a:rPr lang="zh-CN" sz="13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全分辨率渲染</a:t>
            </a:r>
            <a:endParaRPr lang="zh-CN" sz="1300" b="1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  <a:sym typeface="+mn-ea"/>
            </a:endParaRPr>
          </a:p>
        </p:txBody>
      </p:sp>
      <p:sp>
        <p:nvSpPr>
          <p:cNvPr id="35" name="矩形 34"/>
          <p:cNvSpPr/>
          <p:nvPr/>
        </p:nvSpPr>
        <p:spPr>
          <a:xfrm>
            <a:off x="3134995" y="4869180"/>
            <a:ext cx="5412105" cy="998855"/>
          </a:xfrm>
          <a:prstGeom prst="rect">
            <a:avLst/>
          </a:prstGeom>
          <a:solidFill>
            <a:srgbClr val="D9E7F1"/>
          </a:solidFill>
          <a:ln>
            <a:solidFill>
              <a:srgbClr val="BDD6EC"/>
            </a:solidFill>
          </a:ln>
        </p:spPr>
        <p:style>
          <a:lnRef idx="0">
            <a:srgbClr val="FFFFFF"/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sz="1400" b="1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36" name="文本框 35"/>
          <p:cNvSpPr txBox="1"/>
          <p:nvPr/>
        </p:nvSpPr>
        <p:spPr>
          <a:xfrm>
            <a:off x="3127375" y="1182370"/>
            <a:ext cx="5419725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400" b="1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状态上下文构建模块</a:t>
            </a:r>
            <a:r>
              <a:rPr lang="en-US" altLang="zh-CN" sz="1400" b="1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  </a:t>
            </a:r>
            <a:endParaRPr lang="en-US" altLang="zh-CN" sz="1400" b="1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  <a:sym typeface="+mn-ea"/>
            </a:endParaRPr>
          </a:p>
        </p:txBody>
      </p:sp>
      <p:sp>
        <p:nvSpPr>
          <p:cNvPr id="38" name="文本框 37"/>
          <p:cNvSpPr txBox="1"/>
          <p:nvPr/>
        </p:nvSpPr>
        <p:spPr>
          <a:xfrm>
            <a:off x="3127375" y="2014220"/>
            <a:ext cx="5290820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400" b="1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感知临界分辨率求解模块</a:t>
            </a:r>
            <a:r>
              <a:rPr lang="en-US" altLang="zh-CN" sz="1400" b="1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 </a:t>
            </a:r>
            <a:endParaRPr lang="zh-CN" altLang="en-US" sz="1400" b="1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  <a:sym typeface="+mn-ea"/>
            </a:endParaRPr>
          </a:p>
        </p:txBody>
      </p:sp>
      <p:sp>
        <p:nvSpPr>
          <p:cNvPr id="43" name="文本框 42"/>
          <p:cNvSpPr txBox="1"/>
          <p:nvPr/>
        </p:nvSpPr>
        <p:spPr>
          <a:xfrm>
            <a:off x="3134995" y="2787015"/>
            <a:ext cx="5411470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400" b="1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分辨率缩因子计算模块</a:t>
            </a:r>
            <a:endParaRPr lang="zh-CN" altLang="en-US" sz="1400" b="1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44" name="文本框 43"/>
          <p:cNvSpPr txBox="1"/>
          <p:nvPr/>
        </p:nvSpPr>
        <p:spPr>
          <a:xfrm>
            <a:off x="3134995" y="3413125"/>
            <a:ext cx="5412740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400" b="1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时空分辨率调度器</a:t>
            </a:r>
            <a:endParaRPr lang="zh-CN" altLang="en-US" sz="1400" b="1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  <a:sym typeface="+mn-ea"/>
            </a:endParaRPr>
          </a:p>
        </p:txBody>
      </p:sp>
      <p:sp>
        <p:nvSpPr>
          <p:cNvPr id="48" name="文本框 47"/>
          <p:cNvSpPr txBox="1"/>
          <p:nvPr/>
        </p:nvSpPr>
        <p:spPr>
          <a:xfrm>
            <a:off x="3134995" y="5133340"/>
            <a:ext cx="157607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l"/>
            <a:r>
              <a:rPr lang="zh-CN" altLang="en-US" sz="1400" b="1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动态多分辨率场</a:t>
            </a:r>
            <a:endParaRPr lang="zh-CN" altLang="en-US" sz="1400" b="1">
              <a:latin typeface="宋体" panose="02010600030101010101" pitchFamily="2" charset="-122"/>
              <a:ea typeface="宋体" panose="02010600030101010101" pitchFamily="2" charset="-122"/>
              <a:sym typeface="+mn-ea"/>
            </a:endParaRPr>
          </a:p>
          <a:p>
            <a:pPr algn="l"/>
            <a:r>
              <a:rPr lang="en-US" altLang="zh-CN" sz="1400" b="1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  </a:t>
            </a:r>
            <a:r>
              <a:rPr lang="zh-CN" altLang="en-US" sz="1400" b="1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构建模块</a:t>
            </a:r>
            <a:endParaRPr lang="zh-CN" altLang="en-US" sz="1400" b="1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  <a:sym typeface="+mn-ea"/>
            </a:endParaRPr>
          </a:p>
        </p:txBody>
      </p:sp>
      <p:pic>
        <p:nvPicPr>
          <p:cNvPr id="52" name="图片 5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68695" y="4859655"/>
            <a:ext cx="1289685" cy="1000125"/>
          </a:xfrm>
          <a:prstGeom prst="rect">
            <a:avLst/>
          </a:prstGeom>
        </p:spPr>
      </p:pic>
      <p:sp>
        <p:nvSpPr>
          <p:cNvPr id="53" name="文本框 52"/>
          <p:cNvSpPr txBox="1"/>
          <p:nvPr/>
        </p:nvSpPr>
        <p:spPr>
          <a:xfrm>
            <a:off x="5389245" y="5222240"/>
            <a:ext cx="1448435" cy="30670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l"/>
            <a:r>
              <a:rPr lang="zh-CN" altLang="en-US" sz="1400" b="1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注视点</a:t>
            </a:r>
            <a:endParaRPr lang="zh-CN" altLang="en-US" sz="1400" b="1">
              <a:latin typeface="宋体" panose="02010600030101010101" pitchFamily="2" charset="-122"/>
              <a:ea typeface="宋体" panose="02010600030101010101" pitchFamily="2" charset="-122"/>
              <a:sym typeface="+mn-ea"/>
            </a:endParaRPr>
          </a:p>
        </p:txBody>
      </p:sp>
      <p:sp>
        <p:nvSpPr>
          <p:cNvPr id="61" name="文本框 60"/>
          <p:cNvSpPr txBox="1"/>
          <p:nvPr/>
        </p:nvSpPr>
        <p:spPr>
          <a:xfrm>
            <a:off x="7306945" y="4909185"/>
            <a:ext cx="1448435" cy="30670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l"/>
            <a:r>
              <a:rPr lang="zh-CN" altLang="en-US" sz="1400" b="1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偏心度</a:t>
            </a:r>
            <a:endParaRPr lang="zh-CN" altLang="en-US" sz="1400" b="1">
              <a:latin typeface="宋体" panose="02010600030101010101" pitchFamily="2" charset="-122"/>
              <a:ea typeface="宋体" panose="02010600030101010101" pitchFamily="2" charset="-122"/>
              <a:sym typeface="+mn-ea"/>
            </a:endParaRPr>
          </a:p>
        </p:txBody>
      </p:sp>
      <p:sp>
        <p:nvSpPr>
          <p:cNvPr id="62" name="文本框 61"/>
          <p:cNvSpPr txBox="1"/>
          <p:nvPr/>
        </p:nvSpPr>
        <p:spPr>
          <a:xfrm>
            <a:off x="7335520" y="5541010"/>
            <a:ext cx="1448435" cy="30670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l"/>
            <a:r>
              <a:rPr lang="zh-CN" altLang="en-US" sz="1400" b="1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偏心度</a:t>
            </a:r>
            <a:endParaRPr lang="zh-CN" altLang="en-US" sz="1400" b="1">
              <a:latin typeface="宋体" panose="02010600030101010101" pitchFamily="2" charset="-122"/>
              <a:ea typeface="宋体" panose="02010600030101010101" pitchFamily="2" charset="-122"/>
              <a:sym typeface="+mn-ea"/>
            </a:endParaRPr>
          </a:p>
        </p:txBody>
      </p:sp>
      <p:sp>
        <p:nvSpPr>
          <p:cNvPr id="63" name="矩形 62"/>
          <p:cNvSpPr/>
          <p:nvPr/>
        </p:nvSpPr>
        <p:spPr>
          <a:xfrm>
            <a:off x="3127375" y="6115685"/>
            <a:ext cx="5412105" cy="459740"/>
          </a:xfrm>
          <a:prstGeom prst="rect">
            <a:avLst/>
          </a:prstGeom>
          <a:solidFill>
            <a:srgbClr val="D9E7F1"/>
          </a:solidFill>
          <a:ln>
            <a:solidFill>
              <a:srgbClr val="BDD6EC"/>
            </a:solidFill>
          </a:ln>
        </p:spPr>
        <p:style>
          <a:lnRef idx="0">
            <a:srgbClr val="FFFFFF"/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sz="1400" b="1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66" name="文本框 65"/>
          <p:cNvSpPr txBox="1"/>
          <p:nvPr/>
        </p:nvSpPr>
        <p:spPr>
          <a:xfrm>
            <a:off x="3127375" y="6181090"/>
            <a:ext cx="5411470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4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渲染管线集成模块</a:t>
            </a:r>
            <a:endParaRPr lang="zh-CN" altLang="en-US" sz="1400" b="1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76" name="文本框 75"/>
          <p:cNvSpPr txBox="1"/>
          <p:nvPr/>
        </p:nvSpPr>
        <p:spPr>
          <a:xfrm>
            <a:off x="9930130" y="761365"/>
            <a:ext cx="1579880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4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输出模块</a:t>
            </a:r>
            <a:endParaRPr lang="zh-CN" altLang="en-US" sz="1400" b="1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77" name="文本框 76"/>
          <p:cNvSpPr txBox="1"/>
          <p:nvPr/>
        </p:nvSpPr>
        <p:spPr>
          <a:xfrm>
            <a:off x="5257800" y="761365"/>
            <a:ext cx="1579880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4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核心处理流水线</a:t>
            </a:r>
            <a:endParaRPr lang="zh-CN" altLang="en-US" sz="1400" b="1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79" name="矩形 78"/>
          <p:cNvSpPr/>
          <p:nvPr/>
        </p:nvSpPr>
        <p:spPr>
          <a:xfrm>
            <a:off x="9328785" y="1105535"/>
            <a:ext cx="2082165" cy="459740"/>
          </a:xfrm>
          <a:prstGeom prst="rect">
            <a:avLst/>
          </a:prstGeom>
          <a:solidFill>
            <a:srgbClr val="D7D9D8"/>
          </a:solidFill>
          <a:ln>
            <a:solidFill>
              <a:srgbClr val="BDD6EC"/>
            </a:solidFill>
          </a:ln>
        </p:spPr>
        <p:style>
          <a:lnRef idx="0">
            <a:srgbClr val="FFFFFF"/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4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多分辨率渲染结果</a:t>
            </a:r>
            <a:endParaRPr lang="zh-CN" altLang="en-US" sz="1400" b="1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80" name="矩形 79"/>
          <p:cNvSpPr/>
          <p:nvPr/>
        </p:nvSpPr>
        <p:spPr>
          <a:xfrm>
            <a:off x="9328785" y="1565275"/>
            <a:ext cx="2082165" cy="3023870"/>
          </a:xfrm>
          <a:prstGeom prst="rect">
            <a:avLst/>
          </a:prstGeom>
          <a:solidFill>
            <a:srgbClr val="FFFFFF"/>
          </a:solidFill>
          <a:ln>
            <a:solidFill>
              <a:srgbClr val="BDD6EC"/>
            </a:solidFill>
          </a:ln>
        </p:spPr>
        <p:style>
          <a:lnRef idx="0">
            <a:srgbClr val="FFFFFF"/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l"/>
            <a:endParaRPr lang="zh-CN" altLang="en-US" sz="1300" b="1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pic>
        <p:nvPicPr>
          <p:cNvPr id="78" name="图片 7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47835" y="1572895"/>
            <a:ext cx="2053590" cy="2953385"/>
          </a:xfrm>
          <a:prstGeom prst="rect">
            <a:avLst/>
          </a:prstGeom>
        </p:spPr>
      </p:pic>
      <p:sp>
        <p:nvSpPr>
          <p:cNvPr id="81" name="矩形 80"/>
          <p:cNvSpPr/>
          <p:nvPr/>
        </p:nvSpPr>
        <p:spPr>
          <a:xfrm>
            <a:off x="9338310" y="4917440"/>
            <a:ext cx="2072640" cy="459740"/>
          </a:xfrm>
          <a:prstGeom prst="rect">
            <a:avLst/>
          </a:prstGeom>
          <a:solidFill>
            <a:srgbClr val="D7D9D8"/>
          </a:solidFill>
          <a:ln>
            <a:solidFill>
              <a:srgbClr val="BDD6EC"/>
            </a:solidFill>
          </a:ln>
        </p:spPr>
        <p:style>
          <a:lnRef idx="0">
            <a:srgbClr val="FFFFFF"/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4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性能指标</a:t>
            </a:r>
            <a:endParaRPr lang="zh-CN" altLang="en-US" sz="1400" b="1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82" name="矩形 81"/>
          <p:cNvSpPr/>
          <p:nvPr/>
        </p:nvSpPr>
        <p:spPr>
          <a:xfrm>
            <a:off x="9338310" y="5377180"/>
            <a:ext cx="2072640" cy="1195705"/>
          </a:xfrm>
          <a:prstGeom prst="rect">
            <a:avLst/>
          </a:prstGeom>
          <a:solidFill>
            <a:srgbClr val="FFFFFF"/>
          </a:solidFill>
          <a:ln>
            <a:solidFill>
              <a:srgbClr val="BDD6EC"/>
            </a:solidFill>
          </a:ln>
        </p:spPr>
        <p:style>
          <a:lnRef idx="0">
            <a:srgbClr val="FFFFFF"/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sz="1300" b="1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  <a:sym typeface="+mn-ea"/>
            </a:endParaRPr>
          </a:p>
        </p:txBody>
      </p:sp>
      <p:sp>
        <p:nvSpPr>
          <p:cNvPr id="83" name="文本框 82"/>
          <p:cNvSpPr txBox="1"/>
          <p:nvPr/>
        </p:nvSpPr>
        <p:spPr>
          <a:xfrm>
            <a:off x="9939655" y="5434330"/>
            <a:ext cx="892810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l"/>
            <a:r>
              <a:rPr lang="zh-CN" altLang="en-US" sz="14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高帧率</a:t>
            </a:r>
            <a:endParaRPr lang="zh-CN" altLang="en-US" sz="1400" b="1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  <a:sym typeface="+mn-ea"/>
            </a:endParaRPr>
          </a:p>
        </p:txBody>
      </p:sp>
      <p:sp>
        <p:nvSpPr>
          <p:cNvPr id="85" name="文本框 84"/>
          <p:cNvSpPr txBox="1"/>
          <p:nvPr/>
        </p:nvSpPr>
        <p:spPr>
          <a:xfrm>
            <a:off x="9942830" y="5828030"/>
            <a:ext cx="892810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l"/>
            <a:r>
              <a:rPr lang="zh-CN" altLang="en-US" sz="14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低延迟</a:t>
            </a:r>
            <a:endParaRPr lang="zh-CN" altLang="en-US" sz="1400" b="1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  <a:sym typeface="+mn-ea"/>
            </a:endParaRPr>
          </a:p>
        </p:txBody>
      </p:sp>
      <p:sp>
        <p:nvSpPr>
          <p:cNvPr id="86" name="文本框 85"/>
          <p:cNvSpPr txBox="1"/>
          <p:nvPr/>
        </p:nvSpPr>
        <p:spPr>
          <a:xfrm>
            <a:off x="9952355" y="6201410"/>
            <a:ext cx="1254125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l"/>
            <a:r>
              <a:rPr lang="en-US" altLang="zh-CN" sz="14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GPU</a:t>
            </a:r>
            <a:r>
              <a:rPr lang="zh-CN" altLang="en-US" sz="14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负载降低</a:t>
            </a:r>
            <a:endParaRPr lang="zh-CN" altLang="en-US" sz="1400" b="1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  <a:sym typeface="+mn-ea"/>
            </a:endParaRPr>
          </a:p>
        </p:txBody>
      </p:sp>
      <p:pic>
        <p:nvPicPr>
          <p:cNvPr id="87" name="图片 8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20555" y="5404485"/>
            <a:ext cx="409575" cy="337820"/>
          </a:xfrm>
          <a:prstGeom prst="rect">
            <a:avLst/>
          </a:prstGeom>
        </p:spPr>
      </p:pic>
      <p:pic>
        <p:nvPicPr>
          <p:cNvPr id="88" name="图片 8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62465" y="5780405"/>
            <a:ext cx="352425" cy="382905"/>
          </a:xfrm>
          <a:prstGeom prst="rect">
            <a:avLst/>
          </a:prstGeom>
        </p:spPr>
      </p:pic>
      <p:pic>
        <p:nvPicPr>
          <p:cNvPr id="89" name="图片 88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501505" y="6125210"/>
            <a:ext cx="428625" cy="405130"/>
          </a:xfrm>
          <a:prstGeom prst="rect">
            <a:avLst/>
          </a:prstGeom>
        </p:spPr>
      </p:pic>
      <p:pic>
        <p:nvPicPr>
          <p:cNvPr id="90" name="图片 89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0695" y="1187450"/>
            <a:ext cx="522605" cy="292100"/>
          </a:xfrm>
          <a:prstGeom prst="rect">
            <a:avLst/>
          </a:prstGeom>
        </p:spPr>
      </p:pic>
      <p:pic>
        <p:nvPicPr>
          <p:cNvPr id="91" name="图片 90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31495" y="2273935"/>
            <a:ext cx="471805" cy="371475"/>
          </a:xfrm>
          <a:prstGeom prst="rect">
            <a:avLst/>
          </a:prstGeom>
        </p:spPr>
      </p:pic>
      <p:pic>
        <p:nvPicPr>
          <p:cNvPr id="92" name="图片 91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54355" y="3492500"/>
            <a:ext cx="465455" cy="427355"/>
          </a:xfrm>
          <a:prstGeom prst="rect">
            <a:avLst/>
          </a:prstGeom>
        </p:spPr>
      </p:pic>
      <p:pic>
        <p:nvPicPr>
          <p:cNvPr id="94" name="图片 93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18795" y="5431790"/>
            <a:ext cx="476250" cy="349250"/>
          </a:xfrm>
          <a:prstGeom prst="rect">
            <a:avLst/>
          </a:prstGeom>
        </p:spPr>
      </p:pic>
      <p:cxnSp>
        <p:nvCxnSpPr>
          <p:cNvPr id="96" name="肘形连接符 95"/>
          <p:cNvCxnSpPr>
            <a:stCxn id="16" idx="3"/>
            <a:endCxn id="36" idx="1"/>
          </p:cNvCxnSpPr>
          <p:nvPr/>
        </p:nvCxnSpPr>
        <p:spPr>
          <a:xfrm flipV="1">
            <a:off x="2284095" y="1336040"/>
            <a:ext cx="843280" cy="4281170"/>
          </a:xfrm>
          <a:prstGeom prst="bentConnector3">
            <a:avLst>
              <a:gd name="adj1" fmla="val 50000"/>
            </a:avLst>
          </a:prstGeom>
          <a:ln w="190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97" name="肘形连接符 96"/>
          <p:cNvCxnSpPr>
            <a:stCxn id="13" idx="3"/>
            <a:endCxn id="36" idx="1"/>
          </p:cNvCxnSpPr>
          <p:nvPr/>
        </p:nvCxnSpPr>
        <p:spPr>
          <a:xfrm flipV="1">
            <a:off x="2284095" y="1336040"/>
            <a:ext cx="843280" cy="2363470"/>
          </a:xfrm>
          <a:prstGeom prst="bentConnector3">
            <a:avLst>
              <a:gd name="adj1" fmla="val 50000"/>
            </a:avLst>
          </a:prstGeom>
          <a:ln w="190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98" name="肘形连接符 97"/>
          <p:cNvCxnSpPr>
            <a:stCxn id="5" idx="3"/>
            <a:endCxn id="36" idx="1"/>
          </p:cNvCxnSpPr>
          <p:nvPr/>
        </p:nvCxnSpPr>
        <p:spPr>
          <a:xfrm flipV="1">
            <a:off x="2284095" y="1336040"/>
            <a:ext cx="843280" cy="1118870"/>
          </a:xfrm>
          <a:prstGeom prst="bentConnector3">
            <a:avLst>
              <a:gd name="adj1" fmla="val 50000"/>
            </a:avLst>
          </a:prstGeom>
          <a:ln w="190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99" name="肘形连接符 98"/>
          <p:cNvCxnSpPr>
            <a:stCxn id="20" idx="3"/>
            <a:endCxn id="36" idx="1"/>
          </p:cNvCxnSpPr>
          <p:nvPr/>
        </p:nvCxnSpPr>
        <p:spPr>
          <a:xfrm>
            <a:off x="2284095" y="1335405"/>
            <a:ext cx="843280" cy="3175"/>
          </a:xfrm>
          <a:prstGeom prst="bentConnector3">
            <a:avLst>
              <a:gd name="adj1" fmla="val 50000"/>
            </a:avLst>
          </a:prstGeom>
          <a:ln w="19050">
            <a:solidFill>
              <a:schemeClr val="tx1"/>
            </a:solidFill>
            <a:headEnd type="none"/>
            <a:tailEnd type="triangle" w="med" len="med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00" name="直接箭头连接符 99"/>
          <p:cNvCxnSpPr>
            <a:stCxn id="27" idx="2"/>
            <a:endCxn id="28" idx="0"/>
          </p:cNvCxnSpPr>
          <p:nvPr/>
        </p:nvCxnSpPr>
        <p:spPr>
          <a:xfrm>
            <a:off x="5840730" y="1565275"/>
            <a:ext cx="635" cy="381000"/>
          </a:xfrm>
          <a:prstGeom prst="straightConnector1">
            <a:avLst/>
          </a:prstGeom>
          <a:ln w="19050">
            <a:solidFill>
              <a:schemeClr val="tx1"/>
            </a:solidFill>
            <a:headEnd type="none"/>
            <a:tailEnd type="triangle" w="med" len="med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03" name="直接箭头连接符 102"/>
          <p:cNvCxnSpPr>
            <a:stCxn id="28" idx="2"/>
            <a:endCxn id="29" idx="0"/>
          </p:cNvCxnSpPr>
          <p:nvPr/>
        </p:nvCxnSpPr>
        <p:spPr>
          <a:xfrm>
            <a:off x="5841365" y="2406015"/>
            <a:ext cx="0" cy="287020"/>
          </a:xfrm>
          <a:prstGeom prst="straightConnector1">
            <a:avLst/>
          </a:prstGeom>
          <a:ln w="19050">
            <a:solidFill>
              <a:schemeClr val="tx1"/>
            </a:solidFill>
            <a:headEnd type="none"/>
            <a:tailEnd type="triangle" w="med" len="med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05" name="直接箭头连接符 104"/>
          <p:cNvCxnSpPr>
            <a:stCxn id="29" idx="2"/>
          </p:cNvCxnSpPr>
          <p:nvPr/>
        </p:nvCxnSpPr>
        <p:spPr>
          <a:xfrm>
            <a:off x="5841365" y="3152775"/>
            <a:ext cx="1905" cy="213995"/>
          </a:xfrm>
          <a:prstGeom prst="straightConnector1">
            <a:avLst/>
          </a:prstGeom>
          <a:ln w="19050">
            <a:solidFill>
              <a:schemeClr val="tx1"/>
            </a:solidFill>
            <a:headEnd type="none"/>
            <a:tailEnd type="triangle" w="med" len="med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06" name="直接箭头连接符 105"/>
          <p:cNvCxnSpPr>
            <a:stCxn id="30" idx="2"/>
            <a:endCxn id="35" idx="0"/>
          </p:cNvCxnSpPr>
          <p:nvPr/>
        </p:nvCxnSpPr>
        <p:spPr>
          <a:xfrm>
            <a:off x="5840730" y="4655185"/>
            <a:ext cx="635" cy="213995"/>
          </a:xfrm>
          <a:prstGeom prst="straightConnector1">
            <a:avLst/>
          </a:prstGeom>
          <a:ln w="19050">
            <a:solidFill>
              <a:schemeClr val="tx1"/>
            </a:solidFill>
            <a:headEnd type="none"/>
            <a:tailEnd type="triangle" w="med" len="med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07" name="直接箭头连接符 106"/>
          <p:cNvCxnSpPr>
            <a:stCxn id="35" idx="2"/>
            <a:endCxn id="63" idx="0"/>
          </p:cNvCxnSpPr>
          <p:nvPr/>
        </p:nvCxnSpPr>
        <p:spPr>
          <a:xfrm flipH="1">
            <a:off x="5833745" y="5868035"/>
            <a:ext cx="7620" cy="247650"/>
          </a:xfrm>
          <a:prstGeom prst="straightConnector1">
            <a:avLst/>
          </a:prstGeom>
          <a:ln w="19050">
            <a:solidFill>
              <a:schemeClr val="tx1"/>
            </a:solidFill>
            <a:headEnd type="none"/>
            <a:tailEnd type="triangle" w="med" len="med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08" name="肘形连接符 107"/>
          <p:cNvCxnSpPr>
            <a:stCxn id="66" idx="3"/>
            <a:endCxn id="79" idx="1"/>
          </p:cNvCxnSpPr>
          <p:nvPr/>
        </p:nvCxnSpPr>
        <p:spPr>
          <a:xfrm flipV="1">
            <a:off x="8538845" y="1335405"/>
            <a:ext cx="789940" cy="4999355"/>
          </a:xfrm>
          <a:prstGeom prst="bentConnector3">
            <a:avLst>
              <a:gd name="adj1" fmla="val 50000"/>
            </a:avLst>
          </a:prstGeom>
          <a:ln w="19050">
            <a:solidFill>
              <a:schemeClr val="tx1"/>
            </a:solidFill>
            <a:headEnd type="none"/>
            <a:tailEnd type="triangle" w="med" len="med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09" name="直接箭头连接符 108"/>
          <p:cNvCxnSpPr>
            <a:stCxn id="80" idx="2"/>
            <a:endCxn id="81" idx="0"/>
          </p:cNvCxnSpPr>
          <p:nvPr/>
        </p:nvCxnSpPr>
        <p:spPr>
          <a:xfrm>
            <a:off x="10370185" y="4589145"/>
            <a:ext cx="4445" cy="328295"/>
          </a:xfrm>
          <a:prstGeom prst="straightConnector1">
            <a:avLst/>
          </a:prstGeom>
          <a:ln w="19050">
            <a:solidFill>
              <a:schemeClr val="tx1"/>
            </a:solidFill>
            <a:headEnd type="none"/>
            <a:tailEnd type="triangle" w="med" len="med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21" name="矩形 120"/>
          <p:cNvSpPr/>
          <p:nvPr/>
        </p:nvSpPr>
        <p:spPr>
          <a:xfrm>
            <a:off x="102870" y="187325"/>
            <a:ext cx="11663045" cy="6585585"/>
          </a:xfrm>
          <a:prstGeom prst="rect">
            <a:avLst/>
          </a:prstGeom>
          <a:noFill/>
          <a:ln>
            <a:solidFill>
              <a:schemeClr val="tx1"/>
            </a:solidFill>
            <a:prstDash val="sysDash"/>
          </a:ln>
          <a:extLst>
            <a:ext uri="{909E8E84-426E-40DD-AFC4-6F175D3DCCD1}">
              <a14:hiddenFill xmlns:a14="http://schemas.microsoft.com/office/drawing/2010/main">
                <a:solidFill>
                  <a:srgbClr val="EFEFEF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22" name="文本框 121"/>
          <p:cNvSpPr txBox="1"/>
          <p:nvPr/>
        </p:nvSpPr>
        <p:spPr>
          <a:xfrm>
            <a:off x="4257040" y="259715"/>
            <a:ext cx="3713480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6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感知自适应动态分辨率渲染算法框架</a:t>
            </a:r>
            <a:endParaRPr lang="zh-CN" altLang="en-US" sz="1600" b="1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25" y="982345"/>
            <a:ext cx="12192000" cy="2303780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25" y="3383280"/>
            <a:ext cx="12192000" cy="2306955"/>
          </a:xfrm>
          <a:prstGeom prst="rect">
            <a:avLst/>
          </a:prstGeom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1257300"/>
            <a:ext cx="12192000" cy="2380615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590290"/>
            <a:ext cx="12192000" cy="2355215"/>
          </a:xfrm>
          <a:prstGeom prst="rect">
            <a:avLst/>
          </a:prstGeom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1056005"/>
            <a:ext cx="12192000" cy="2345690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402965"/>
            <a:ext cx="12192000" cy="2375535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1156</Words>
  <Application>WPS 演示</Application>
  <PresentationFormat>宽屏</PresentationFormat>
  <Paragraphs>329</Paragraphs>
  <Slides>37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37</vt:i4>
      </vt:variant>
    </vt:vector>
  </HeadingPairs>
  <TitlesOfParts>
    <vt:vector size="45" baseType="lpstr">
      <vt:lpstr>Arial</vt:lpstr>
      <vt:lpstr>宋体</vt:lpstr>
      <vt:lpstr>Wingdings</vt:lpstr>
      <vt:lpstr>Times New Roman</vt:lpstr>
      <vt:lpstr>Calibri</vt:lpstr>
      <vt:lpstr>微软雅黑</vt:lpstr>
      <vt:lpstr>Arial Unicode MS</vt:lpstr>
      <vt:lpstr>WPS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山长水远.</cp:lastModifiedBy>
  <cp:revision>54</cp:revision>
  <dcterms:created xsi:type="dcterms:W3CDTF">2023-08-09T12:44:00Z</dcterms:created>
  <dcterms:modified xsi:type="dcterms:W3CDTF">2026-01-24T17:54:30Z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2052-12.1.0.24657</vt:lpwstr>
  </property>
  <property fmtid="{D5CDD505-2E9C-101B-9397-08002B2CF9AE}" pid="3" name="ICV">
    <vt:lpwstr>6D5DE47C43AC41F3AD6C106FDC6AD6EA_13</vt:lpwstr>
  </property>
</Properties>
</file>