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799445" cy="683958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33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82"/>
        <p:guide pos="33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606" y="1143000"/>
            <a:ext cx="487278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000" y="1119417"/>
            <a:ext cx="8100000" cy="2381333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000" y="3592584"/>
            <a:ext cx="8100000" cy="1651416"/>
          </a:xfrm>
        </p:spPr>
        <p:txBody>
          <a:bodyPr/>
          <a:lstStyle>
            <a:lvl1pPr marL="0" indent="0" algn="ctr">
              <a:buNone/>
              <a:defRPr sz="2395"/>
            </a:lvl1pPr>
            <a:lvl2pPr marL="455930" indent="0" algn="ctr">
              <a:buNone/>
              <a:defRPr sz="1995"/>
            </a:lvl2pPr>
            <a:lvl3pPr marL="911860" indent="0" algn="ctr">
              <a:buNone/>
              <a:defRPr sz="1795"/>
            </a:lvl3pPr>
            <a:lvl4pPr marL="1367790" indent="0" algn="ctr">
              <a:buNone/>
              <a:defRPr sz="1595"/>
            </a:lvl4pPr>
            <a:lvl5pPr marL="1823720" indent="0" algn="ctr">
              <a:buNone/>
              <a:defRPr sz="1595"/>
            </a:lvl5pPr>
            <a:lvl6pPr marL="2280285" indent="0" algn="ctr">
              <a:buNone/>
              <a:defRPr sz="1595"/>
            </a:lvl6pPr>
            <a:lvl7pPr marL="2736215" indent="0" algn="ctr">
              <a:buNone/>
              <a:defRPr sz="1595"/>
            </a:lvl7pPr>
            <a:lvl8pPr marL="3192145" indent="0" algn="ctr">
              <a:buNone/>
              <a:defRPr sz="1595"/>
            </a:lvl8pPr>
            <a:lvl9pPr marL="3648075" indent="0" algn="ctr">
              <a:buNone/>
              <a:defRPr sz="159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875" y="1705251"/>
            <a:ext cx="9314999" cy="2845250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875" y="4577417"/>
            <a:ext cx="9314999" cy="1496250"/>
          </a:xfrm>
        </p:spPr>
        <p:txBody>
          <a:bodyPr/>
          <a:lstStyle>
            <a:lvl1pPr marL="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1pPr>
            <a:lvl2pPr marL="455930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186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779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4pPr>
            <a:lvl5pPr marL="182372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6pPr>
            <a:lvl7pPr marL="273621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7pPr>
            <a:lvl8pPr marL="319214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8pPr>
            <a:lvl9pPr marL="3648075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500" y="1820833"/>
            <a:ext cx="4590000" cy="43399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500" y="1820833"/>
            <a:ext cx="4590000" cy="43399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364167"/>
            <a:ext cx="9314999" cy="132208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907" y="1676751"/>
            <a:ext cx="4568906" cy="821750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5930" indent="0">
              <a:buNone/>
              <a:defRPr sz="1995" b="1"/>
            </a:lvl2pPr>
            <a:lvl3pPr marL="911860" indent="0">
              <a:buNone/>
              <a:defRPr sz="1795" b="1"/>
            </a:lvl3pPr>
            <a:lvl4pPr marL="1367790" indent="0">
              <a:buNone/>
              <a:defRPr sz="1595" b="1"/>
            </a:lvl4pPr>
            <a:lvl5pPr marL="1823720" indent="0">
              <a:buNone/>
              <a:defRPr sz="1595" b="1"/>
            </a:lvl5pPr>
            <a:lvl6pPr marL="2280285" indent="0">
              <a:buNone/>
              <a:defRPr sz="1595" b="1"/>
            </a:lvl6pPr>
            <a:lvl7pPr marL="2736215" indent="0">
              <a:buNone/>
              <a:defRPr sz="1595" b="1"/>
            </a:lvl7pPr>
            <a:lvl8pPr marL="3192145" indent="0">
              <a:buNone/>
              <a:defRPr sz="1595" b="1"/>
            </a:lvl8pPr>
            <a:lvl9pPr marL="3648075" indent="0">
              <a:buNone/>
              <a:defRPr sz="15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907" y="2498500"/>
            <a:ext cx="4568906" cy="36749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500" y="1676751"/>
            <a:ext cx="4591406" cy="821750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5930" indent="0">
              <a:buNone/>
              <a:defRPr sz="1995" b="1"/>
            </a:lvl2pPr>
            <a:lvl3pPr marL="911860" indent="0">
              <a:buNone/>
              <a:defRPr sz="1795" b="1"/>
            </a:lvl3pPr>
            <a:lvl4pPr marL="1367790" indent="0">
              <a:buNone/>
              <a:defRPr sz="1595" b="1"/>
            </a:lvl4pPr>
            <a:lvl5pPr marL="1823720" indent="0">
              <a:buNone/>
              <a:defRPr sz="1595" b="1"/>
            </a:lvl5pPr>
            <a:lvl6pPr marL="2280285" indent="0">
              <a:buNone/>
              <a:defRPr sz="1595" b="1"/>
            </a:lvl6pPr>
            <a:lvl7pPr marL="2736215" indent="0">
              <a:buNone/>
              <a:defRPr sz="1595" b="1"/>
            </a:lvl7pPr>
            <a:lvl8pPr marL="3192145" indent="0">
              <a:buNone/>
              <a:defRPr sz="1595" b="1"/>
            </a:lvl8pPr>
            <a:lvl9pPr marL="3648075" indent="0">
              <a:buNone/>
              <a:defRPr sz="15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500" y="2498500"/>
            <a:ext cx="4591406" cy="36749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456000"/>
            <a:ext cx="3483281" cy="1596000"/>
          </a:xfrm>
        </p:spPr>
        <p:txBody>
          <a:bodyPr anchor="b"/>
          <a:lstStyle>
            <a:lvl1pPr>
              <a:defRPr sz="31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406" y="984833"/>
            <a:ext cx="5467500" cy="4860834"/>
          </a:xfrm>
        </p:spPr>
        <p:txBody>
          <a:bodyPr/>
          <a:lstStyle>
            <a:lvl1pPr>
              <a:defRPr sz="3190"/>
            </a:lvl1pPr>
            <a:lvl2pPr>
              <a:defRPr sz="2795"/>
            </a:lvl2pPr>
            <a:lvl3pPr>
              <a:defRPr sz="2395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2052000"/>
            <a:ext cx="3483281" cy="3801584"/>
          </a:xfrm>
        </p:spPr>
        <p:txBody>
          <a:bodyPr/>
          <a:lstStyle>
            <a:lvl1pPr marL="0" indent="0">
              <a:buNone/>
              <a:defRPr sz="1595"/>
            </a:lvl1pPr>
            <a:lvl2pPr marL="455930" indent="0">
              <a:buNone/>
              <a:defRPr sz="1395"/>
            </a:lvl2pPr>
            <a:lvl3pPr marL="911860" indent="0">
              <a:buNone/>
              <a:defRPr sz="1195"/>
            </a:lvl3pPr>
            <a:lvl4pPr marL="1367790" indent="0">
              <a:buNone/>
              <a:defRPr sz="995"/>
            </a:lvl4pPr>
            <a:lvl5pPr marL="1823720" indent="0">
              <a:buNone/>
              <a:defRPr sz="995"/>
            </a:lvl5pPr>
            <a:lvl6pPr marL="2280285" indent="0">
              <a:buNone/>
              <a:defRPr sz="995"/>
            </a:lvl6pPr>
            <a:lvl7pPr marL="2736215" indent="0">
              <a:buNone/>
              <a:defRPr sz="995"/>
            </a:lvl7pPr>
            <a:lvl8pPr marL="3192145" indent="0">
              <a:buNone/>
              <a:defRPr sz="995"/>
            </a:lvl8pPr>
            <a:lvl9pPr marL="3648075" indent="0">
              <a:buNone/>
              <a:defRPr sz="9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456000"/>
            <a:ext cx="3483281" cy="1596000"/>
          </a:xfrm>
        </p:spPr>
        <p:txBody>
          <a:bodyPr anchor="b"/>
          <a:lstStyle>
            <a:lvl1pPr>
              <a:defRPr sz="31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406" y="984833"/>
            <a:ext cx="5467500" cy="4860834"/>
          </a:xfrm>
        </p:spPr>
        <p:txBody>
          <a:bodyPr/>
          <a:lstStyle>
            <a:lvl1pPr marL="0" indent="0">
              <a:buNone/>
              <a:defRPr sz="3190"/>
            </a:lvl1pPr>
            <a:lvl2pPr marL="455930" indent="0">
              <a:buNone/>
              <a:defRPr sz="2795"/>
            </a:lvl2pPr>
            <a:lvl3pPr marL="911860" indent="0">
              <a:buNone/>
              <a:defRPr sz="2395"/>
            </a:lvl3pPr>
            <a:lvl4pPr marL="1367790" indent="0">
              <a:buNone/>
              <a:defRPr sz="1995"/>
            </a:lvl4pPr>
            <a:lvl5pPr marL="1823720" indent="0">
              <a:buNone/>
              <a:defRPr sz="1995"/>
            </a:lvl5pPr>
            <a:lvl6pPr marL="2280285" indent="0">
              <a:buNone/>
              <a:defRPr sz="1995"/>
            </a:lvl6pPr>
            <a:lvl7pPr marL="2736215" indent="0">
              <a:buNone/>
              <a:defRPr sz="1995"/>
            </a:lvl7pPr>
            <a:lvl8pPr marL="3192145" indent="0">
              <a:buNone/>
              <a:defRPr sz="1995"/>
            </a:lvl8pPr>
            <a:lvl9pPr marL="3648075" indent="0">
              <a:buNone/>
              <a:defRPr sz="199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2052000"/>
            <a:ext cx="3483281" cy="3801584"/>
          </a:xfrm>
        </p:spPr>
        <p:txBody>
          <a:bodyPr/>
          <a:lstStyle>
            <a:lvl1pPr marL="0" indent="0">
              <a:buNone/>
              <a:defRPr sz="1595"/>
            </a:lvl1pPr>
            <a:lvl2pPr marL="455930" indent="0">
              <a:buNone/>
              <a:defRPr sz="1395"/>
            </a:lvl2pPr>
            <a:lvl3pPr marL="911860" indent="0">
              <a:buNone/>
              <a:defRPr sz="1195"/>
            </a:lvl3pPr>
            <a:lvl4pPr marL="1367790" indent="0">
              <a:buNone/>
              <a:defRPr sz="995"/>
            </a:lvl4pPr>
            <a:lvl5pPr marL="1823720" indent="0">
              <a:buNone/>
              <a:defRPr sz="995"/>
            </a:lvl5pPr>
            <a:lvl6pPr marL="2280285" indent="0">
              <a:buNone/>
              <a:defRPr sz="995"/>
            </a:lvl6pPr>
            <a:lvl7pPr marL="2736215" indent="0">
              <a:buNone/>
              <a:defRPr sz="995"/>
            </a:lvl7pPr>
            <a:lvl8pPr marL="3192145" indent="0">
              <a:buNone/>
              <a:defRPr sz="995"/>
            </a:lvl8pPr>
            <a:lvl9pPr marL="3648075" indent="0">
              <a:buNone/>
              <a:defRPr sz="9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8750" y="364167"/>
            <a:ext cx="2328750" cy="579658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500" y="364167"/>
            <a:ext cx="6851250" cy="579658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500" y="364167"/>
            <a:ext cx="9314999" cy="1322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500" y="1820833"/>
            <a:ext cx="9314999" cy="4339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500" y="6339667"/>
            <a:ext cx="2430000" cy="36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500" y="6339667"/>
            <a:ext cx="3645000" cy="36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500" y="6339667"/>
            <a:ext cx="2430000" cy="36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ct val="200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39825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5755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1685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110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040" indent="-227965" algn="l" defTabSz="91186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79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72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07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png"/><Relationship Id="rId7" Type="http://schemas.openxmlformats.org/officeDocument/2006/relationships/image" Target="../media/image13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13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13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astleCSF(Ach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05" y="103505"/>
            <a:ext cx="10234930" cy="6632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70" y="178435"/>
            <a:ext cx="2141855" cy="400050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4714240" y="108585"/>
            <a:ext cx="383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castleCSF-TS(Ach)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695" y="5238750"/>
            <a:ext cx="1171575" cy="400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030" y="5629910"/>
            <a:ext cx="1127125" cy="3003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310" y="6128385"/>
            <a:ext cx="2141855" cy="4000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75" y="5993765"/>
            <a:ext cx="587375" cy="316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906145" y="2606040"/>
            <a:ext cx="3659505" cy="8756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40000">
            <a:off x="570865" y="5120640"/>
            <a:ext cx="3659505" cy="9531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94840" y="5255895"/>
            <a:ext cx="591185" cy="16573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457315" y="6128385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[cpd]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3780" y="5716270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[Hz]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 rot="16200000">
            <a:off x="-520065" y="2555875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对比敏感度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060315" y="601218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315" y="6012180"/>
                <a:ext cx="692150" cy="4629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3606165" y="599376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165" y="5993765"/>
                <a:ext cx="692150" cy="4629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2277110" y="534797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110" y="5347970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033780" y="463804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80" y="4638040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630555" y="225806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" y="2258060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9435465" y="523875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465" y="5238750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7166610" y="562546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610" y="5625465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630555" y="327596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" y="3275965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630555" y="124015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" y="1240155"/>
                <a:ext cx="692150" cy="4629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630555" y="416941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" y="4169410"/>
                <a:ext cx="727075" cy="4629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9" name="组合 48"/>
          <p:cNvGrpSpPr/>
          <p:nvPr/>
        </p:nvGrpSpPr>
        <p:grpSpPr>
          <a:xfrm>
            <a:off x="102830" y="67200"/>
            <a:ext cx="10629265" cy="6632575"/>
            <a:chOff x="1258" y="0"/>
            <a:chExt cx="16739" cy="1044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57" y="118"/>
              <a:ext cx="3373" cy="630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8419" y="120"/>
              <a:ext cx="604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castleCSF-TS(Ach)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152" y="8087"/>
              <a:ext cx="1845" cy="63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373" y="8703"/>
              <a:ext cx="1775" cy="47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01" y="9488"/>
              <a:ext cx="3373" cy="63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60" y="9276"/>
              <a:ext cx="925" cy="49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-432" y="3941"/>
              <a:ext cx="5763" cy="1379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740000">
              <a:off x="1894" y="7901"/>
              <a:ext cx="5763" cy="15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3979" y="8114"/>
              <a:ext cx="931" cy="261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2623" y="8839"/>
              <a:ext cx="29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时间频率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[Hz]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rot="16200000">
              <a:off x="582" y="3862"/>
              <a:ext cx="29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对比敏感度</a:t>
              </a:r>
              <a:endPara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964" y="9305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" y="9305"/>
                  <a:ext cx="1090" cy="72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6674" y="9276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4" y="9276"/>
                  <a:ext cx="1090" cy="72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4581" y="8259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" y="8259"/>
                  <a:ext cx="1090" cy="72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2623" y="7141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" y="7141"/>
                  <a:ext cx="1090" cy="72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2296" y="3393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6" y="3393"/>
                  <a:ext cx="1090" cy="72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15854" y="8087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54" y="8087"/>
                  <a:ext cx="1090" cy="72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2281" y="8696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81" y="8696"/>
                  <a:ext cx="1090" cy="72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2296" y="4996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6" y="4996"/>
                  <a:ext cx="1090" cy="72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2296" y="1790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6" y="1790"/>
                  <a:ext cx="1090" cy="72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组合 4"/>
            <p:cNvGrpSpPr/>
            <p:nvPr/>
          </p:nvGrpSpPr>
          <p:grpSpPr>
            <a:xfrm>
              <a:off x="1258" y="0"/>
              <a:ext cx="16739" cy="10445"/>
              <a:chOff x="1258" y="0"/>
              <a:chExt cx="16739" cy="10445"/>
            </a:xfrm>
          </p:grpSpPr>
          <p:pic>
            <p:nvPicPr>
              <p:cNvPr id="17" name="图片 16" descr="castleCSF(Ach)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8" y="0"/>
                <a:ext cx="16118" cy="10445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857" y="118"/>
                <a:ext cx="3373" cy="630"/>
              </a:xfrm>
              <a:prstGeom prst="rect">
                <a:avLst/>
              </a:prstGeom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8419" y="120"/>
                <a:ext cx="604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castleCSF-TS(RG)</a:t>
                </a:r>
                <a:endPara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152" y="8087"/>
                <a:ext cx="1845" cy="630"/>
              </a:xfrm>
              <a:prstGeom prst="rect">
                <a:avLst/>
              </a:prstGeom>
            </p:spPr>
          </p:pic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73" y="8703"/>
                <a:ext cx="1775" cy="473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901" y="9488"/>
                <a:ext cx="3373" cy="630"/>
              </a:xfrm>
              <a:prstGeom prst="rect">
                <a:avLst/>
              </a:prstGeom>
            </p:spPr>
          </p:pic>
          <p:pic>
            <p:nvPicPr>
              <p:cNvPr id="33" name="图片 3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260" y="9276"/>
                <a:ext cx="925" cy="499"/>
              </a:xfrm>
              <a:prstGeom prst="rect">
                <a:avLst/>
              </a:prstGeom>
            </p:spPr>
          </p:pic>
          <p:pic>
            <p:nvPicPr>
              <p:cNvPr id="34" name="图片 3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 rot="5400000">
                <a:off x="-432" y="3941"/>
                <a:ext cx="5763" cy="1379"/>
              </a:xfrm>
              <a:prstGeom prst="rect">
                <a:avLst/>
              </a:prstGeom>
            </p:spPr>
          </p:pic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 rot="1740000">
                <a:off x="1894" y="7901"/>
                <a:ext cx="5763" cy="1501"/>
              </a:xfrm>
              <a:prstGeom prst="rect">
                <a:avLst/>
              </a:prstGeom>
            </p:spPr>
          </p:pic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 rot="5400000">
                <a:off x="3979" y="8114"/>
                <a:ext cx="931" cy="2610"/>
              </a:xfrm>
              <a:prstGeom prst="rect">
                <a:avLst/>
              </a:prstGeom>
            </p:spPr>
          </p:pic>
          <p:sp>
            <p:nvSpPr>
              <p:cNvPr id="37" name="文本框 36"/>
              <p:cNvSpPr txBox="1"/>
              <p:nvPr/>
            </p:nvSpPr>
            <p:spPr>
              <a:xfrm>
                <a:off x="11164" y="9488"/>
                <a:ext cx="4987" cy="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空间频率</a:t>
                </a:r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[cpd]</a:t>
                </a:r>
                <a:endPara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623" y="8839"/>
                <a:ext cx="2984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时间频率</a:t>
                </a:r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[Hz]</a:t>
                </a:r>
                <a:endPara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 rot="16200000">
                <a:off x="428" y="3862"/>
                <a:ext cx="2984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对比敏感度</a:t>
                </a:r>
                <a:endParaRPr lang="zh-CN" altLang="en-US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文本框 39"/>
                  <p:cNvSpPr txBox="1"/>
                  <p:nvPr/>
                </p:nvSpPr>
                <p:spPr>
                  <a:xfrm>
                    <a:off x="8964" y="9305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𝟎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0" name="文本框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64" y="9305"/>
                    <a:ext cx="1090" cy="729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文本框 40"/>
                  <p:cNvSpPr txBox="1"/>
                  <p:nvPr/>
                </p:nvSpPr>
                <p:spPr>
                  <a:xfrm>
                    <a:off x="6674" y="9276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𝟎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1" name="文本框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4" y="9276"/>
                    <a:ext cx="1090" cy="729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文本框 41"/>
                  <p:cNvSpPr txBox="1"/>
                  <p:nvPr/>
                </p:nvSpPr>
                <p:spPr>
                  <a:xfrm>
                    <a:off x="4581" y="8259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2" name="文本框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1" y="8259"/>
                    <a:ext cx="1090" cy="729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文本框 42"/>
                  <p:cNvSpPr txBox="1"/>
                  <p:nvPr/>
                </p:nvSpPr>
                <p:spPr>
                  <a:xfrm>
                    <a:off x="2623" y="7141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3" name="文本框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23" y="7141"/>
                    <a:ext cx="1090" cy="729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" name="文本框 43"/>
                  <p:cNvSpPr txBox="1"/>
                  <p:nvPr/>
                </p:nvSpPr>
                <p:spPr>
                  <a:xfrm>
                    <a:off x="2142" y="3393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4" name="文本框 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2" y="3393"/>
                    <a:ext cx="1090" cy="729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" name="文本框 44"/>
                  <p:cNvSpPr txBox="1"/>
                  <p:nvPr/>
                </p:nvSpPr>
                <p:spPr>
                  <a:xfrm>
                    <a:off x="15854" y="8087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5" name="文本框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54" y="8087"/>
                    <a:ext cx="1090" cy="729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文本框 45"/>
                  <p:cNvSpPr txBox="1"/>
                  <p:nvPr/>
                </p:nvSpPr>
                <p:spPr>
                  <a:xfrm>
                    <a:off x="12281" y="8696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6" name="文本框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81" y="8696"/>
                    <a:ext cx="1090" cy="729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文本框 46"/>
                  <p:cNvSpPr txBox="1"/>
                  <p:nvPr/>
                </p:nvSpPr>
                <p:spPr>
                  <a:xfrm>
                    <a:off x="2142" y="4996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7" name="文本框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2" y="4996"/>
                    <a:ext cx="1090" cy="729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文本框 47"/>
                  <p:cNvSpPr txBox="1"/>
                  <p:nvPr/>
                </p:nvSpPr>
                <p:spPr>
                  <a:xfrm>
                    <a:off x="2142" y="1790"/>
                    <a:ext cx="1090" cy="72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𝟑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400" b="1"/>
                  </a:p>
                </p:txBody>
              </p:sp>
            </mc:Choice>
            <mc:Fallback>
              <p:sp>
                <p:nvSpPr>
                  <p:cNvPr id="48" name="文本框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2" y="1790"/>
                    <a:ext cx="1090" cy="729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630555" y="397129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" y="3971290"/>
                <a:ext cx="727075" cy="4629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19670" y="51325"/>
            <a:ext cx="10591800" cy="6632575"/>
            <a:chOff x="1317" y="37"/>
            <a:chExt cx="16680" cy="10445"/>
          </a:xfrm>
        </p:grpSpPr>
        <p:pic>
          <p:nvPicPr>
            <p:cNvPr id="2" name="图片 1" descr="castleCSF(YV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17" y="37"/>
              <a:ext cx="16118" cy="1044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3" y="188"/>
              <a:ext cx="3373" cy="630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7660" y="118"/>
              <a:ext cx="604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castleCSF-TS(YV)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52" y="8087"/>
              <a:ext cx="1845" cy="63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73" y="8703"/>
              <a:ext cx="1775" cy="47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" y="9488"/>
              <a:ext cx="3373" cy="63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60" y="9276"/>
              <a:ext cx="925" cy="49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-432" y="3941"/>
              <a:ext cx="5763" cy="1379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40000">
              <a:off x="2020" y="7999"/>
              <a:ext cx="5763" cy="15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3979" y="8114"/>
              <a:ext cx="931" cy="261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1164" y="9488"/>
              <a:ext cx="490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空间频率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[cpd]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23" y="8839"/>
              <a:ext cx="29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时间频率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[Hz]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rot="16200000">
              <a:off x="498" y="3862"/>
              <a:ext cx="29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对比敏感度</a:t>
              </a:r>
              <a:endPara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964" y="9305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" y="9305"/>
                  <a:ext cx="1090" cy="72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6674" y="9276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4" y="9276"/>
                  <a:ext cx="1090" cy="72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4581" y="8259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" y="8259"/>
                  <a:ext cx="1090" cy="72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2623" y="7141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" y="7141"/>
                  <a:ext cx="1090" cy="72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2212" y="3393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" y="3393"/>
                  <a:ext cx="1090" cy="72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15854" y="8087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54" y="8087"/>
                  <a:ext cx="1090" cy="72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2281" y="8696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81" y="8696"/>
                  <a:ext cx="1090" cy="72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2212" y="4996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" y="4996"/>
                  <a:ext cx="1090" cy="72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2212" y="1790"/>
                  <a:ext cx="1090" cy="7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" y="1790"/>
                  <a:ext cx="1090" cy="72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753110" y="3947795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10" y="3947795"/>
                <a:ext cx="727075" cy="4629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740000">
            <a:off x="799465" y="5107305"/>
            <a:ext cx="3659505" cy="953135"/>
          </a:xfrm>
          <a:prstGeom prst="rect">
            <a:avLst/>
          </a:prstGeom>
        </p:spPr>
      </p:pic>
      <p:pic>
        <p:nvPicPr>
          <p:cNvPr id="5" name="图片 4" descr="castleCSF_Effect_Ar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8465" y="709930"/>
            <a:ext cx="11715115" cy="5334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765" y="601345"/>
            <a:ext cx="2124075" cy="50482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55" y="5422900"/>
            <a:ext cx="2124075" cy="5048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180" y="5331460"/>
            <a:ext cx="2124075" cy="504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829945" y="2781300"/>
            <a:ext cx="3004185" cy="50482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80000">
            <a:off x="1974215" y="4840605"/>
            <a:ext cx="884555" cy="50482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80000">
            <a:off x="3754755" y="5484495"/>
            <a:ext cx="884555" cy="50482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470" y="5539105"/>
            <a:ext cx="884555" cy="50482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00000">
            <a:off x="7136130" y="5179060"/>
            <a:ext cx="884555" cy="50482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80000">
            <a:off x="10137775" y="4778375"/>
            <a:ext cx="884555" cy="5048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081105" y="376445"/>
            <a:ext cx="383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 (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面积效应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491605" y="5803265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[cpd]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501515" y="5581015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38" name="文本框 37"/>
          <p:cNvSpPr txBox="1"/>
          <p:nvPr/>
        </p:nvSpPr>
        <p:spPr>
          <a:xfrm>
            <a:off x="7291705" y="5201285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3.2</a:t>
            </a:r>
            <a:endParaRPr lang="en-US" altLang="zh-CN" sz="2400" b="1"/>
          </a:p>
        </p:txBody>
      </p:sp>
      <p:sp>
        <p:nvSpPr>
          <p:cNvPr id="39" name="文本框 38"/>
          <p:cNvSpPr txBox="1"/>
          <p:nvPr/>
        </p:nvSpPr>
        <p:spPr>
          <a:xfrm>
            <a:off x="9791065" y="4891405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40" name="文本框 39"/>
          <p:cNvSpPr txBox="1"/>
          <p:nvPr/>
        </p:nvSpPr>
        <p:spPr>
          <a:xfrm>
            <a:off x="3434080" y="5498465"/>
            <a:ext cx="72707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0.01</a:t>
            </a:r>
            <a:endParaRPr lang="en-US" altLang="zh-CN" sz="2400" b="1"/>
          </a:p>
        </p:txBody>
      </p:sp>
      <p:sp>
        <p:nvSpPr>
          <p:cNvPr id="41" name="文本框 40"/>
          <p:cNvSpPr txBox="1"/>
          <p:nvPr/>
        </p:nvSpPr>
        <p:spPr>
          <a:xfrm>
            <a:off x="2221230" y="4803140"/>
            <a:ext cx="33718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</a:t>
            </a:r>
            <a:endParaRPr lang="en-US" altLang="zh-CN" sz="2400" b="1"/>
          </a:p>
        </p:txBody>
      </p:sp>
      <p:sp>
        <p:nvSpPr>
          <p:cNvPr id="42" name="文本框 41"/>
          <p:cNvSpPr txBox="1"/>
          <p:nvPr/>
        </p:nvSpPr>
        <p:spPr>
          <a:xfrm>
            <a:off x="414655" y="4208780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43" name="文本框 42"/>
          <p:cNvSpPr txBox="1"/>
          <p:nvPr/>
        </p:nvSpPr>
        <p:spPr>
          <a:xfrm>
            <a:off x="278765" y="3819525"/>
            <a:ext cx="309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 altLang="zh-CN" sz="2400" b="1"/>
          </a:p>
        </p:txBody>
      </p:sp>
      <p:sp>
        <p:nvSpPr>
          <p:cNvPr id="45" name="文本框 44"/>
          <p:cNvSpPr txBox="1"/>
          <p:nvPr/>
        </p:nvSpPr>
        <p:spPr>
          <a:xfrm rot="16200000">
            <a:off x="-704850" y="2555875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对比敏感度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673225" y="5240020"/>
                <a:ext cx="111950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𝒅𝒆𝒈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225" y="5240020"/>
                <a:ext cx="1119505" cy="46291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/>
          <p:cNvSpPr txBox="1"/>
          <p:nvPr/>
        </p:nvSpPr>
        <p:spPr>
          <a:xfrm>
            <a:off x="1078230" y="5273675"/>
            <a:ext cx="842010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面积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astleCSF_Effect_Eccentric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38785" y="565785"/>
            <a:ext cx="11765280" cy="53568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14730" y="4926330"/>
            <a:ext cx="4519295" cy="9531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765" y="601345"/>
            <a:ext cx="2124075" cy="504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829945" y="2781300"/>
            <a:ext cx="3004185" cy="50482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80000">
            <a:off x="10137775" y="4778375"/>
            <a:ext cx="884555" cy="5048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081105" y="376445"/>
            <a:ext cx="383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 (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偏心度效应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87680" y="427990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43" name="文本框 42"/>
          <p:cNvSpPr txBox="1"/>
          <p:nvPr/>
        </p:nvSpPr>
        <p:spPr>
          <a:xfrm>
            <a:off x="278765" y="3819525"/>
            <a:ext cx="309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 altLang="zh-CN" sz="2400" b="1"/>
          </a:p>
        </p:txBody>
      </p:sp>
      <p:sp>
        <p:nvSpPr>
          <p:cNvPr id="45" name="文本框 44"/>
          <p:cNvSpPr txBox="1"/>
          <p:nvPr/>
        </p:nvSpPr>
        <p:spPr>
          <a:xfrm rot="16200000">
            <a:off x="-704850" y="2555875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对比敏感度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20000">
            <a:off x="5669280" y="4914265"/>
            <a:ext cx="4810760" cy="9531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60000">
            <a:off x="5747385" y="5337175"/>
            <a:ext cx="695325" cy="3524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275080" y="5281295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[cpd]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46045" y="4867275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3.2</a:t>
            </a:r>
            <a:endParaRPr lang="en-US" altLang="zh-CN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4884420" y="5398770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5820410" y="539877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10" name="文本框 9"/>
          <p:cNvSpPr txBox="1"/>
          <p:nvPr/>
        </p:nvSpPr>
        <p:spPr>
          <a:xfrm>
            <a:off x="7748270" y="4938395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2.5</a:t>
            </a:r>
            <a:endParaRPr lang="en-US" altLang="zh-CN" sz="2400" b="1"/>
          </a:p>
        </p:txBody>
      </p:sp>
      <p:sp>
        <p:nvSpPr>
          <p:cNvPr id="11" name="文本框 10"/>
          <p:cNvSpPr txBox="1"/>
          <p:nvPr/>
        </p:nvSpPr>
        <p:spPr>
          <a:xfrm>
            <a:off x="9952990" y="4478020"/>
            <a:ext cx="4914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60</a:t>
            </a:r>
            <a:endParaRPr lang="en-US" altLang="zh-CN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7277735" y="5462270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偏心度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[deg]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astleCSF_Effect_Lumina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52425" y="821055"/>
            <a:ext cx="11106785" cy="50571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765" y="672465"/>
            <a:ext cx="2124075" cy="504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829945" y="2781300"/>
            <a:ext cx="3004185" cy="5048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000460" y="610125"/>
            <a:ext cx="383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 (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亮度效应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78765" y="3819525"/>
            <a:ext cx="309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 altLang="zh-CN" sz="2400" b="1"/>
          </a:p>
        </p:txBody>
      </p:sp>
      <p:sp>
        <p:nvSpPr>
          <p:cNvPr id="45" name="文本框 44"/>
          <p:cNvSpPr txBox="1"/>
          <p:nvPr/>
        </p:nvSpPr>
        <p:spPr>
          <a:xfrm rot="16200000">
            <a:off x="-704850" y="2555875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对比敏感度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60000">
            <a:off x="5747385" y="5337175"/>
            <a:ext cx="695325" cy="3524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0000">
            <a:off x="9608820" y="4599940"/>
            <a:ext cx="884555" cy="5048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7084060" y="5031740"/>
            <a:ext cx="577850" cy="3295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6438265" y="5339715"/>
            <a:ext cx="577850" cy="32956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1898650" y="5233035"/>
            <a:ext cx="1026160" cy="3295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4262120" y="5358765"/>
            <a:ext cx="420370" cy="2400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3665855" y="5299075"/>
            <a:ext cx="426085" cy="2432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2229485" y="4783455"/>
            <a:ext cx="426085" cy="24320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550285" y="540639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1888490" y="482219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490" y="4822190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368300" y="419671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4196715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4339590" y="538099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27" name="文本框 26"/>
          <p:cNvSpPr txBox="1"/>
          <p:nvPr/>
        </p:nvSpPr>
        <p:spPr>
          <a:xfrm>
            <a:off x="6942455" y="503428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3.2</a:t>
            </a:r>
            <a:endParaRPr lang="en-US" altLang="zh-CN" sz="2400" b="1"/>
          </a:p>
        </p:txBody>
      </p:sp>
      <p:sp>
        <p:nvSpPr>
          <p:cNvPr id="28" name="文本框 27"/>
          <p:cNvSpPr txBox="1"/>
          <p:nvPr/>
        </p:nvSpPr>
        <p:spPr>
          <a:xfrm>
            <a:off x="9679940" y="4759960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30" name="文本框 29"/>
          <p:cNvSpPr txBox="1"/>
          <p:nvPr/>
        </p:nvSpPr>
        <p:spPr>
          <a:xfrm>
            <a:off x="6316980" y="5462270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[cpd]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673225" y="5240020"/>
                <a:ext cx="132270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𝒄𝒅</m:t>
                          </m:r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/</m:t>
                          </m:r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225" y="5240020"/>
                <a:ext cx="1322705" cy="46291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/>
          <p:cNvSpPr txBox="1"/>
          <p:nvPr/>
        </p:nvSpPr>
        <p:spPr>
          <a:xfrm>
            <a:off x="1078230" y="5273675"/>
            <a:ext cx="842010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亮度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astleCSF_Effect_SaccadeTi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35280" y="774700"/>
            <a:ext cx="10974070" cy="49968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05" y="708025"/>
            <a:ext cx="2124075" cy="504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829945" y="2781300"/>
            <a:ext cx="3004185" cy="5048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2489835" y="610235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 (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视觉敏感度延迟恢复效应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78765" y="3819525"/>
            <a:ext cx="309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 altLang="zh-CN" sz="2400" b="1"/>
          </a:p>
        </p:txBody>
      </p:sp>
      <p:sp>
        <p:nvSpPr>
          <p:cNvPr id="45" name="文本框 44"/>
          <p:cNvSpPr txBox="1"/>
          <p:nvPr/>
        </p:nvSpPr>
        <p:spPr>
          <a:xfrm rot="16200000">
            <a:off x="-704850" y="2555875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对比敏感度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55" y="1376045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60000">
            <a:off x="5747385" y="5337175"/>
            <a:ext cx="695325" cy="3524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0000">
            <a:off x="9608820" y="4484370"/>
            <a:ext cx="884555" cy="5048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7084060" y="5031740"/>
            <a:ext cx="577850" cy="3295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6438265" y="5339715"/>
            <a:ext cx="577850" cy="3295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4261485" y="5288280"/>
            <a:ext cx="420370" cy="2400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3737610" y="5220970"/>
            <a:ext cx="426085" cy="2432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2167255" y="4632325"/>
            <a:ext cx="426085" cy="24320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978660" y="4681855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250</a:t>
            </a:r>
            <a:endParaRPr lang="en-US" altLang="zh-CN" sz="2400" b="1"/>
          </a:p>
        </p:txBody>
      </p:sp>
      <p:sp>
        <p:nvSpPr>
          <p:cNvPr id="25" name="文本框 24"/>
          <p:cNvSpPr txBox="1"/>
          <p:nvPr/>
        </p:nvSpPr>
        <p:spPr>
          <a:xfrm>
            <a:off x="588645" y="4093210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500</a:t>
            </a:r>
            <a:endParaRPr lang="en-US" altLang="zh-CN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4194810" y="5361305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28" name="文本框 27"/>
          <p:cNvSpPr txBox="1"/>
          <p:nvPr/>
        </p:nvSpPr>
        <p:spPr>
          <a:xfrm>
            <a:off x="9679940" y="4659630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30" name="文本框 29"/>
          <p:cNvSpPr txBox="1"/>
          <p:nvPr/>
        </p:nvSpPr>
        <p:spPr>
          <a:xfrm>
            <a:off x="6155690" y="5397500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[cpd]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980" y="5240020"/>
            <a:ext cx="361950" cy="219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3265" y="4963160"/>
            <a:ext cx="361950" cy="219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0" y="5142230"/>
            <a:ext cx="1152525" cy="2190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63315" y="5182235"/>
            <a:ext cx="33718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</a:t>
            </a:r>
            <a:endParaRPr lang="en-US" altLang="zh-CN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6870065" y="499872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3.2</a:t>
            </a:r>
            <a:endParaRPr lang="en-US" altLang="zh-CN" sz="2400" b="1"/>
          </a:p>
        </p:txBody>
      </p:sp>
      <p:sp>
        <p:nvSpPr>
          <p:cNvPr id="10" name="文本框 9"/>
          <p:cNvSpPr txBox="1"/>
          <p:nvPr/>
        </p:nvSpPr>
        <p:spPr>
          <a:xfrm>
            <a:off x="588645" y="5074285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扫视后时间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[ms]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astleCSF_Effect_Tempor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73380" y="791210"/>
            <a:ext cx="11172190" cy="50869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05" y="708025"/>
            <a:ext cx="2124075" cy="504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829945" y="2781300"/>
            <a:ext cx="3004185" cy="5048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633470" y="610235"/>
            <a:ext cx="4545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 (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78765" y="3819525"/>
            <a:ext cx="309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 altLang="zh-CN" sz="2400" b="1"/>
          </a:p>
        </p:txBody>
      </p:sp>
      <p:sp>
        <p:nvSpPr>
          <p:cNvPr id="45" name="文本框 44"/>
          <p:cNvSpPr txBox="1"/>
          <p:nvPr/>
        </p:nvSpPr>
        <p:spPr>
          <a:xfrm rot="16200000">
            <a:off x="-704850" y="2555875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对比敏感度</a:t>
            </a:r>
            <a:endParaRPr lang="zh-CN" altLang="en-US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2261870"/>
                <a:ext cx="692150" cy="4629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3075305"/>
                <a:ext cx="692150" cy="462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14655" y="1448435"/>
                <a:ext cx="692150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55" y="1448435"/>
                <a:ext cx="692150" cy="462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733800"/>
                <a:ext cx="727075" cy="4629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60000">
            <a:off x="5747385" y="5337175"/>
            <a:ext cx="695325" cy="3524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0000">
            <a:off x="9608820" y="4484370"/>
            <a:ext cx="884555" cy="5048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7084060" y="5031740"/>
            <a:ext cx="577850" cy="3295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6438265" y="5339715"/>
            <a:ext cx="577850" cy="3295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4261485" y="5395595"/>
            <a:ext cx="420370" cy="2400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3664585" y="5300980"/>
            <a:ext cx="426085" cy="2432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2282825" y="4798060"/>
            <a:ext cx="426085" cy="24320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633470" y="522224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28" name="文本框 27"/>
          <p:cNvSpPr txBox="1"/>
          <p:nvPr/>
        </p:nvSpPr>
        <p:spPr>
          <a:xfrm>
            <a:off x="9634855" y="4659630"/>
            <a:ext cx="6457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30" name="文本框 29"/>
          <p:cNvSpPr txBox="1"/>
          <p:nvPr/>
        </p:nvSpPr>
        <p:spPr>
          <a:xfrm>
            <a:off x="6155690" y="5397500"/>
            <a:ext cx="316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[cpd]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980" y="5240020"/>
            <a:ext cx="361950" cy="219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3265" y="5052060"/>
            <a:ext cx="361950" cy="219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0" y="5273675"/>
            <a:ext cx="1152525" cy="219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21830" y="4958715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3.2</a:t>
            </a:r>
            <a:endParaRPr lang="en-US" altLang="zh-CN" sz="24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955675" y="4297680"/>
            <a:ext cx="426085" cy="2432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35805" y="536702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0.1</a:t>
            </a:r>
            <a:endParaRPr lang="en-US" altLang="zh-CN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2167255" y="4810760"/>
            <a:ext cx="572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2.5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678180" y="4217035"/>
            <a:ext cx="4914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/>
              <a:t>60</a:t>
            </a:r>
            <a:endParaRPr lang="en-US" altLang="zh-CN" sz="2400" b="1"/>
          </a:p>
        </p:txBody>
      </p:sp>
      <p:sp>
        <p:nvSpPr>
          <p:cNvPr id="19" name="文本框 18"/>
          <p:cNvSpPr txBox="1"/>
          <p:nvPr/>
        </p:nvSpPr>
        <p:spPr>
          <a:xfrm>
            <a:off x="1033780" y="5248910"/>
            <a:ext cx="1894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时间频率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[Hz]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1002</Words>
  <Application>WPS 演示</Application>
  <PresentationFormat>宽屏</PresentationFormat>
  <Paragraphs>252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Cambria Math</vt:lpstr>
      <vt:lpstr>MS Mincho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18</cp:revision>
  <dcterms:created xsi:type="dcterms:W3CDTF">2023-08-09T12:44:00Z</dcterms:created>
  <dcterms:modified xsi:type="dcterms:W3CDTF">2026-02-04T16:31:28Z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1A404D93A0DB4F32B7FCDAD7D3EBADCF_12</vt:lpwstr>
  </property>
</Properties>
</file>