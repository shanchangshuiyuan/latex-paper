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239625" cy="6119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6" userDrawn="1">
          <p15:clr>
            <a:srgbClr val="A4A3A4"/>
          </p15:clr>
        </p15:guide>
        <p15:guide id="2" pos="3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886"/>
        <p:guide pos="3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30000" y="1001584"/>
            <a:ext cx="9180000" cy="2130667"/>
          </a:xfrm>
        </p:spPr>
        <p:txBody>
          <a:bodyPr anchor="b"/>
          <a:lstStyle>
            <a:lvl1pPr algn="ctr"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0000" y="3214417"/>
            <a:ext cx="9180000" cy="1477583"/>
          </a:xfrm>
        </p:spPr>
        <p:txBody>
          <a:bodyPr/>
          <a:lstStyle>
            <a:lvl1pPr marL="0" indent="0" algn="ctr">
              <a:buNone/>
              <a:defRPr sz="2140"/>
            </a:lvl1pPr>
            <a:lvl2pPr marL="408305" indent="0" algn="ctr">
              <a:buNone/>
              <a:defRPr sz="1785"/>
            </a:lvl2pPr>
            <a:lvl3pPr marL="815975" indent="0" algn="ctr">
              <a:buNone/>
              <a:defRPr sz="1605"/>
            </a:lvl3pPr>
            <a:lvl4pPr marL="1224280" indent="0" algn="ctr">
              <a:buNone/>
              <a:defRPr sz="1430"/>
            </a:lvl4pPr>
            <a:lvl5pPr marL="1631950" indent="0" algn="ctr">
              <a:buNone/>
              <a:defRPr sz="1430"/>
            </a:lvl5pPr>
            <a:lvl6pPr marL="2040255" indent="0" algn="ctr">
              <a:buNone/>
              <a:defRPr sz="1430"/>
            </a:lvl6pPr>
            <a:lvl7pPr marL="2447925" indent="0" algn="ctr">
              <a:buNone/>
              <a:defRPr sz="1430"/>
            </a:lvl7pPr>
            <a:lvl8pPr marL="2856230" indent="0" algn="ctr">
              <a:buNone/>
              <a:defRPr sz="1430"/>
            </a:lvl8pPr>
            <a:lvl9pPr marL="3263900" indent="0" algn="ctr">
              <a:buNone/>
              <a:defRPr sz="14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125" y="1525750"/>
            <a:ext cx="10557000" cy="2545749"/>
          </a:xfrm>
        </p:spPr>
        <p:txBody>
          <a:bodyPr anchor="b"/>
          <a:lstStyle>
            <a:lvl1pPr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5125" y="4095584"/>
            <a:ext cx="10557000" cy="1338750"/>
          </a:xfrm>
        </p:spPr>
        <p:txBody>
          <a:bodyPr/>
          <a:lstStyle>
            <a:lvl1pPr marL="0" indent="0">
              <a:buNone/>
              <a:defRPr sz="2140">
                <a:solidFill>
                  <a:schemeClr val="tx1">
                    <a:tint val="75000"/>
                  </a:schemeClr>
                </a:solidFill>
              </a:defRPr>
            </a:lvl1pPr>
            <a:lvl2pPr marL="4083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5975" indent="0">
              <a:buNone/>
              <a:defRPr sz="1605">
                <a:solidFill>
                  <a:schemeClr val="tx1">
                    <a:tint val="75000"/>
                  </a:schemeClr>
                </a:solidFill>
              </a:defRPr>
            </a:lvl3pPr>
            <a:lvl4pPr marL="122428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4pPr>
            <a:lvl5pPr marL="163195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5pPr>
            <a:lvl6pPr marL="204025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6pPr>
            <a:lvl7pPr marL="244792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7pPr>
            <a:lvl8pPr marL="285623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8pPr>
            <a:lvl9pPr marL="326390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41500" y="1629167"/>
            <a:ext cx="5202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500" y="1629167"/>
            <a:ext cx="5202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094" y="325833"/>
            <a:ext cx="10557000" cy="11829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3094" y="1500250"/>
            <a:ext cx="5178093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3094" y="2235500"/>
            <a:ext cx="5178093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00" y="1500250"/>
            <a:ext cx="5203594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00" y="2235500"/>
            <a:ext cx="5203594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094" y="408000"/>
            <a:ext cx="3947718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3594" y="881167"/>
            <a:ext cx="6196500" cy="4349167"/>
          </a:xfrm>
        </p:spPr>
        <p:txBody>
          <a:bodyPr/>
          <a:lstStyle>
            <a:lvl1pPr>
              <a:defRPr sz="2855"/>
            </a:lvl1pPr>
            <a:lvl2pPr>
              <a:defRPr sz="2500"/>
            </a:lvl2pPr>
            <a:lvl3pPr>
              <a:defRPr sz="2140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3094" y="1836000"/>
            <a:ext cx="3947718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094" y="408000"/>
            <a:ext cx="3947718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203594" y="881167"/>
            <a:ext cx="6196500" cy="4349167"/>
          </a:xfrm>
        </p:spPr>
        <p:txBody>
          <a:bodyPr/>
          <a:lstStyle>
            <a:lvl1pPr marL="0" indent="0">
              <a:buNone/>
              <a:defRPr sz="2855"/>
            </a:lvl1pPr>
            <a:lvl2pPr marL="408305" indent="0">
              <a:buNone/>
              <a:defRPr sz="2500"/>
            </a:lvl2pPr>
            <a:lvl3pPr marL="815975" indent="0">
              <a:buNone/>
              <a:defRPr sz="2140"/>
            </a:lvl3pPr>
            <a:lvl4pPr marL="1224280" indent="0">
              <a:buNone/>
              <a:defRPr sz="1785"/>
            </a:lvl4pPr>
            <a:lvl5pPr marL="1631950" indent="0">
              <a:buNone/>
              <a:defRPr sz="1785"/>
            </a:lvl5pPr>
            <a:lvl6pPr marL="2040255" indent="0">
              <a:buNone/>
              <a:defRPr sz="1785"/>
            </a:lvl6pPr>
            <a:lvl7pPr marL="2447925" indent="0">
              <a:buNone/>
              <a:defRPr sz="1785"/>
            </a:lvl7pPr>
            <a:lvl8pPr marL="2856230" indent="0">
              <a:buNone/>
              <a:defRPr sz="1785"/>
            </a:lvl8pPr>
            <a:lvl9pPr marL="3263900" indent="0">
              <a:buNone/>
              <a:defRPr sz="17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3094" y="1836000"/>
            <a:ext cx="3947718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59250" y="325833"/>
            <a:ext cx="2639250" cy="5186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41500" y="325833"/>
            <a:ext cx="7764750" cy="5186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1500" y="325833"/>
            <a:ext cx="10557000" cy="1182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1500" y="1629167"/>
            <a:ext cx="10557000" cy="3883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41500" y="5672333"/>
            <a:ext cx="2754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54500" y="5672333"/>
            <a:ext cx="4131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4500" y="5672333"/>
            <a:ext cx="2754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15975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35" indent="-203835" algn="l" defTabSz="815975" rtl="0" eaLnBrk="1" latinLnBrk="0" hangingPunct="1">
        <a:lnSpc>
          <a:spcPct val="90000"/>
        </a:lnSpc>
        <a:spcBef>
          <a:spcPct val="179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1214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1981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11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78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409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176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6006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97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428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95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4025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792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623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390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-37465" y="81280"/>
            <a:ext cx="12169875" cy="5933212"/>
            <a:chOff x="-143" y="562"/>
            <a:chExt cx="19090" cy="9307"/>
          </a:xfrm>
        </p:grpSpPr>
        <p:sp>
          <p:nvSpPr>
            <p:cNvPr id="17" name="矩形 16"/>
            <p:cNvSpPr/>
            <p:nvPr/>
          </p:nvSpPr>
          <p:spPr>
            <a:xfrm>
              <a:off x="12767" y="1447"/>
              <a:ext cx="6180" cy="8422"/>
            </a:xfrm>
            <a:prstGeom prst="rect">
              <a:avLst/>
            </a:prstGeom>
            <a:solidFill>
              <a:srgbClr val="E6F1E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16" name="矩形 15"/>
            <p:cNvSpPr/>
            <p:nvPr/>
          </p:nvSpPr>
          <p:spPr>
            <a:xfrm>
              <a:off x="7062" y="1447"/>
              <a:ext cx="5161" cy="8422"/>
            </a:xfrm>
            <a:prstGeom prst="rect">
              <a:avLst/>
            </a:prstGeom>
            <a:solidFill>
              <a:srgbClr val="FBEDE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15" name="矩形 14"/>
            <p:cNvSpPr/>
            <p:nvPr/>
          </p:nvSpPr>
          <p:spPr>
            <a:xfrm>
              <a:off x="82" y="1447"/>
              <a:ext cx="6180" cy="8422"/>
            </a:xfrm>
            <a:prstGeom prst="rect">
              <a:avLst/>
            </a:prstGeom>
            <a:solidFill>
              <a:srgbClr val="E5EF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3" y="2077"/>
              <a:ext cx="1178" cy="70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1" y="1797"/>
              <a:ext cx="1168" cy="511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1335" y="2437"/>
              <a:ext cx="1138" cy="1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82" y="562"/>
              <a:ext cx="6180" cy="885"/>
            </a:xfrm>
            <a:prstGeom prst="rect">
              <a:avLst/>
            </a:prstGeom>
            <a:solidFill>
              <a:srgbClr val="BBD6E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Step1:</a:t>
              </a:r>
              <a:r>
                <a:rPr lang="zh-CN" altLang="en-US" sz="16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眼动时序优化窗口划分与识别模块</a:t>
              </a:r>
              <a:endParaRPr lang="zh-CN" altLang="en-US" sz="16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62" y="562"/>
              <a:ext cx="5162" cy="885"/>
            </a:xfrm>
            <a:prstGeom prst="rect">
              <a:avLst/>
            </a:prstGeom>
            <a:solidFill>
              <a:srgbClr val="F7CAA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Step2</a:t>
              </a:r>
              <a:r>
                <a:rPr lang="zh-CN" altLang="en-US" sz="16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6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视觉感知建模模块</a:t>
              </a:r>
              <a:endParaRPr lang="zh-CN" altLang="en-US" sz="16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2767" y="562"/>
              <a:ext cx="6180" cy="885"/>
            </a:xfrm>
            <a:prstGeom prst="rect">
              <a:avLst/>
            </a:prstGeom>
            <a:solidFill>
              <a:srgbClr val="C5DFB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Step3</a:t>
              </a:r>
              <a:r>
                <a:rPr lang="zh-CN" altLang="en-US" sz="16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：动态分辨率渲染执行模块</a:t>
              </a:r>
              <a:endParaRPr lang="zh-CN" altLang="en-US" sz="1605"/>
            </a:p>
          </p:txBody>
        </p:sp>
        <p:sp>
          <p:nvSpPr>
            <p:cNvPr id="20" name="矩形 19"/>
            <p:cNvSpPr/>
            <p:nvPr/>
          </p:nvSpPr>
          <p:spPr>
            <a:xfrm>
              <a:off x="2487" y="1740"/>
              <a:ext cx="3602" cy="1402"/>
            </a:xfrm>
            <a:prstGeom prst="rect">
              <a:avLst/>
            </a:prstGeom>
            <a:solidFill>
              <a:srgbClr val="BBD6EB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136" y="1724"/>
              <a:ext cx="245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信号预处理模块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611" y="2308"/>
              <a:ext cx="1591" cy="734"/>
            </a:xfrm>
            <a:prstGeom prst="roundRect">
              <a:avLst>
                <a:gd name="adj" fmla="val 5430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瞬时角速度计算器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4387" y="2293"/>
              <a:ext cx="1591" cy="734"/>
            </a:xfrm>
            <a:prstGeom prst="roundRect">
              <a:avLst>
                <a:gd name="adj" fmla="val 5430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注视点坐标提取器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44" y="3363"/>
              <a:ext cx="199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原始眼动信号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91" y="4225"/>
              <a:ext cx="5759" cy="5445"/>
            </a:xfrm>
            <a:prstGeom prst="rect">
              <a:avLst/>
            </a:prstGeom>
            <a:solidFill>
              <a:srgbClr val="BBD6EB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805"/>
                <a:t> </a:t>
              </a:r>
              <a:endParaRPr lang="en-US" altLang="zh-CN" sz="1805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600" y="4410"/>
              <a:ext cx="314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双重阈值事件检测模块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-143" y="1514"/>
              <a:ext cx="2300" cy="5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眼动追踪设备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1116" y="5925"/>
              <a:ext cx="1495" cy="734"/>
            </a:xfrm>
            <a:prstGeom prst="roundRect">
              <a:avLst>
                <a:gd name="adj" fmla="val 5430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扫视开始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检测器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3316" y="5160"/>
              <a:ext cx="2716" cy="4220"/>
            </a:xfrm>
            <a:prstGeom prst="roundRect">
              <a:avLst>
                <a:gd name="adj" fmla="val 1095"/>
              </a:avLst>
            </a:prstGeom>
            <a:solidFill>
              <a:srgbClr val="DBEEF4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5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913" y="5660"/>
              <a:ext cx="1855" cy="713"/>
            </a:xfrm>
            <a:prstGeom prst="roundRect">
              <a:avLst>
                <a:gd name="adj" fmla="val 543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稳定注视态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3913" y="7062"/>
              <a:ext cx="1855" cy="713"/>
            </a:xfrm>
            <a:prstGeom prst="roundRect">
              <a:avLst>
                <a:gd name="adj" fmla="val 543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扫视状态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3913" y="8387"/>
              <a:ext cx="1855" cy="713"/>
            </a:xfrm>
            <a:prstGeom prst="roundRect">
              <a:avLst>
                <a:gd name="adj" fmla="val 543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扫视恢复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状态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11" y="6035"/>
              <a:ext cx="701" cy="2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时序窗口状态机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" name="直接箭头连接符 45"/>
            <p:cNvCxnSpPr>
              <a:stCxn id="39" idx="2"/>
              <a:endCxn id="40" idx="0"/>
            </p:cNvCxnSpPr>
            <p:nvPr/>
          </p:nvCxnSpPr>
          <p:spPr>
            <a:xfrm>
              <a:off x="4841" y="6373"/>
              <a:ext cx="0" cy="68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2"/>
              <a:endCxn id="41" idx="0"/>
            </p:cNvCxnSpPr>
            <p:nvPr/>
          </p:nvCxnSpPr>
          <p:spPr>
            <a:xfrm>
              <a:off x="4841" y="7775"/>
              <a:ext cx="0" cy="61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肘形连接符 63"/>
            <p:cNvCxnSpPr>
              <a:endCxn id="34" idx="1"/>
            </p:cNvCxnSpPr>
            <p:nvPr/>
          </p:nvCxnSpPr>
          <p:spPr>
            <a:xfrm rot="5400000" flipV="1">
              <a:off x="-886" y="4290"/>
              <a:ext cx="3498" cy="505"/>
            </a:xfrm>
            <a:prstGeom prst="bentConnector2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肘形连接符 64"/>
            <p:cNvCxnSpPr/>
            <p:nvPr/>
          </p:nvCxnSpPr>
          <p:spPr>
            <a:xfrm rot="5400000" flipV="1">
              <a:off x="-1907" y="5346"/>
              <a:ext cx="5556" cy="517"/>
            </a:xfrm>
            <a:prstGeom prst="bentConnector2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7" name="矩形 66"/>
            <p:cNvSpPr/>
            <p:nvPr/>
          </p:nvSpPr>
          <p:spPr>
            <a:xfrm>
              <a:off x="7378" y="1745"/>
              <a:ext cx="1641" cy="4179"/>
            </a:xfrm>
            <a:prstGeom prst="rect">
              <a:avLst/>
            </a:prstGeom>
            <a:solidFill>
              <a:srgbClr val="F7CBAE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7506" y="2526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亮度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7506" y="3082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色彩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7506" y="3634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刺激面积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7506" y="4171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偏心度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7506" y="4738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空间频率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7506" y="5285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时间频率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506" y="1930"/>
              <a:ext cx="151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静态参数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7378" y="6373"/>
              <a:ext cx="1641" cy="2856"/>
            </a:xfrm>
            <a:prstGeom prst="rect">
              <a:avLst/>
            </a:prstGeom>
            <a:solidFill>
              <a:srgbClr val="F7CBAE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7506" y="8531"/>
              <a:ext cx="1381" cy="41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眼动状态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7476" y="6613"/>
              <a:ext cx="151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动态参数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7491" y="7200"/>
              <a:ext cx="1381" cy="891"/>
            </a:xfrm>
            <a:prstGeom prst="roundRect">
              <a:avLst>
                <a:gd name="adj" fmla="val 5430"/>
              </a:avLst>
            </a:prstGeom>
            <a:solidFill>
              <a:srgbClr val="FBED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扫视后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205" b="1">
                  <a:latin typeface="宋体" panose="02010600030101010101" pitchFamily="2" charset="-122"/>
                  <a:ea typeface="宋体" panose="02010600030101010101" pitchFamily="2" charset="-122"/>
                </a:rPr>
                <a:t>时间</a:t>
              </a:r>
              <a:endParaRPr lang="zh-CN" altLang="en-US" sz="12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0" name="肘形连接符 79"/>
            <p:cNvCxnSpPr>
              <a:stCxn id="20" idx="3"/>
              <a:endCxn id="68" idx="1"/>
            </p:cNvCxnSpPr>
            <p:nvPr/>
          </p:nvCxnSpPr>
          <p:spPr>
            <a:xfrm>
              <a:off x="6089" y="2441"/>
              <a:ext cx="1417" cy="291"/>
            </a:xfrm>
            <a:prstGeom prst="bentConnector3">
              <a:avLst>
                <a:gd name="adj1" fmla="val 50035"/>
              </a:avLst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stCxn id="20" idx="3"/>
              <a:endCxn id="70" idx="1"/>
            </p:cNvCxnSpPr>
            <p:nvPr/>
          </p:nvCxnSpPr>
          <p:spPr>
            <a:xfrm>
              <a:off x="6089" y="2441"/>
              <a:ext cx="1417" cy="847"/>
            </a:xfrm>
            <a:prstGeom prst="bentConnector3">
              <a:avLst>
                <a:gd name="adj1" fmla="val 50035"/>
              </a:avLst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肘形连接符 83"/>
            <p:cNvCxnSpPr>
              <a:stCxn id="20" idx="3"/>
              <a:endCxn id="71" idx="1"/>
            </p:cNvCxnSpPr>
            <p:nvPr/>
          </p:nvCxnSpPr>
          <p:spPr>
            <a:xfrm>
              <a:off x="6089" y="2441"/>
              <a:ext cx="1417" cy="1399"/>
            </a:xfrm>
            <a:prstGeom prst="bentConnector3">
              <a:avLst>
                <a:gd name="adj1" fmla="val 50035"/>
              </a:avLst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肘形连接符 86"/>
            <p:cNvCxnSpPr>
              <a:stCxn id="20" idx="3"/>
              <a:endCxn id="73" idx="1"/>
            </p:cNvCxnSpPr>
            <p:nvPr/>
          </p:nvCxnSpPr>
          <p:spPr>
            <a:xfrm>
              <a:off x="6089" y="2441"/>
              <a:ext cx="1417" cy="2503"/>
            </a:xfrm>
            <a:prstGeom prst="bentConnector3">
              <a:avLst>
                <a:gd name="adj1" fmla="val 50035"/>
              </a:avLst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肘形连接符 87"/>
            <p:cNvCxnSpPr>
              <a:stCxn id="20" idx="3"/>
              <a:endCxn id="74" idx="1"/>
            </p:cNvCxnSpPr>
            <p:nvPr/>
          </p:nvCxnSpPr>
          <p:spPr>
            <a:xfrm>
              <a:off x="6089" y="2441"/>
              <a:ext cx="1417" cy="3050"/>
            </a:xfrm>
            <a:prstGeom prst="bentConnector3">
              <a:avLst>
                <a:gd name="adj1" fmla="val 50035"/>
              </a:avLst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肘形连接符 89"/>
            <p:cNvCxnSpPr/>
            <p:nvPr/>
          </p:nvCxnSpPr>
          <p:spPr>
            <a:xfrm>
              <a:off x="6209" y="2441"/>
              <a:ext cx="1154" cy="536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>
              <a:endCxn id="72" idx="1"/>
            </p:cNvCxnSpPr>
            <p:nvPr/>
          </p:nvCxnSpPr>
          <p:spPr>
            <a:xfrm flipV="1">
              <a:off x="6800" y="4377"/>
              <a:ext cx="706" cy="1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>
              <a:stCxn id="39" idx="3"/>
              <a:endCxn id="77" idx="1"/>
            </p:cNvCxnSpPr>
            <p:nvPr/>
          </p:nvCxnSpPr>
          <p:spPr>
            <a:xfrm>
              <a:off x="5768" y="6017"/>
              <a:ext cx="1738" cy="272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41" idx="3"/>
              <a:endCxn id="77" idx="1"/>
            </p:cNvCxnSpPr>
            <p:nvPr/>
          </p:nvCxnSpPr>
          <p:spPr>
            <a:xfrm flipV="1">
              <a:off x="5768" y="8737"/>
              <a:ext cx="1738" cy="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肘形连接符 99"/>
            <p:cNvCxnSpPr>
              <a:stCxn id="40" idx="3"/>
              <a:endCxn id="77" idx="1"/>
            </p:cNvCxnSpPr>
            <p:nvPr/>
          </p:nvCxnSpPr>
          <p:spPr>
            <a:xfrm>
              <a:off x="5768" y="7419"/>
              <a:ext cx="1738" cy="131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1" name="矩形 100"/>
            <p:cNvSpPr/>
            <p:nvPr/>
          </p:nvSpPr>
          <p:spPr>
            <a:xfrm>
              <a:off x="9721" y="1740"/>
              <a:ext cx="2150" cy="7488"/>
            </a:xfrm>
            <a:prstGeom prst="rect">
              <a:avLst/>
            </a:prstGeom>
            <a:solidFill>
              <a:srgbClr val="F7CBAE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721" y="4774"/>
              <a:ext cx="2150" cy="1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5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castleCSF-TS</a:t>
              </a:r>
              <a:endParaRPr lang="en-US" altLang="zh-CN" sz="140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  <a:p>
              <a:pPr algn="ctr"/>
              <a:endParaRPr lang="en-US" altLang="zh-CN" sz="140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视觉感知模型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/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输出阈值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05" name="肘形连接符 104"/>
            <p:cNvCxnSpPr>
              <a:stCxn id="67" idx="3"/>
              <a:endCxn id="101" idx="1"/>
            </p:cNvCxnSpPr>
            <p:nvPr/>
          </p:nvCxnSpPr>
          <p:spPr>
            <a:xfrm>
              <a:off x="9019" y="3835"/>
              <a:ext cx="702" cy="164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>
              <a:stCxn id="76" idx="3"/>
              <a:endCxn id="101" idx="1"/>
            </p:cNvCxnSpPr>
            <p:nvPr/>
          </p:nvCxnSpPr>
          <p:spPr>
            <a:xfrm flipV="1">
              <a:off x="9019" y="5484"/>
              <a:ext cx="702" cy="231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7" name="矩形 106"/>
            <p:cNvSpPr/>
            <p:nvPr/>
          </p:nvSpPr>
          <p:spPr>
            <a:xfrm>
              <a:off x="12981" y="1740"/>
              <a:ext cx="5839" cy="3154"/>
            </a:xfrm>
            <a:prstGeom prst="rect">
              <a:avLst/>
            </a:prstGeom>
            <a:solidFill>
              <a:srgbClr val="C5DEB6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13332" y="2346"/>
              <a:ext cx="5175" cy="616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视觉敏感度阈值计算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0" name="圆角矩形 109"/>
            <p:cNvSpPr/>
            <p:nvPr/>
          </p:nvSpPr>
          <p:spPr>
            <a:xfrm>
              <a:off x="13332" y="3224"/>
              <a:ext cx="5175" cy="616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分辨率缩放因子映射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13332" y="4098"/>
              <a:ext cx="5175" cy="616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中央凹区域动态定义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14741" y="1765"/>
              <a:ext cx="34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分辨率映射模块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12981" y="5285"/>
              <a:ext cx="5839" cy="1777"/>
            </a:xfrm>
            <a:prstGeom prst="rect">
              <a:avLst/>
            </a:prstGeom>
            <a:solidFill>
              <a:srgbClr val="C5DEB6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5"/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14651" y="5356"/>
              <a:ext cx="34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渲染管线调度模块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115" name="圆角矩形 114"/>
            <p:cNvSpPr/>
            <p:nvPr/>
          </p:nvSpPr>
          <p:spPr>
            <a:xfrm>
              <a:off x="13134" y="5925"/>
              <a:ext cx="1606" cy="870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扫视期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渲染策略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6" name="圆角矩形 115"/>
            <p:cNvSpPr/>
            <p:nvPr/>
          </p:nvSpPr>
          <p:spPr>
            <a:xfrm>
              <a:off x="15030" y="5925"/>
              <a:ext cx="1650" cy="870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恢复期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渲染策略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7" name="圆角矩形 116"/>
            <p:cNvSpPr/>
            <p:nvPr/>
          </p:nvSpPr>
          <p:spPr>
            <a:xfrm>
              <a:off x="17005" y="5925"/>
              <a:ext cx="1650" cy="870"/>
            </a:xfrm>
            <a:prstGeom prst="roundRect">
              <a:avLst>
                <a:gd name="adj" fmla="val 5430"/>
              </a:avLst>
            </a:prstGeom>
            <a:solidFill>
              <a:srgbClr val="E6F1E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帧间平滑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过渡算法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18" name="图片 1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52" y="7437"/>
              <a:ext cx="2703" cy="1732"/>
            </a:xfrm>
            <a:prstGeom prst="rect">
              <a:avLst/>
            </a:prstGeom>
          </p:spPr>
        </p:pic>
        <p:sp>
          <p:nvSpPr>
            <p:cNvPr id="120" name="文本框 119"/>
            <p:cNvSpPr txBox="1"/>
            <p:nvPr/>
          </p:nvSpPr>
          <p:spPr>
            <a:xfrm>
              <a:off x="14895" y="9153"/>
              <a:ext cx="2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5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高质量渲染输出</a:t>
              </a:r>
              <a:endParaRPr lang="zh-CN" altLang="en-US" sz="140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23" name="直接箭头连接符 122"/>
            <p:cNvCxnSpPr>
              <a:stCxn id="107" idx="2"/>
              <a:endCxn id="113" idx="0"/>
            </p:cNvCxnSpPr>
            <p:nvPr/>
          </p:nvCxnSpPr>
          <p:spPr>
            <a:xfrm>
              <a:off x="15901" y="4894"/>
              <a:ext cx="0" cy="39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113" idx="2"/>
              <a:endCxn id="118" idx="0"/>
            </p:cNvCxnSpPr>
            <p:nvPr/>
          </p:nvCxnSpPr>
          <p:spPr>
            <a:xfrm>
              <a:off x="15901" y="7062"/>
              <a:ext cx="3" cy="3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直接箭头连接符 124"/>
            <p:cNvCxnSpPr/>
            <p:nvPr/>
          </p:nvCxnSpPr>
          <p:spPr>
            <a:xfrm>
              <a:off x="12223" y="5673"/>
              <a:ext cx="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2489" y="5716"/>
                  <a:ext cx="1010" cy="5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𝒔𝒕𝒂𝒓𝒕</m:t>
                            </m:r>
                          </m:sub>
                        </m:sSub>
                      </m:oMath>
                    </m:oMathPara>
                  </a14:m>
                  <a:endParaRPr lang="zh-CN" altLang="en-US" sz="1605" b="1" i="1"/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9" y="5716"/>
                  <a:ext cx="1010" cy="53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圆角矩形 9"/>
            <p:cNvSpPr/>
            <p:nvPr/>
          </p:nvSpPr>
          <p:spPr>
            <a:xfrm>
              <a:off x="1116" y="8010"/>
              <a:ext cx="1495" cy="734"/>
            </a:xfrm>
            <a:prstGeom prst="roundRect">
              <a:avLst>
                <a:gd name="adj" fmla="val 5430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扫视结束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5" b="1">
                  <a:latin typeface="宋体" panose="02010600030101010101" pitchFamily="2" charset="-122"/>
                  <a:ea typeface="宋体" panose="02010600030101010101" pitchFamily="2" charset="-122"/>
                </a:rPr>
                <a:t>检测器</a:t>
              </a:r>
              <a:endParaRPr lang="zh-CN" altLang="en-US" sz="1405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2639" y="6270"/>
              <a:ext cx="632" cy="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2611" y="8392"/>
              <a:ext cx="632" cy="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2517" y="7857"/>
                  <a:ext cx="956" cy="5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𝒍𝒂𝒏𝒅</m:t>
                            </m:r>
                          </m:sub>
                        </m:sSub>
                      </m:oMath>
                    </m:oMathPara>
                  </a14:m>
                  <a:endParaRPr lang="zh-CN" altLang="en-US" sz="1605" b="1" i="1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7" y="7857"/>
                  <a:ext cx="956" cy="531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4820" y="7796"/>
                  <a:ext cx="956" cy="5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𝒍𝒂𝒏𝒅</m:t>
                            </m:r>
                          </m:sub>
                        </m:sSub>
                      </m:oMath>
                    </m:oMathPara>
                  </a14:m>
                  <a:endParaRPr lang="zh-CN" altLang="en-US" sz="1605" b="1" i="1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0" y="7796"/>
                  <a:ext cx="956" cy="531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4863" y="6447"/>
                  <a:ext cx="1010" cy="5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1605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𝒔𝒕𝒂𝒓𝒕</m:t>
                            </m:r>
                          </m:sub>
                        </m:sSub>
                      </m:oMath>
                    </m:oMathPara>
                  </a14:m>
                  <a:endParaRPr lang="zh-CN" altLang="en-US" sz="1605" b="1" i="1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3" y="6447"/>
                  <a:ext cx="1010" cy="53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WPS 演示</Application>
  <PresentationFormat>宽屏</PresentationFormat>
  <Paragraphs>90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2026-02-04T13:37:18Z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CE6735A26FCF42508A9CB27419A7F61C_12</vt:lpwstr>
  </property>
</Properties>
</file>