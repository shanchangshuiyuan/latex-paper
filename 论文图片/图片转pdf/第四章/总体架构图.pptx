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/>
        </p:nvSpPr>
        <p:spPr>
          <a:xfrm>
            <a:off x="6521450" y="742315"/>
            <a:ext cx="5476240" cy="6014085"/>
          </a:xfrm>
          <a:prstGeom prst="rect">
            <a:avLst/>
          </a:prstGeom>
          <a:solidFill>
            <a:srgbClr val="E6F1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51460" y="742315"/>
            <a:ext cx="5403850" cy="5930265"/>
          </a:xfrm>
          <a:prstGeom prst="rect">
            <a:avLst/>
          </a:prstGeom>
          <a:solidFill>
            <a:srgbClr val="E5EFF8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51460" y="139700"/>
            <a:ext cx="5403850" cy="602615"/>
          </a:xfrm>
          <a:prstGeom prst="rect">
            <a:avLst/>
          </a:prstGeom>
          <a:solidFill>
            <a:srgbClr val="BBD6E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离线预处理阶段</a:t>
            </a:r>
            <a:endParaRPr lang="zh-CN" sz="16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521450" y="139700"/>
            <a:ext cx="5476240" cy="602615"/>
          </a:xfrm>
          <a:prstGeom prst="rect">
            <a:avLst/>
          </a:prstGeom>
          <a:solidFill>
            <a:srgbClr val="C5DFB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实时渲染阶段</a:t>
            </a:r>
            <a:endParaRPr lang="zh-CN" altLang="en-US" sz="16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6660515" y="1224280"/>
            <a:ext cx="5201285" cy="1310005"/>
          </a:xfrm>
          <a:prstGeom prst="rect">
            <a:avLst/>
          </a:prstGeom>
          <a:solidFill>
            <a:srgbClr val="C5DEB6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82905" y="1365885"/>
            <a:ext cx="5106035" cy="595630"/>
          </a:xfrm>
          <a:prstGeom prst="rect">
            <a:avLst/>
          </a:prstGeom>
          <a:solidFill>
            <a:srgbClr val="BBD6E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输入：动画网格序列</a:t>
            </a:r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原始高精度</a:t>
            </a:r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40765" y="845820"/>
            <a:ext cx="4201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时空特征驱动的动画网格层次简化算法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3055" y="1365885"/>
            <a:ext cx="981075" cy="581025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382905" y="2306955"/>
            <a:ext cx="5106035" cy="1177925"/>
          </a:xfrm>
          <a:prstGeom prst="rect">
            <a:avLst/>
          </a:prstGeom>
          <a:solidFill>
            <a:srgbClr val="BBD6E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700530" y="2377440"/>
            <a:ext cx="26460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时空运动特征分析模块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478155" y="2769235"/>
            <a:ext cx="2418715" cy="591185"/>
          </a:xfrm>
          <a:prstGeom prst="roundRect">
            <a:avLst>
              <a:gd name="adj" fmla="val 5430"/>
            </a:avLst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空间结构特征提取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345" y="2795270"/>
            <a:ext cx="548640" cy="512445"/>
          </a:xfrm>
          <a:prstGeom prst="rect">
            <a:avLst/>
          </a:prstGeom>
        </p:spPr>
      </p:pic>
      <p:sp>
        <p:nvSpPr>
          <p:cNvPr id="38" name="圆角矩形 37"/>
          <p:cNvSpPr/>
          <p:nvPr/>
        </p:nvSpPr>
        <p:spPr>
          <a:xfrm>
            <a:off x="3004185" y="2780030"/>
            <a:ext cx="2418715" cy="591185"/>
          </a:xfrm>
          <a:prstGeom prst="roundRect">
            <a:avLst>
              <a:gd name="adj" fmla="val 5430"/>
            </a:avLst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r"/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空间结构特征提取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895" y="2886075"/>
            <a:ext cx="515620" cy="429260"/>
          </a:xfrm>
          <a:prstGeom prst="rect">
            <a:avLst/>
          </a:prstGeom>
        </p:spPr>
      </p:pic>
      <p:sp>
        <p:nvSpPr>
          <p:cNvPr id="48" name="下箭头 47"/>
          <p:cNvSpPr/>
          <p:nvPr/>
        </p:nvSpPr>
        <p:spPr>
          <a:xfrm>
            <a:off x="2702560" y="1964055"/>
            <a:ext cx="342900" cy="346710"/>
          </a:xfrm>
          <a:prstGeom prst="downArrow">
            <a:avLst/>
          </a:prstGeom>
          <a:solidFill>
            <a:srgbClr val="447FB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382905" y="3826510"/>
            <a:ext cx="5106035" cy="630555"/>
          </a:xfrm>
          <a:prstGeom prst="rect">
            <a:avLst/>
          </a:prstGeom>
          <a:solidFill>
            <a:srgbClr val="BBD6E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时空运动特征重要性度量模型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382905" y="5814060"/>
            <a:ext cx="5106035" cy="595630"/>
          </a:xfrm>
          <a:prstGeom prst="rect">
            <a:avLst/>
          </a:prstGeom>
          <a:solidFill>
            <a:srgbClr val="BBD6E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输出：多层次的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LOD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</a:t>
            </a:r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375" y="5814060"/>
            <a:ext cx="675005" cy="587375"/>
          </a:xfrm>
          <a:prstGeom prst="rect">
            <a:avLst/>
          </a:prstGeom>
        </p:spPr>
      </p:pic>
      <p:sp>
        <p:nvSpPr>
          <p:cNvPr id="92" name="下箭头 91"/>
          <p:cNvSpPr/>
          <p:nvPr/>
        </p:nvSpPr>
        <p:spPr>
          <a:xfrm>
            <a:off x="2702560" y="3478530"/>
            <a:ext cx="342900" cy="346710"/>
          </a:xfrm>
          <a:prstGeom prst="downArrow">
            <a:avLst/>
          </a:prstGeom>
          <a:solidFill>
            <a:srgbClr val="447FB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下箭头 92"/>
          <p:cNvSpPr/>
          <p:nvPr/>
        </p:nvSpPr>
        <p:spPr>
          <a:xfrm>
            <a:off x="2702560" y="4465320"/>
            <a:ext cx="342900" cy="346710"/>
          </a:xfrm>
          <a:prstGeom prst="downArrow">
            <a:avLst/>
          </a:prstGeom>
          <a:solidFill>
            <a:srgbClr val="447FB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下箭头 95"/>
          <p:cNvSpPr/>
          <p:nvPr/>
        </p:nvSpPr>
        <p:spPr>
          <a:xfrm>
            <a:off x="2702560" y="5444490"/>
            <a:ext cx="342900" cy="346710"/>
          </a:xfrm>
          <a:prstGeom prst="downArrow">
            <a:avLst/>
          </a:prstGeom>
          <a:solidFill>
            <a:srgbClr val="447FB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矩形 96"/>
          <p:cNvSpPr/>
          <p:nvPr/>
        </p:nvSpPr>
        <p:spPr>
          <a:xfrm>
            <a:off x="382905" y="4820285"/>
            <a:ext cx="5106035" cy="630555"/>
          </a:xfrm>
          <a:prstGeom prst="rect">
            <a:avLst/>
          </a:prstGeom>
          <a:solidFill>
            <a:srgbClr val="BBD6E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基于时空特征的边折叠简化算法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095" y="3830955"/>
            <a:ext cx="652145" cy="604520"/>
          </a:xfrm>
          <a:prstGeom prst="rect">
            <a:avLst/>
          </a:prstGeom>
        </p:spPr>
      </p:pic>
      <p:pic>
        <p:nvPicPr>
          <p:cNvPr id="109" name="图片 1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365" y="3888740"/>
            <a:ext cx="598805" cy="489585"/>
          </a:xfrm>
          <a:prstGeom prst="rect">
            <a:avLst/>
          </a:prstGeom>
        </p:spPr>
      </p:pic>
      <p:pic>
        <p:nvPicPr>
          <p:cNvPr id="119" name="图片 1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380" y="4885690"/>
            <a:ext cx="408305" cy="529590"/>
          </a:xfrm>
          <a:prstGeom prst="rect">
            <a:avLst/>
          </a:prstGeom>
        </p:spPr>
      </p:pic>
      <p:pic>
        <p:nvPicPr>
          <p:cNvPr id="121" name="图片 1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3895" y="4869815"/>
            <a:ext cx="641985" cy="532130"/>
          </a:xfrm>
          <a:prstGeom prst="rect">
            <a:avLst/>
          </a:prstGeom>
        </p:spPr>
      </p:pic>
      <p:sp>
        <p:nvSpPr>
          <p:cNvPr id="122" name="文本框 121"/>
          <p:cNvSpPr txBox="1"/>
          <p:nvPr/>
        </p:nvSpPr>
        <p:spPr>
          <a:xfrm>
            <a:off x="7774940" y="807085"/>
            <a:ext cx="38887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感知引导的自适应细分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LOD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算法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6936105" y="2101215"/>
            <a:ext cx="14738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基础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LOD</a:t>
            </a: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网格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7" name="圆角矩形 126"/>
          <p:cNvSpPr/>
          <p:nvPr/>
        </p:nvSpPr>
        <p:spPr>
          <a:xfrm>
            <a:off x="6776085" y="1306830"/>
            <a:ext cx="1492250" cy="1122045"/>
          </a:xfrm>
          <a:prstGeom prst="roundRect">
            <a:avLst>
              <a:gd name="adj" fmla="val 5430"/>
            </a:avLst>
          </a:prstGeom>
          <a:ln w="12700" cap="flat" cmpd="sng" algn="ctr">
            <a:solidFill>
              <a:srgbClr val="E6F1E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8397875" y="1306830"/>
            <a:ext cx="1562735" cy="1122045"/>
          </a:xfrm>
          <a:prstGeom prst="roundRect">
            <a:avLst>
              <a:gd name="adj" fmla="val 5430"/>
            </a:avLst>
          </a:prstGeom>
          <a:ln w="12700" cap="flat" cmpd="sng" algn="ctr">
            <a:solidFill>
              <a:srgbClr val="E6F1E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9" name="圆角矩形 128"/>
          <p:cNvSpPr/>
          <p:nvPr/>
        </p:nvSpPr>
        <p:spPr>
          <a:xfrm>
            <a:off x="10101580" y="1306830"/>
            <a:ext cx="1582420" cy="1122045"/>
          </a:xfrm>
          <a:prstGeom prst="roundRect">
            <a:avLst>
              <a:gd name="adj" fmla="val 5430"/>
            </a:avLst>
          </a:prstGeom>
          <a:ln w="12700" cap="flat" cmpd="sng" algn="ctr">
            <a:solidFill>
              <a:srgbClr val="E6F1E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0" name="图片 1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4380" y="1344930"/>
            <a:ext cx="777240" cy="731520"/>
          </a:xfrm>
          <a:prstGeom prst="rect">
            <a:avLst/>
          </a:prstGeom>
        </p:spPr>
      </p:pic>
      <p:sp>
        <p:nvSpPr>
          <p:cNvPr id="131" name="文本框 130"/>
          <p:cNvSpPr txBox="1"/>
          <p:nvPr/>
        </p:nvSpPr>
        <p:spPr>
          <a:xfrm>
            <a:off x="8416290" y="2065655"/>
            <a:ext cx="1631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实时注视点位置</a:t>
            </a:r>
            <a:endParaRPr 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32" name="图片 1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29650" y="1350010"/>
            <a:ext cx="1099820" cy="716915"/>
          </a:xfrm>
          <a:prstGeom prst="rect">
            <a:avLst/>
          </a:prstGeom>
        </p:spPr>
      </p:pic>
      <p:sp>
        <p:nvSpPr>
          <p:cNvPr id="135" name="文本框 134"/>
          <p:cNvSpPr txBox="1"/>
          <p:nvPr/>
        </p:nvSpPr>
        <p:spPr>
          <a:xfrm>
            <a:off x="10222230" y="2099310"/>
            <a:ext cx="1631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分辨率缩放因子</a:t>
            </a:r>
            <a:endParaRPr 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36" name="图片 13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54310" y="1369060"/>
            <a:ext cx="937260" cy="711835"/>
          </a:xfrm>
          <a:prstGeom prst="rect">
            <a:avLst/>
          </a:prstGeom>
        </p:spPr>
      </p:pic>
      <p:sp>
        <p:nvSpPr>
          <p:cNvPr id="137" name="矩形 136"/>
          <p:cNvSpPr/>
          <p:nvPr/>
        </p:nvSpPr>
        <p:spPr>
          <a:xfrm>
            <a:off x="6660515" y="2866390"/>
            <a:ext cx="5201285" cy="630555"/>
          </a:xfrm>
          <a:prstGeom prst="rect">
            <a:avLst/>
          </a:prstGeom>
          <a:solidFill>
            <a:srgbClr val="C5DEB6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基础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LOD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选择模块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38" name="图片 1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63765" y="2933700"/>
            <a:ext cx="676275" cy="497205"/>
          </a:xfrm>
          <a:prstGeom prst="rect">
            <a:avLst/>
          </a:prstGeom>
        </p:spPr>
      </p:pic>
      <p:pic>
        <p:nvPicPr>
          <p:cNvPr id="139" name="图片 1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21950" y="2933700"/>
            <a:ext cx="768985" cy="499110"/>
          </a:xfrm>
          <a:prstGeom prst="rect">
            <a:avLst/>
          </a:prstGeom>
        </p:spPr>
      </p:pic>
      <p:sp>
        <p:nvSpPr>
          <p:cNvPr id="140" name="下箭头 139"/>
          <p:cNvSpPr/>
          <p:nvPr/>
        </p:nvSpPr>
        <p:spPr>
          <a:xfrm>
            <a:off x="9059545" y="2526030"/>
            <a:ext cx="342900" cy="346710"/>
          </a:xfrm>
          <a:prstGeom prst="downArrow">
            <a:avLst/>
          </a:prstGeom>
          <a:solidFill>
            <a:srgbClr val="5A833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1" name="矩形 140"/>
          <p:cNvSpPr/>
          <p:nvPr/>
        </p:nvSpPr>
        <p:spPr>
          <a:xfrm>
            <a:off x="6661150" y="3833495"/>
            <a:ext cx="5200650" cy="630555"/>
          </a:xfrm>
          <a:prstGeom prst="rect">
            <a:avLst/>
          </a:prstGeom>
          <a:solidFill>
            <a:srgbClr val="C5DEB6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自适应细分调度模块</a:t>
            </a:r>
            <a:endParaRPr 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44" name="下箭头 143"/>
          <p:cNvSpPr/>
          <p:nvPr/>
        </p:nvSpPr>
        <p:spPr>
          <a:xfrm>
            <a:off x="9060180" y="3492500"/>
            <a:ext cx="342900" cy="346710"/>
          </a:xfrm>
          <a:prstGeom prst="downArrow">
            <a:avLst/>
          </a:prstGeom>
          <a:solidFill>
            <a:srgbClr val="5A833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5" name="图片 14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64095" y="3886200"/>
            <a:ext cx="511175" cy="536575"/>
          </a:xfrm>
          <a:prstGeom prst="rect">
            <a:avLst/>
          </a:prstGeom>
        </p:spPr>
      </p:pic>
      <p:pic>
        <p:nvPicPr>
          <p:cNvPr id="146" name="图片 14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27360" y="3860165"/>
            <a:ext cx="624205" cy="584200"/>
          </a:xfrm>
          <a:prstGeom prst="rect">
            <a:avLst/>
          </a:prstGeom>
        </p:spPr>
      </p:pic>
      <p:sp>
        <p:nvSpPr>
          <p:cNvPr id="147" name="矩形 146"/>
          <p:cNvSpPr/>
          <p:nvPr/>
        </p:nvSpPr>
        <p:spPr>
          <a:xfrm>
            <a:off x="6661150" y="4790440"/>
            <a:ext cx="5201285" cy="630555"/>
          </a:xfrm>
          <a:prstGeom prst="rect">
            <a:avLst/>
          </a:prstGeom>
          <a:solidFill>
            <a:srgbClr val="C5DEB6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GPU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硬件镶嵌单元执行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48" name="下箭头 147"/>
          <p:cNvSpPr/>
          <p:nvPr/>
        </p:nvSpPr>
        <p:spPr>
          <a:xfrm>
            <a:off x="9060180" y="4450080"/>
            <a:ext cx="342900" cy="346710"/>
          </a:xfrm>
          <a:prstGeom prst="downArrow">
            <a:avLst/>
          </a:prstGeom>
          <a:solidFill>
            <a:srgbClr val="5A833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1" name="图片 15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9645" y="4815840"/>
            <a:ext cx="677545" cy="548005"/>
          </a:xfrm>
          <a:prstGeom prst="rect">
            <a:avLst/>
          </a:prstGeom>
        </p:spPr>
      </p:pic>
      <p:pic>
        <p:nvPicPr>
          <p:cNvPr id="152" name="图片 15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27360" y="4820285"/>
            <a:ext cx="677545" cy="548005"/>
          </a:xfrm>
          <a:prstGeom prst="rect">
            <a:avLst/>
          </a:prstGeom>
        </p:spPr>
      </p:pic>
      <p:sp>
        <p:nvSpPr>
          <p:cNvPr id="156" name="矩形 155"/>
          <p:cNvSpPr/>
          <p:nvPr/>
        </p:nvSpPr>
        <p:spPr>
          <a:xfrm>
            <a:off x="6661150" y="5748020"/>
            <a:ext cx="5200650" cy="855345"/>
          </a:xfrm>
          <a:prstGeom prst="rect">
            <a:avLst/>
          </a:prstGeom>
          <a:solidFill>
            <a:srgbClr val="C5DEB6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57" name="下箭头 156"/>
          <p:cNvSpPr/>
          <p:nvPr/>
        </p:nvSpPr>
        <p:spPr>
          <a:xfrm>
            <a:off x="9060180" y="5407660"/>
            <a:ext cx="342900" cy="346710"/>
          </a:xfrm>
          <a:prstGeom prst="downArrow">
            <a:avLst/>
          </a:prstGeom>
          <a:solidFill>
            <a:srgbClr val="5A833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0" name="文本框 159"/>
          <p:cNvSpPr txBox="1"/>
          <p:nvPr/>
        </p:nvSpPr>
        <p:spPr>
          <a:xfrm>
            <a:off x="7537450" y="5850890"/>
            <a:ext cx="3386455" cy="372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输出：最终渲染画面</a:t>
            </a:r>
            <a:endParaRPr 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7807325" y="6193155"/>
            <a:ext cx="3386455" cy="323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注视区域高细节，外围区域低细节</a:t>
            </a:r>
            <a:endParaRPr lang="zh-CN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62" name="图片 16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01155" y="5855970"/>
            <a:ext cx="1155700" cy="674370"/>
          </a:xfrm>
          <a:prstGeom prst="rect">
            <a:avLst/>
          </a:prstGeom>
        </p:spPr>
      </p:pic>
      <p:pic>
        <p:nvPicPr>
          <p:cNvPr id="163" name="图片 16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32440" y="5855970"/>
            <a:ext cx="1166495" cy="675005"/>
          </a:xfrm>
          <a:prstGeom prst="rect">
            <a:avLst/>
          </a:prstGeom>
        </p:spPr>
      </p:pic>
      <p:cxnSp>
        <p:nvCxnSpPr>
          <p:cNvPr id="167" name="肘形连接符 166"/>
          <p:cNvCxnSpPr>
            <a:stCxn id="86" idx="3"/>
            <a:endCxn id="107" idx="1"/>
          </p:cNvCxnSpPr>
          <p:nvPr/>
        </p:nvCxnSpPr>
        <p:spPr>
          <a:xfrm flipV="1">
            <a:off x="5488940" y="1878965"/>
            <a:ext cx="1171575" cy="4232910"/>
          </a:xfrm>
          <a:prstGeom prst="bentConnector3">
            <a:avLst>
              <a:gd name="adj1" fmla="val 50027"/>
            </a:avLst>
          </a:prstGeom>
          <a:ln w="88900">
            <a:solidFill>
              <a:srgbClr val="447FB7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WPS 演示</Application>
  <PresentationFormat>宽屏</PresentationFormat>
  <Paragraphs>39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6</cp:revision>
  <dcterms:created xsi:type="dcterms:W3CDTF">2023-08-09T12:44:00Z</dcterms:created>
  <dcterms:modified xsi:type="dcterms:W3CDTF">2026-03-07T12:05:51Z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717B92669A254F64BDC5CA4C947F673C_12</vt:lpwstr>
  </property>
</Properties>
</file>