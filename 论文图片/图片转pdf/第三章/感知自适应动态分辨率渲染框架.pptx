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1519535" cy="611949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2" userDrawn="1">
          <p15:clr>
            <a:srgbClr val="A4A3A4"/>
          </p15:clr>
        </p15:guide>
        <p15:guide id="2" pos="35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E3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1952"/>
        <p:guide pos="35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40000" y="1001584"/>
            <a:ext cx="8640000" cy="2130667"/>
          </a:xfrm>
        </p:spPr>
        <p:txBody>
          <a:bodyPr anchor="b"/>
          <a:lstStyle>
            <a:lvl1pPr algn="ctr">
              <a:defRPr sz="535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40000" y="3214417"/>
            <a:ext cx="8640000" cy="1477583"/>
          </a:xfrm>
        </p:spPr>
        <p:txBody>
          <a:bodyPr/>
          <a:lstStyle>
            <a:lvl1pPr marL="0" indent="0" algn="ctr">
              <a:buNone/>
              <a:defRPr sz="2140"/>
            </a:lvl1pPr>
            <a:lvl2pPr marL="408305" indent="0" algn="ctr">
              <a:buNone/>
              <a:defRPr sz="1785"/>
            </a:lvl2pPr>
            <a:lvl3pPr marL="815975" indent="0" algn="ctr">
              <a:buNone/>
              <a:defRPr sz="1605"/>
            </a:lvl3pPr>
            <a:lvl4pPr marL="1224280" indent="0" algn="ctr">
              <a:buNone/>
              <a:defRPr sz="1430"/>
            </a:lvl4pPr>
            <a:lvl5pPr marL="1631950" indent="0" algn="ctr">
              <a:buNone/>
              <a:defRPr sz="1430"/>
            </a:lvl5pPr>
            <a:lvl6pPr marL="2040255" indent="0" algn="ctr">
              <a:buNone/>
              <a:defRPr sz="1430"/>
            </a:lvl6pPr>
            <a:lvl7pPr marL="2447925" indent="0" algn="ctr">
              <a:buNone/>
              <a:defRPr sz="1430"/>
            </a:lvl7pPr>
            <a:lvl8pPr marL="2856230" indent="0" algn="ctr">
              <a:buNone/>
              <a:defRPr sz="1430"/>
            </a:lvl8pPr>
            <a:lvl9pPr marL="3263900" indent="0" algn="ctr">
              <a:buNone/>
              <a:defRPr sz="143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6000" y="1525750"/>
            <a:ext cx="9936000" cy="2545749"/>
          </a:xfrm>
        </p:spPr>
        <p:txBody>
          <a:bodyPr anchor="b"/>
          <a:lstStyle>
            <a:lvl1pPr>
              <a:defRPr sz="535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6000" y="4095584"/>
            <a:ext cx="9936000" cy="1338750"/>
          </a:xfrm>
        </p:spPr>
        <p:txBody>
          <a:bodyPr/>
          <a:lstStyle>
            <a:lvl1pPr marL="0" indent="0">
              <a:buNone/>
              <a:defRPr sz="2140">
                <a:solidFill>
                  <a:schemeClr val="tx1">
                    <a:tint val="75000"/>
                  </a:schemeClr>
                </a:solidFill>
              </a:defRPr>
            </a:lvl1pPr>
            <a:lvl2pPr marL="408305" indent="0">
              <a:buNone/>
              <a:defRPr sz="1785">
                <a:solidFill>
                  <a:schemeClr val="tx1">
                    <a:tint val="75000"/>
                  </a:schemeClr>
                </a:solidFill>
              </a:defRPr>
            </a:lvl2pPr>
            <a:lvl3pPr marL="815975" indent="0">
              <a:buNone/>
              <a:defRPr sz="1605">
                <a:solidFill>
                  <a:schemeClr val="tx1">
                    <a:tint val="75000"/>
                  </a:schemeClr>
                </a:solidFill>
              </a:defRPr>
            </a:lvl3pPr>
            <a:lvl4pPr marL="1224280" indent="0">
              <a:buNone/>
              <a:defRPr sz="1430">
                <a:solidFill>
                  <a:schemeClr val="tx1">
                    <a:tint val="75000"/>
                  </a:schemeClr>
                </a:solidFill>
              </a:defRPr>
            </a:lvl4pPr>
            <a:lvl5pPr marL="1631950" indent="0">
              <a:buNone/>
              <a:defRPr sz="1430">
                <a:solidFill>
                  <a:schemeClr val="tx1">
                    <a:tint val="75000"/>
                  </a:schemeClr>
                </a:solidFill>
              </a:defRPr>
            </a:lvl5pPr>
            <a:lvl6pPr marL="2040255" indent="0">
              <a:buNone/>
              <a:defRPr sz="1430">
                <a:solidFill>
                  <a:schemeClr val="tx1">
                    <a:tint val="75000"/>
                  </a:schemeClr>
                </a:solidFill>
              </a:defRPr>
            </a:lvl6pPr>
            <a:lvl7pPr marL="2447925" indent="0">
              <a:buNone/>
              <a:defRPr sz="1430">
                <a:solidFill>
                  <a:schemeClr val="tx1">
                    <a:tint val="75000"/>
                  </a:schemeClr>
                </a:solidFill>
              </a:defRPr>
            </a:lvl7pPr>
            <a:lvl8pPr marL="2856230" indent="0">
              <a:buNone/>
              <a:defRPr sz="1430">
                <a:solidFill>
                  <a:schemeClr val="tx1">
                    <a:tint val="75000"/>
                  </a:schemeClr>
                </a:solidFill>
              </a:defRPr>
            </a:lvl8pPr>
            <a:lvl9pPr marL="3263900" indent="0">
              <a:buNone/>
              <a:defRPr sz="143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92000" y="1629167"/>
            <a:ext cx="4896000" cy="38830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2000" y="1629167"/>
            <a:ext cx="4896000" cy="38830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3500" y="325833"/>
            <a:ext cx="9936000" cy="118291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93500" y="1500250"/>
            <a:ext cx="4873500" cy="735250"/>
          </a:xfrm>
        </p:spPr>
        <p:txBody>
          <a:bodyPr anchor="b"/>
          <a:lstStyle>
            <a:lvl1pPr marL="0" indent="0">
              <a:buNone/>
              <a:defRPr sz="2140" b="1"/>
            </a:lvl1pPr>
            <a:lvl2pPr marL="408305" indent="0">
              <a:buNone/>
              <a:defRPr sz="1785" b="1"/>
            </a:lvl2pPr>
            <a:lvl3pPr marL="815975" indent="0">
              <a:buNone/>
              <a:defRPr sz="1605" b="1"/>
            </a:lvl3pPr>
            <a:lvl4pPr marL="1224280" indent="0">
              <a:buNone/>
              <a:defRPr sz="1430" b="1"/>
            </a:lvl4pPr>
            <a:lvl5pPr marL="1631950" indent="0">
              <a:buNone/>
              <a:defRPr sz="1430" b="1"/>
            </a:lvl5pPr>
            <a:lvl6pPr marL="2040255" indent="0">
              <a:buNone/>
              <a:defRPr sz="1430" b="1"/>
            </a:lvl6pPr>
            <a:lvl7pPr marL="2447925" indent="0">
              <a:buNone/>
              <a:defRPr sz="1430" b="1"/>
            </a:lvl7pPr>
            <a:lvl8pPr marL="2856230" indent="0">
              <a:buNone/>
              <a:defRPr sz="1430" b="1"/>
            </a:lvl8pPr>
            <a:lvl9pPr marL="3263900" indent="0">
              <a:buNone/>
              <a:defRPr sz="143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93500" y="2235500"/>
            <a:ext cx="4873500" cy="32880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32000" y="1500250"/>
            <a:ext cx="4897501" cy="735250"/>
          </a:xfrm>
        </p:spPr>
        <p:txBody>
          <a:bodyPr anchor="b"/>
          <a:lstStyle>
            <a:lvl1pPr marL="0" indent="0">
              <a:buNone/>
              <a:defRPr sz="2140" b="1"/>
            </a:lvl1pPr>
            <a:lvl2pPr marL="408305" indent="0">
              <a:buNone/>
              <a:defRPr sz="1785" b="1"/>
            </a:lvl2pPr>
            <a:lvl3pPr marL="815975" indent="0">
              <a:buNone/>
              <a:defRPr sz="1605" b="1"/>
            </a:lvl3pPr>
            <a:lvl4pPr marL="1224280" indent="0">
              <a:buNone/>
              <a:defRPr sz="1430" b="1"/>
            </a:lvl4pPr>
            <a:lvl5pPr marL="1631950" indent="0">
              <a:buNone/>
              <a:defRPr sz="1430" b="1"/>
            </a:lvl5pPr>
            <a:lvl6pPr marL="2040255" indent="0">
              <a:buNone/>
              <a:defRPr sz="1430" b="1"/>
            </a:lvl6pPr>
            <a:lvl7pPr marL="2447925" indent="0">
              <a:buNone/>
              <a:defRPr sz="1430" b="1"/>
            </a:lvl7pPr>
            <a:lvl8pPr marL="2856230" indent="0">
              <a:buNone/>
              <a:defRPr sz="1430" b="1"/>
            </a:lvl8pPr>
            <a:lvl9pPr marL="3263900" indent="0">
              <a:buNone/>
              <a:defRPr sz="143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32000" y="2235500"/>
            <a:ext cx="4897501" cy="32880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3500" y="408000"/>
            <a:ext cx="3715500" cy="1428000"/>
          </a:xfrm>
        </p:spPr>
        <p:txBody>
          <a:bodyPr anchor="b"/>
          <a:lstStyle>
            <a:lvl1pPr>
              <a:defRPr sz="285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97501" y="881167"/>
            <a:ext cx="5832000" cy="4349167"/>
          </a:xfrm>
        </p:spPr>
        <p:txBody>
          <a:bodyPr/>
          <a:lstStyle>
            <a:lvl1pPr>
              <a:defRPr sz="2855"/>
            </a:lvl1pPr>
            <a:lvl2pPr>
              <a:defRPr sz="2500"/>
            </a:lvl2pPr>
            <a:lvl3pPr>
              <a:defRPr sz="2140"/>
            </a:lvl3pPr>
            <a:lvl4pPr>
              <a:defRPr sz="1785"/>
            </a:lvl4pPr>
            <a:lvl5pPr>
              <a:defRPr sz="1785"/>
            </a:lvl5pPr>
            <a:lvl6pPr>
              <a:defRPr sz="1785"/>
            </a:lvl6pPr>
            <a:lvl7pPr>
              <a:defRPr sz="1785"/>
            </a:lvl7pPr>
            <a:lvl8pPr>
              <a:defRPr sz="1785"/>
            </a:lvl8pPr>
            <a:lvl9pPr>
              <a:defRPr sz="178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93500" y="1836000"/>
            <a:ext cx="3715500" cy="3401417"/>
          </a:xfrm>
        </p:spPr>
        <p:txBody>
          <a:bodyPr/>
          <a:lstStyle>
            <a:lvl1pPr marL="0" indent="0">
              <a:buNone/>
              <a:defRPr sz="1430"/>
            </a:lvl1pPr>
            <a:lvl2pPr marL="408305" indent="0">
              <a:buNone/>
              <a:defRPr sz="1250"/>
            </a:lvl2pPr>
            <a:lvl3pPr marL="815975" indent="0">
              <a:buNone/>
              <a:defRPr sz="1070"/>
            </a:lvl3pPr>
            <a:lvl4pPr marL="1224280" indent="0">
              <a:buNone/>
              <a:defRPr sz="890"/>
            </a:lvl4pPr>
            <a:lvl5pPr marL="1631950" indent="0">
              <a:buNone/>
              <a:defRPr sz="890"/>
            </a:lvl5pPr>
            <a:lvl6pPr marL="2040255" indent="0">
              <a:buNone/>
              <a:defRPr sz="890"/>
            </a:lvl6pPr>
            <a:lvl7pPr marL="2447925" indent="0">
              <a:buNone/>
              <a:defRPr sz="890"/>
            </a:lvl7pPr>
            <a:lvl8pPr marL="2856230" indent="0">
              <a:buNone/>
              <a:defRPr sz="890"/>
            </a:lvl8pPr>
            <a:lvl9pPr marL="3263900" indent="0">
              <a:buNone/>
              <a:defRPr sz="89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3500" y="408000"/>
            <a:ext cx="3715500" cy="1428000"/>
          </a:xfrm>
        </p:spPr>
        <p:txBody>
          <a:bodyPr anchor="b"/>
          <a:lstStyle>
            <a:lvl1pPr>
              <a:defRPr sz="285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897501" y="881167"/>
            <a:ext cx="5832000" cy="4349167"/>
          </a:xfrm>
        </p:spPr>
        <p:txBody>
          <a:bodyPr/>
          <a:lstStyle>
            <a:lvl1pPr marL="0" indent="0">
              <a:buNone/>
              <a:defRPr sz="2855"/>
            </a:lvl1pPr>
            <a:lvl2pPr marL="408305" indent="0">
              <a:buNone/>
              <a:defRPr sz="2500"/>
            </a:lvl2pPr>
            <a:lvl3pPr marL="815975" indent="0">
              <a:buNone/>
              <a:defRPr sz="2140"/>
            </a:lvl3pPr>
            <a:lvl4pPr marL="1224280" indent="0">
              <a:buNone/>
              <a:defRPr sz="1785"/>
            </a:lvl4pPr>
            <a:lvl5pPr marL="1631950" indent="0">
              <a:buNone/>
              <a:defRPr sz="1785"/>
            </a:lvl5pPr>
            <a:lvl6pPr marL="2040255" indent="0">
              <a:buNone/>
              <a:defRPr sz="1785"/>
            </a:lvl6pPr>
            <a:lvl7pPr marL="2447925" indent="0">
              <a:buNone/>
              <a:defRPr sz="1785"/>
            </a:lvl7pPr>
            <a:lvl8pPr marL="2856230" indent="0">
              <a:buNone/>
              <a:defRPr sz="1785"/>
            </a:lvl8pPr>
            <a:lvl9pPr marL="3263900" indent="0">
              <a:buNone/>
              <a:defRPr sz="178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93500" y="1836000"/>
            <a:ext cx="3715500" cy="3401417"/>
          </a:xfrm>
        </p:spPr>
        <p:txBody>
          <a:bodyPr/>
          <a:lstStyle>
            <a:lvl1pPr marL="0" indent="0">
              <a:buNone/>
              <a:defRPr sz="1430"/>
            </a:lvl1pPr>
            <a:lvl2pPr marL="408305" indent="0">
              <a:buNone/>
              <a:defRPr sz="1250"/>
            </a:lvl2pPr>
            <a:lvl3pPr marL="815975" indent="0">
              <a:buNone/>
              <a:defRPr sz="1070"/>
            </a:lvl3pPr>
            <a:lvl4pPr marL="1224280" indent="0">
              <a:buNone/>
              <a:defRPr sz="890"/>
            </a:lvl4pPr>
            <a:lvl5pPr marL="1631950" indent="0">
              <a:buNone/>
              <a:defRPr sz="890"/>
            </a:lvl5pPr>
            <a:lvl6pPr marL="2040255" indent="0">
              <a:buNone/>
              <a:defRPr sz="890"/>
            </a:lvl6pPr>
            <a:lvl7pPr marL="2447925" indent="0">
              <a:buNone/>
              <a:defRPr sz="890"/>
            </a:lvl7pPr>
            <a:lvl8pPr marL="2856230" indent="0">
              <a:buNone/>
              <a:defRPr sz="890"/>
            </a:lvl8pPr>
            <a:lvl9pPr marL="3263900" indent="0">
              <a:buNone/>
              <a:defRPr sz="89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244000" y="325833"/>
            <a:ext cx="2484000" cy="518641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92000" y="325833"/>
            <a:ext cx="7308000" cy="518641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92000" y="325833"/>
            <a:ext cx="9936000" cy="11829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92000" y="1629167"/>
            <a:ext cx="9936000" cy="38830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92000" y="5672333"/>
            <a:ext cx="2592000" cy="325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816000" y="5672333"/>
            <a:ext cx="3888000" cy="325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136000" y="5672333"/>
            <a:ext cx="2592000" cy="325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815975" rtl="0" eaLnBrk="1" latinLnBrk="0" hangingPunct="1">
        <a:lnSpc>
          <a:spcPct val="90000"/>
        </a:lnSpc>
        <a:spcBef>
          <a:spcPct val="0"/>
        </a:spcBef>
        <a:buNone/>
        <a:defRPr sz="39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3835" indent="-203835" algn="l" defTabSz="815975" rtl="0" eaLnBrk="1" latinLnBrk="0" hangingPunct="1">
        <a:lnSpc>
          <a:spcPct val="90000"/>
        </a:lnSpc>
        <a:spcBef>
          <a:spcPct val="179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1pPr>
      <a:lvl2pPr marL="612140" indent="-203835" algn="l" defTabSz="815975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2140" kern="1200">
          <a:solidFill>
            <a:schemeClr val="tx1"/>
          </a:solidFill>
          <a:latin typeface="+mn-lt"/>
          <a:ea typeface="+mn-ea"/>
          <a:cs typeface="+mn-cs"/>
        </a:defRPr>
      </a:lvl2pPr>
      <a:lvl3pPr marL="1019810" indent="-203835" algn="l" defTabSz="815975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785" kern="1200">
          <a:solidFill>
            <a:schemeClr val="tx1"/>
          </a:solidFill>
          <a:latin typeface="+mn-lt"/>
          <a:ea typeface="+mn-ea"/>
          <a:cs typeface="+mn-cs"/>
        </a:defRPr>
      </a:lvl3pPr>
      <a:lvl4pPr marL="1428115" indent="-203835" algn="l" defTabSz="815975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4pPr>
      <a:lvl5pPr marL="1835785" indent="-203835" algn="l" defTabSz="815975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5pPr>
      <a:lvl6pPr marL="2244090" indent="-203835" algn="l" defTabSz="815975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6pPr>
      <a:lvl7pPr marL="2651760" indent="-203835" algn="l" defTabSz="815975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7pPr>
      <a:lvl8pPr marL="3060065" indent="-203835" algn="l" defTabSz="815975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8pPr>
      <a:lvl9pPr marL="3467735" indent="-203835" algn="l" defTabSz="815975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15975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1pPr>
      <a:lvl2pPr marL="408305" algn="l" defTabSz="815975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2pPr>
      <a:lvl3pPr marL="815975" algn="l" defTabSz="815975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3pPr>
      <a:lvl4pPr marL="1224280" algn="l" defTabSz="815975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4pPr>
      <a:lvl5pPr marL="1631950" algn="l" defTabSz="815975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5pPr>
      <a:lvl6pPr marL="2040255" algn="l" defTabSz="815975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6pPr>
      <a:lvl7pPr marL="2447925" algn="l" defTabSz="815975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7pPr>
      <a:lvl8pPr marL="2856230" algn="l" defTabSz="815975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8pPr>
      <a:lvl9pPr marL="3263900" algn="l" defTabSz="815975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" name="矩形 39"/>
          <p:cNvSpPr/>
          <p:nvPr/>
        </p:nvSpPr>
        <p:spPr>
          <a:xfrm>
            <a:off x="9072245" y="125095"/>
            <a:ext cx="2261870" cy="5957570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EFEFEF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85725" y="88900"/>
            <a:ext cx="2261870" cy="5957570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191770" y="505460"/>
            <a:ext cx="2023110" cy="459740"/>
          </a:xfrm>
          <a:prstGeom prst="rect">
            <a:avLst/>
          </a:prstGeom>
          <a:solidFill>
            <a:srgbClr val="BFD8EC"/>
          </a:solidFill>
          <a:ln>
            <a:solidFill>
              <a:srgbClr val="BDD6EC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  </a:t>
            </a:r>
            <a:r>
              <a:rPr lang="en-US" altLang="zh-CN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眼动追踪数据</a:t>
            </a:r>
            <a:endParaRPr lang="en-US" altLang="zh-CN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191770" y="965200"/>
            <a:ext cx="2023110" cy="586105"/>
          </a:xfrm>
          <a:prstGeom prst="rect">
            <a:avLst/>
          </a:prstGeom>
          <a:solidFill>
            <a:srgbClr val="FFFFFF"/>
          </a:solidFill>
          <a:ln>
            <a:solidFill>
              <a:srgbClr val="BDD6EC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5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15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注视点坐标</a:t>
            </a:r>
            <a:endParaRPr lang="zh-CN" altLang="en-US" sz="15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5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·</a:t>
            </a:r>
            <a:r>
              <a:rPr lang="zh-CN" altLang="en-US" sz="15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眼球角速度</a:t>
            </a:r>
            <a:endParaRPr lang="zh-CN" altLang="en-US" sz="15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191770" y="1624965"/>
            <a:ext cx="2023110" cy="459740"/>
          </a:xfrm>
          <a:prstGeom prst="rect">
            <a:avLst/>
          </a:prstGeom>
          <a:solidFill>
            <a:srgbClr val="BFD8EC"/>
          </a:solidFill>
          <a:ln>
            <a:solidFill>
              <a:srgbClr val="BDD6EC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时序时间标记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91770" y="2084705"/>
            <a:ext cx="2023110" cy="710565"/>
          </a:xfrm>
          <a:prstGeom prst="rect">
            <a:avLst/>
          </a:prstGeom>
          <a:solidFill>
            <a:srgbClr val="FFFFFF"/>
          </a:solidFill>
          <a:ln>
            <a:solidFill>
              <a:srgbClr val="BDD6EC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5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15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扫视开始时间</a:t>
            </a:r>
            <a:endParaRPr lang="zh-CN" altLang="en-US" sz="15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5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·</a:t>
            </a:r>
            <a:r>
              <a:rPr lang="zh-CN" altLang="en-US" sz="15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扫视结束时间</a:t>
            </a:r>
            <a:endParaRPr lang="zh-CN" altLang="en-US" sz="15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en-US" altLang="zh-CN" sz="15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·</a:t>
            </a:r>
            <a:r>
              <a:rPr lang="zh-CN" altLang="en-US" sz="15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窗口状态</a:t>
            </a:r>
            <a:endParaRPr lang="zh-CN" altLang="en-US" sz="15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191770" y="2869565"/>
            <a:ext cx="2023110" cy="459740"/>
          </a:xfrm>
          <a:prstGeom prst="rect">
            <a:avLst/>
          </a:prstGeom>
          <a:solidFill>
            <a:srgbClr val="BFD8EC"/>
          </a:solidFill>
          <a:ln>
            <a:solidFill>
              <a:srgbClr val="BDD6EC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场景</a:t>
            </a:r>
            <a:r>
              <a:rPr lang="en-US" altLang="zh-CN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内容</a:t>
            </a:r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参数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191770" y="3329305"/>
            <a:ext cx="2023110" cy="1475105"/>
          </a:xfrm>
          <a:prstGeom prst="rect">
            <a:avLst/>
          </a:prstGeom>
          <a:solidFill>
            <a:srgbClr val="FFFFFF"/>
          </a:solidFill>
          <a:ln>
            <a:solidFill>
              <a:srgbClr val="BDD6EC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5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15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平均亮度</a:t>
            </a:r>
            <a:endParaRPr lang="zh-CN" altLang="en-US" sz="15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5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·</a:t>
            </a:r>
            <a:r>
              <a:rPr lang="zh-CN" altLang="en-US" sz="15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空间频率</a:t>
            </a:r>
            <a:endParaRPr lang="zh-CN" altLang="en-US" sz="15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en-US" altLang="zh-CN" sz="15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·</a:t>
            </a:r>
            <a:r>
              <a:rPr lang="zh-CN" altLang="en-US" sz="15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时间频率</a:t>
            </a:r>
            <a:endParaRPr lang="zh-CN" altLang="en-US" sz="15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en-US" altLang="zh-CN" sz="15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·</a:t>
            </a:r>
            <a:r>
              <a:rPr lang="zh-CN" altLang="en-US" sz="15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色彩</a:t>
            </a:r>
            <a:endParaRPr lang="zh-CN" altLang="en-US" sz="15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en-US" altLang="zh-CN" sz="15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·</a:t>
            </a:r>
            <a:r>
              <a:rPr lang="zh-CN" altLang="en-US" sz="15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偏心度</a:t>
            </a:r>
            <a:endParaRPr lang="zh-CN" altLang="en-US" sz="15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en-US" altLang="zh-CN" sz="15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·</a:t>
            </a:r>
            <a:r>
              <a:rPr lang="zh-CN" altLang="en-US" sz="15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刺激面积</a:t>
            </a:r>
            <a:endParaRPr lang="zh-CN" altLang="en-US" sz="15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191135" y="4893945"/>
            <a:ext cx="2032635" cy="459740"/>
          </a:xfrm>
          <a:prstGeom prst="rect">
            <a:avLst/>
          </a:prstGeom>
          <a:solidFill>
            <a:srgbClr val="BFD8EC"/>
          </a:solidFill>
          <a:ln>
            <a:solidFill>
              <a:srgbClr val="BDD6EC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设备物理参数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91135" y="5353685"/>
            <a:ext cx="2032635" cy="619125"/>
          </a:xfrm>
          <a:prstGeom prst="rect">
            <a:avLst/>
          </a:prstGeom>
          <a:solidFill>
            <a:srgbClr val="FFFFFF"/>
          </a:solidFill>
          <a:ln>
            <a:solidFill>
              <a:srgbClr val="BDD6EC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5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15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像素密度</a:t>
            </a:r>
            <a:endParaRPr lang="zh-CN" altLang="en-US" sz="15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5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·</a:t>
            </a:r>
            <a:r>
              <a:rPr lang="zh-CN" altLang="en-US" sz="15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奈奎斯特频率</a:t>
            </a:r>
            <a:endParaRPr lang="zh-CN" altLang="en-US" sz="15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643255" y="133985"/>
            <a:ext cx="1104900" cy="352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7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输入模块</a:t>
            </a:r>
            <a:endParaRPr lang="zh-CN" altLang="en-US" sz="17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2815590" y="88900"/>
            <a:ext cx="5680075" cy="5957570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EFEFEF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矩形 58"/>
          <p:cNvSpPr/>
          <p:nvPr/>
        </p:nvSpPr>
        <p:spPr>
          <a:xfrm>
            <a:off x="2959100" y="505460"/>
            <a:ext cx="5410835" cy="459740"/>
          </a:xfrm>
          <a:prstGeom prst="rect">
            <a:avLst/>
          </a:prstGeom>
          <a:solidFill>
            <a:srgbClr val="D8E3F1"/>
          </a:solidFill>
          <a:ln>
            <a:solidFill>
              <a:srgbClr val="BDD6EC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2959100" y="1346200"/>
            <a:ext cx="5412105" cy="459740"/>
          </a:xfrm>
          <a:prstGeom prst="rect">
            <a:avLst/>
          </a:prstGeom>
          <a:solidFill>
            <a:srgbClr val="D8E3F1"/>
          </a:solidFill>
          <a:ln>
            <a:solidFill>
              <a:srgbClr val="BDD6EC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2959100" y="2092960"/>
            <a:ext cx="5412105" cy="459740"/>
          </a:xfrm>
          <a:prstGeom prst="rect">
            <a:avLst/>
          </a:prstGeom>
          <a:solidFill>
            <a:srgbClr val="D8E3F1"/>
          </a:solidFill>
          <a:ln>
            <a:solidFill>
              <a:srgbClr val="BDD6EC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2959100" y="2766695"/>
            <a:ext cx="5411470" cy="1288415"/>
          </a:xfrm>
          <a:prstGeom prst="rect">
            <a:avLst/>
          </a:prstGeom>
          <a:solidFill>
            <a:srgbClr val="A6CB86"/>
          </a:solidFill>
          <a:ln>
            <a:solidFill>
              <a:srgbClr val="BDD6EC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solidFill>
                <a:srgbClr val="FEF1C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3039110" y="3185160"/>
            <a:ext cx="1638935" cy="683260"/>
          </a:xfrm>
          <a:prstGeom prst="rect">
            <a:avLst/>
          </a:prstGeom>
          <a:solidFill>
            <a:srgbClr val="DFEDD3"/>
          </a:solidFill>
          <a:ln>
            <a:solidFill>
              <a:srgbClr val="BDD6EC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扫视窗口策略</a:t>
            </a:r>
            <a:endParaRPr lang="zh-CN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前瞻性激进降采样</a:t>
            </a:r>
            <a:endParaRPr lang="zh-CN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4805045" y="3185160"/>
            <a:ext cx="1638935" cy="683260"/>
          </a:xfrm>
          <a:prstGeom prst="rect">
            <a:avLst/>
          </a:prstGeom>
          <a:solidFill>
            <a:srgbClr val="DFEDD3"/>
          </a:solidFill>
          <a:ln>
            <a:solidFill>
              <a:srgbClr val="BDD6EC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恢复窗口策略</a:t>
            </a:r>
            <a:endParaRPr lang="zh-CN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动态平滑恢复</a:t>
            </a:r>
            <a:endParaRPr lang="zh-CN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6603365" y="3185160"/>
            <a:ext cx="1638935" cy="683260"/>
          </a:xfrm>
          <a:prstGeom prst="rect">
            <a:avLst/>
          </a:prstGeom>
          <a:solidFill>
            <a:srgbClr val="DFEDD3"/>
          </a:solidFill>
          <a:ln>
            <a:solidFill>
              <a:srgbClr val="BDD6EC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稳定注视期策略</a:t>
            </a:r>
            <a:endParaRPr lang="zh-CN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全分辨率渲染</a:t>
            </a:r>
            <a:endParaRPr lang="zh-CN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2959100" y="4269105"/>
            <a:ext cx="5412105" cy="998855"/>
          </a:xfrm>
          <a:prstGeom prst="rect">
            <a:avLst/>
          </a:prstGeom>
          <a:solidFill>
            <a:srgbClr val="D8E3F1"/>
          </a:solidFill>
          <a:ln>
            <a:solidFill>
              <a:srgbClr val="BDD6EC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2951480" y="582295"/>
            <a:ext cx="54197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状态上下文构建模块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</a:t>
            </a:r>
            <a:endParaRPr lang="en-US" altLang="zh-CN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2951480" y="1414145"/>
            <a:ext cx="52908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感知临界分辨率求解模块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2959100" y="2186940"/>
            <a:ext cx="54114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分辨率缩因子计算模块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2959100" y="2813050"/>
            <a:ext cx="54127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时空分辨率调度器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2959100" y="4533265"/>
            <a:ext cx="17195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动态多分辨率场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构建模块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101" name="图片 1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2800" y="4259580"/>
            <a:ext cx="1289685" cy="1000125"/>
          </a:xfrm>
          <a:prstGeom prst="rect">
            <a:avLst/>
          </a:prstGeom>
        </p:spPr>
      </p:pic>
      <p:sp>
        <p:nvSpPr>
          <p:cNvPr id="110" name="文本框 109"/>
          <p:cNvSpPr txBox="1"/>
          <p:nvPr/>
        </p:nvSpPr>
        <p:spPr>
          <a:xfrm>
            <a:off x="5213350" y="4622165"/>
            <a:ext cx="144843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注视点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7131050" y="4309110"/>
            <a:ext cx="144843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偏心度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7159625" y="4940935"/>
            <a:ext cx="144843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偏心度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13" name="矩形 112"/>
          <p:cNvSpPr/>
          <p:nvPr/>
        </p:nvSpPr>
        <p:spPr>
          <a:xfrm>
            <a:off x="2951480" y="5515610"/>
            <a:ext cx="5412105" cy="459740"/>
          </a:xfrm>
          <a:prstGeom prst="rect">
            <a:avLst/>
          </a:prstGeom>
          <a:solidFill>
            <a:srgbClr val="D8E3F1"/>
          </a:solidFill>
          <a:ln>
            <a:solidFill>
              <a:srgbClr val="BDD6EC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2951480" y="5581015"/>
            <a:ext cx="54114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渲染管线集成模块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9709785" y="152400"/>
            <a:ext cx="1579880" cy="352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7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输出模块</a:t>
            </a:r>
            <a:endParaRPr lang="zh-CN" altLang="en-US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4805680" y="134620"/>
            <a:ext cx="1864995" cy="352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17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核心处理流水线</a:t>
            </a:r>
            <a:endParaRPr lang="zh-CN" altLang="en-US" sz="1700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9152890" y="505460"/>
            <a:ext cx="2082165" cy="459740"/>
          </a:xfrm>
          <a:prstGeom prst="rect">
            <a:avLst/>
          </a:prstGeom>
          <a:solidFill>
            <a:srgbClr val="BFD8EC"/>
          </a:solidFill>
          <a:ln>
            <a:solidFill>
              <a:srgbClr val="BDD6EC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多分辨率渲染结果</a:t>
            </a:r>
            <a:endParaRPr lang="en-US" altLang="zh-CN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9152890" y="965200"/>
            <a:ext cx="2082165" cy="3023870"/>
          </a:xfrm>
          <a:prstGeom prst="rect">
            <a:avLst/>
          </a:prstGeom>
          <a:solidFill>
            <a:srgbClr val="FFFFFF"/>
          </a:solidFill>
          <a:ln>
            <a:solidFill>
              <a:srgbClr val="BDD6EC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zh-CN" altLang="en-US" sz="13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20" name="图片 1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1940" y="972820"/>
            <a:ext cx="2053590" cy="2953385"/>
          </a:xfrm>
          <a:prstGeom prst="rect">
            <a:avLst/>
          </a:prstGeom>
        </p:spPr>
      </p:pic>
      <p:sp>
        <p:nvSpPr>
          <p:cNvPr id="123" name="矩形 122"/>
          <p:cNvSpPr/>
          <p:nvPr/>
        </p:nvSpPr>
        <p:spPr>
          <a:xfrm>
            <a:off x="9162415" y="4317365"/>
            <a:ext cx="2072640" cy="459740"/>
          </a:xfrm>
          <a:prstGeom prst="rect">
            <a:avLst/>
          </a:prstGeom>
          <a:solidFill>
            <a:srgbClr val="BFD8EC"/>
          </a:solidFill>
          <a:ln>
            <a:solidFill>
              <a:srgbClr val="BDD6EC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性能指标</a:t>
            </a:r>
            <a:endParaRPr lang="en-US" altLang="zh-CN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24" name="矩形 123"/>
          <p:cNvSpPr/>
          <p:nvPr/>
        </p:nvSpPr>
        <p:spPr>
          <a:xfrm>
            <a:off x="9162415" y="4777105"/>
            <a:ext cx="2072640" cy="1195705"/>
          </a:xfrm>
          <a:prstGeom prst="rect">
            <a:avLst/>
          </a:prstGeom>
          <a:solidFill>
            <a:srgbClr val="FFFFFF"/>
          </a:solidFill>
          <a:ln>
            <a:solidFill>
              <a:srgbClr val="BDD6EC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25" name="文本框 124"/>
          <p:cNvSpPr txBox="1"/>
          <p:nvPr/>
        </p:nvSpPr>
        <p:spPr>
          <a:xfrm>
            <a:off x="9763760" y="4834255"/>
            <a:ext cx="8928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高帧率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42" name="文本框 141"/>
          <p:cNvSpPr txBox="1"/>
          <p:nvPr/>
        </p:nvSpPr>
        <p:spPr>
          <a:xfrm>
            <a:off x="9766935" y="5227955"/>
            <a:ext cx="8928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低延迟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43" name="文本框 142"/>
          <p:cNvSpPr txBox="1"/>
          <p:nvPr/>
        </p:nvSpPr>
        <p:spPr>
          <a:xfrm>
            <a:off x="9776460" y="5601335"/>
            <a:ext cx="14490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GPU</a:t>
            </a:r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负载降低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144" name="图片 1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4660" y="4804410"/>
            <a:ext cx="409575" cy="337820"/>
          </a:xfrm>
          <a:prstGeom prst="rect">
            <a:avLst/>
          </a:prstGeom>
        </p:spPr>
      </p:pic>
      <p:pic>
        <p:nvPicPr>
          <p:cNvPr id="145" name="图片 1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6570" y="5180330"/>
            <a:ext cx="352425" cy="382905"/>
          </a:xfrm>
          <a:prstGeom prst="rect">
            <a:avLst/>
          </a:prstGeom>
        </p:spPr>
      </p:pic>
      <p:pic>
        <p:nvPicPr>
          <p:cNvPr id="146" name="图片 14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5610" y="5525135"/>
            <a:ext cx="428625" cy="405130"/>
          </a:xfrm>
          <a:prstGeom prst="rect">
            <a:avLst/>
          </a:prstGeom>
        </p:spPr>
      </p:pic>
      <p:pic>
        <p:nvPicPr>
          <p:cNvPr id="147" name="图片 14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570" y="587375"/>
            <a:ext cx="522605" cy="292100"/>
          </a:xfrm>
          <a:prstGeom prst="rect">
            <a:avLst/>
          </a:prstGeom>
          <a:solidFill>
            <a:srgbClr val="D7D9D8"/>
          </a:solidFill>
          <a:ln>
            <a:solidFill>
              <a:srgbClr val="BDD6EC"/>
            </a:solidFill>
          </a:ln>
        </p:spPr>
      </p:pic>
      <p:pic>
        <p:nvPicPr>
          <p:cNvPr id="148" name="图片 14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6700" y="1673860"/>
            <a:ext cx="471805" cy="371475"/>
          </a:xfrm>
          <a:prstGeom prst="rect">
            <a:avLst/>
          </a:prstGeom>
        </p:spPr>
      </p:pic>
      <p:pic>
        <p:nvPicPr>
          <p:cNvPr id="149" name="图片 14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7340" y="2892425"/>
            <a:ext cx="465455" cy="427355"/>
          </a:xfrm>
          <a:prstGeom prst="rect">
            <a:avLst/>
          </a:prstGeom>
        </p:spPr>
      </p:pic>
      <p:pic>
        <p:nvPicPr>
          <p:cNvPr id="160" name="图片 15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0670" y="4938395"/>
            <a:ext cx="476250" cy="349250"/>
          </a:xfrm>
          <a:prstGeom prst="rect">
            <a:avLst/>
          </a:prstGeom>
        </p:spPr>
      </p:pic>
      <p:cxnSp>
        <p:nvCxnSpPr>
          <p:cNvPr id="161" name="肘形连接符 160"/>
          <p:cNvCxnSpPr>
            <a:stCxn id="55" idx="3"/>
            <a:endCxn id="73" idx="1"/>
          </p:cNvCxnSpPr>
          <p:nvPr/>
        </p:nvCxnSpPr>
        <p:spPr>
          <a:xfrm flipV="1">
            <a:off x="2223770" y="751205"/>
            <a:ext cx="727710" cy="437261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2" name="肘形连接符 161"/>
          <p:cNvCxnSpPr>
            <a:stCxn id="51" idx="3"/>
            <a:endCxn id="73" idx="1"/>
          </p:cNvCxnSpPr>
          <p:nvPr/>
        </p:nvCxnSpPr>
        <p:spPr>
          <a:xfrm flipV="1">
            <a:off x="2214880" y="751205"/>
            <a:ext cx="736600" cy="234823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3" name="肘形连接符 162"/>
          <p:cNvCxnSpPr>
            <a:stCxn id="46" idx="3"/>
            <a:endCxn id="73" idx="1"/>
          </p:cNvCxnSpPr>
          <p:nvPr/>
        </p:nvCxnSpPr>
        <p:spPr>
          <a:xfrm flipV="1">
            <a:off x="2214880" y="751205"/>
            <a:ext cx="736600" cy="110363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4" name="肘形连接符 163"/>
          <p:cNvCxnSpPr>
            <a:stCxn id="42" idx="3"/>
            <a:endCxn id="73" idx="1"/>
          </p:cNvCxnSpPr>
          <p:nvPr/>
        </p:nvCxnSpPr>
        <p:spPr>
          <a:xfrm>
            <a:off x="2214880" y="735330"/>
            <a:ext cx="736600" cy="1587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5" name="直接箭头连接符 164"/>
          <p:cNvCxnSpPr>
            <a:stCxn id="59" idx="2"/>
            <a:endCxn id="60" idx="0"/>
          </p:cNvCxnSpPr>
          <p:nvPr/>
        </p:nvCxnSpPr>
        <p:spPr>
          <a:xfrm>
            <a:off x="5664835" y="965200"/>
            <a:ext cx="635" cy="381000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6" name="直接箭头连接符 165"/>
          <p:cNvCxnSpPr>
            <a:stCxn id="60" idx="2"/>
            <a:endCxn id="64" idx="0"/>
          </p:cNvCxnSpPr>
          <p:nvPr/>
        </p:nvCxnSpPr>
        <p:spPr>
          <a:xfrm>
            <a:off x="5665470" y="1805940"/>
            <a:ext cx="0" cy="287020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7" name="直接箭头连接符 166"/>
          <p:cNvCxnSpPr>
            <a:stCxn id="64" idx="2"/>
          </p:cNvCxnSpPr>
          <p:nvPr/>
        </p:nvCxnSpPr>
        <p:spPr>
          <a:xfrm>
            <a:off x="5665470" y="2552700"/>
            <a:ext cx="1905" cy="213995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8" name="直接箭头连接符 167"/>
          <p:cNvCxnSpPr>
            <a:stCxn id="65" idx="2"/>
            <a:endCxn id="72" idx="0"/>
          </p:cNvCxnSpPr>
          <p:nvPr/>
        </p:nvCxnSpPr>
        <p:spPr>
          <a:xfrm>
            <a:off x="5664835" y="4055110"/>
            <a:ext cx="635" cy="213995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9" name="直接箭头连接符 168"/>
          <p:cNvCxnSpPr>
            <a:stCxn id="72" idx="2"/>
            <a:endCxn id="113" idx="0"/>
          </p:cNvCxnSpPr>
          <p:nvPr/>
        </p:nvCxnSpPr>
        <p:spPr>
          <a:xfrm flipH="1">
            <a:off x="5657850" y="5267960"/>
            <a:ext cx="7620" cy="247650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0" name="肘形连接符 169"/>
          <p:cNvCxnSpPr>
            <a:stCxn id="114" idx="3"/>
            <a:endCxn id="117" idx="1"/>
          </p:cNvCxnSpPr>
          <p:nvPr/>
        </p:nvCxnSpPr>
        <p:spPr>
          <a:xfrm flipV="1">
            <a:off x="8362950" y="735330"/>
            <a:ext cx="789940" cy="5014595"/>
          </a:xfrm>
          <a:prstGeom prst="bentConnector3">
            <a:avLst>
              <a:gd name="adj1" fmla="val 50011"/>
            </a:avLst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1" name="直接箭头连接符 170"/>
          <p:cNvCxnSpPr>
            <a:stCxn id="118" idx="2"/>
            <a:endCxn id="123" idx="0"/>
          </p:cNvCxnSpPr>
          <p:nvPr/>
        </p:nvCxnSpPr>
        <p:spPr>
          <a:xfrm>
            <a:off x="10194290" y="3989070"/>
            <a:ext cx="4445" cy="328295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268</Words>
  <Application>WPS 演示</Application>
  <PresentationFormat>宽屏</PresentationFormat>
  <Paragraphs>69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Calibri</vt:lpstr>
      <vt:lpstr>微软雅黑</vt:lpstr>
      <vt:lpstr>Arial Unicode MS</vt:lpstr>
      <vt:lpstr>Times New Roman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山长水远.</cp:lastModifiedBy>
  <cp:revision>8</cp:revision>
  <dcterms:created xsi:type="dcterms:W3CDTF">2023-08-09T12:44:00Z</dcterms:created>
  <dcterms:modified xsi:type="dcterms:W3CDTF">2026-03-06T12:45:59Z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3D08118175D24E69995223A1122D8D00_12</vt:lpwstr>
  </property>
</Properties>
</file>