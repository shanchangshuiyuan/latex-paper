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44"/>
        <p:guide pos="38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5" name="矩形 164"/>
          <p:cNvSpPr/>
          <p:nvPr/>
        </p:nvSpPr>
        <p:spPr>
          <a:xfrm>
            <a:off x="419735" y="3114040"/>
            <a:ext cx="11423015" cy="3288665"/>
          </a:xfrm>
          <a:prstGeom prst="rect">
            <a:avLst/>
          </a:prstGeom>
          <a:solidFill>
            <a:srgbClr val="BBD6E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419735" y="178435"/>
            <a:ext cx="11423015" cy="2626995"/>
          </a:xfrm>
          <a:prstGeom prst="rect">
            <a:avLst/>
          </a:prstGeom>
          <a:solidFill>
            <a:srgbClr val="BBD6E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700020" y="692150"/>
            <a:ext cx="5094605" cy="1978660"/>
          </a:xfrm>
          <a:prstGeom prst="rect">
            <a:avLst/>
          </a:prstGeom>
          <a:solidFill>
            <a:srgbClr val="E5EFF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圆角矩形 78"/>
          <p:cNvSpPr/>
          <p:nvPr/>
        </p:nvSpPr>
        <p:spPr>
          <a:xfrm>
            <a:off x="2818765" y="1112520"/>
            <a:ext cx="1781175" cy="403225"/>
          </a:xfrm>
          <a:prstGeom prst="roundRect">
            <a:avLst>
              <a:gd name="adj" fmla="val 5430"/>
            </a:avLst>
          </a:prstGeom>
          <a:solidFill>
            <a:srgbClr val="A5CDEC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500">
                <a:latin typeface="宋体" panose="02010600030101010101" pitchFamily="2" charset="-122"/>
                <a:ea typeface="宋体" panose="02010600030101010101" pitchFamily="2" charset="-122"/>
              </a:rPr>
              <a:t>运动显著性分量</a:t>
            </a:r>
            <a:endParaRPr lang="zh-CN" altLang="en-US" sz="15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2818765" y="1624965"/>
            <a:ext cx="1781175" cy="403200"/>
          </a:xfrm>
          <a:prstGeom prst="roundRect">
            <a:avLst>
              <a:gd name="adj" fmla="val 5430"/>
            </a:avLst>
          </a:prstGeom>
          <a:solidFill>
            <a:srgbClr val="A5CDEC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5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几何结构分量</a:t>
            </a:r>
            <a:endParaRPr lang="zh-CN" altLang="en-US" sz="15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2818765" y="2125345"/>
            <a:ext cx="1780540" cy="403200"/>
          </a:xfrm>
          <a:prstGeom prst="roundRect">
            <a:avLst>
              <a:gd name="adj" fmla="val 5430"/>
            </a:avLst>
          </a:prstGeom>
          <a:solidFill>
            <a:srgbClr val="A5CDEC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5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骨骼蒙皮关联分量</a:t>
            </a:r>
            <a:endParaRPr lang="zh-CN" altLang="en-US" sz="15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8" name="圆角矩形 87"/>
          <p:cNvSpPr/>
          <p:nvPr/>
        </p:nvSpPr>
        <p:spPr>
          <a:xfrm>
            <a:off x="5128895" y="1579245"/>
            <a:ext cx="695325" cy="482600"/>
          </a:xfrm>
          <a:prstGeom prst="roundRect">
            <a:avLst>
              <a:gd name="adj" fmla="val 5430"/>
            </a:avLst>
          </a:prstGeom>
          <a:solidFill>
            <a:srgbClr val="A5CDEC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500">
                <a:latin typeface="宋体" panose="02010600030101010101" pitchFamily="2" charset="-122"/>
                <a:ea typeface="宋体" panose="02010600030101010101" pitchFamily="2" charset="-122"/>
              </a:rPr>
              <a:t>加权融合</a:t>
            </a:r>
            <a:endParaRPr lang="zh-CN" altLang="en-US" sz="15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4" name="肘形连接符 93"/>
          <p:cNvCxnSpPr/>
          <p:nvPr/>
        </p:nvCxnSpPr>
        <p:spPr>
          <a:xfrm>
            <a:off x="4599940" y="1314450"/>
            <a:ext cx="528955" cy="506095"/>
          </a:xfrm>
          <a:prstGeom prst="bentConnector3">
            <a:avLst>
              <a:gd name="adj1" fmla="val 50060"/>
            </a:avLst>
          </a:prstGeom>
          <a:ln w="19050"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>
            <a:stCxn id="83" idx="3"/>
            <a:endCxn id="88" idx="1"/>
          </p:cNvCxnSpPr>
          <p:nvPr/>
        </p:nvCxnSpPr>
        <p:spPr>
          <a:xfrm flipV="1">
            <a:off x="4599940" y="1820545"/>
            <a:ext cx="528955" cy="6350"/>
          </a:xfrm>
          <a:prstGeom prst="straightConnector1">
            <a:avLst/>
          </a:prstGeom>
          <a:ln w="19050"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肘形连接符 96"/>
          <p:cNvCxnSpPr>
            <a:stCxn id="84" idx="3"/>
          </p:cNvCxnSpPr>
          <p:nvPr/>
        </p:nvCxnSpPr>
        <p:spPr>
          <a:xfrm flipV="1">
            <a:off x="4599305" y="1826260"/>
            <a:ext cx="514985" cy="501015"/>
          </a:xfrm>
          <a:prstGeom prst="bentConnector3">
            <a:avLst>
              <a:gd name="adj1" fmla="val 50062"/>
            </a:avLst>
          </a:prstGeom>
          <a:ln w="19050"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stCxn id="88" idx="3"/>
          </p:cNvCxnSpPr>
          <p:nvPr/>
        </p:nvCxnSpPr>
        <p:spPr>
          <a:xfrm>
            <a:off x="5824220" y="1820545"/>
            <a:ext cx="667385" cy="5715"/>
          </a:xfrm>
          <a:prstGeom prst="straightConnector1">
            <a:avLst/>
          </a:prstGeom>
          <a:ln w="19050"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9" name="图片 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415" y="1285875"/>
            <a:ext cx="1030605" cy="105473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2700020" y="742315"/>
            <a:ext cx="50742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时空运动特征重要性度量模型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548005" y="683895"/>
            <a:ext cx="1742440" cy="1978660"/>
          </a:xfrm>
          <a:prstGeom prst="rect">
            <a:avLst/>
          </a:prstGeom>
          <a:solidFill>
            <a:srgbClr val="E5EFF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550545" y="2028190"/>
            <a:ext cx="17392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</a:t>
            </a:r>
            <a:r>
              <a:rPr lang="zh-CN" altLang="en-US" sz="15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输入：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原始动画网格序列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80" y="740410"/>
            <a:ext cx="933450" cy="1320800"/>
          </a:xfrm>
          <a:prstGeom prst="rect">
            <a:avLst/>
          </a:prstGeom>
        </p:spPr>
      </p:pic>
      <p:sp>
        <p:nvSpPr>
          <p:cNvPr id="105" name="矩形 104"/>
          <p:cNvSpPr/>
          <p:nvPr/>
        </p:nvSpPr>
        <p:spPr>
          <a:xfrm>
            <a:off x="8204835" y="692150"/>
            <a:ext cx="3446145" cy="1978660"/>
          </a:xfrm>
          <a:prstGeom prst="rect">
            <a:avLst/>
          </a:prstGeom>
          <a:solidFill>
            <a:srgbClr val="E5EFF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圆角矩形 105"/>
          <p:cNvSpPr/>
          <p:nvPr/>
        </p:nvSpPr>
        <p:spPr>
          <a:xfrm>
            <a:off x="8310245" y="1112520"/>
            <a:ext cx="1379855" cy="1416685"/>
          </a:xfrm>
          <a:prstGeom prst="roundRect">
            <a:avLst>
              <a:gd name="adj" fmla="val 5430"/>
            </a:avLst>
          </a:prstGeom>
          <a:solidFill>
            <a:srgbClr val="A5CDEC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边折叠代价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10321290" y="1112520"/>
            <a:ext cx="1161415" cy="263525"/>
          </a:xfrm>
          <a:prstGeom prst="roundRect">
            <a:avLst>
              <a:gd name="adj" fmla="val 0"/>
            </a:avLst>
          </a:prstGeom>
          <a:solidFill>
            <a:srgbClr val="A5CDEC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圆角矩形 111"/>
          <p:cNvSpPr/>
          <p:nvPr/>
        </p:nvSpPr>
        <p:spPr>
          <a:xfrm>
            <a:off x="10321290" y="1453515"/>
            <a:ext cx="1161415" cy="263525"/>
          </a:xfrm>
          <a:prstGeom prst="roundRect">
            <a:avLst>
              <a:gd name="adj" fmla="val 0"/>
            </a:avLst>
          </a:prstGeom>
          <a:solidFill>
            <a:srgbClr val="A5CDEC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10321290" y="1772285"/>
            <a:ext cx="1161415" cy="263525"/>
          </a:xfrm>
          <a:prstGeom prst="roundRect">
            <a:avLst>
              <a:gd name="adj" fmla="val 0"/>
            </a:avLst>
          </a:prstGeom>
          <a:solidFill>
            <a:srgbClr val="A5CDEC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10321290" y="2093595"/>
            <a:ext cx="1161415" cy="263525"/>
          </a:xfrm>
          <a:prstGeom prst="roundRect">
            <a:avLst>
              <a:gd name="adj" fmla="val 0"/>
            </a:avLst>
          </a:prstGeom>
          <a:solidFill>
            <a:srgbClr val="A5CDEC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10390505" y="2371090"/>
            <a:ext cx="109220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优先队列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8205470" y="738505"/>
            <a:ext cx="34455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边折叠队列初始化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346190" y="2371090"/>
            <a:ext cx="134556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顶点重要性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560070" y="3543300"/>
            <a:ext cx="6437630" cy="2616835"/>
          </a:xfrm>
          <a:prstGeom prst="rect">
            <a:avLst/>
          </a:prstGeom>
          <a:solidFill>
            <a:srgbClr val="E5EFF8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2517140" y="3617595"/>
            <a:ext cx="26644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迭代直至满足简化目标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6" name="圆角矩形 145"/>
          <p:cNvSpPr/>
          <p:nvPr/>
        </p:nvSpPr>
        <p:spPr>
          <a:xfrm>
            <a:off x="735965" y="4330065"/>
            <a:ext cx="1004400" cy="1321200"/>
          </a:xfrm>
          <a:prstGeom prst="roundRect">
            <a:avLst>
              <a:gd name="adj" fmla="val 5430"/>
            </a:avLst>
          </a:prstGeom>
          <a:solidFill>
            <a:srgbClr val="A5CDEC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500">
                <a:latin typeface="宋体" panose="02010600030101010101" pitchFamily="2" charset="-122"/>
                <a:ea typeface="宋体" panose="02010600030101010101" pitchFamily="2" charset="-122"/>
              </a:rPr>
              <a:t>从队列中取出最小代价边</a:t>
            </a:r>
            <a:endParaRPr lang="zh-CN" altLang="en-US" sz="15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7" name="流程图: 决策 146"/>
          <p:cNvSpPr/>
          <p:nvPr/>
        </p:nvSpPr>
        <p:spPr>
          <a:xfrm>
            <a:off x="2164715" y="4584065"/>
            <a:ext cx="1415415" cy="812165"/>
          </a:xfrm>
          <a:prstGeom prst="flowChartDecision">
            <a:avLst/>
          </a:prstGeom>
          <a:solidFill>
            <a:srgbClr val="A5CDE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失真检验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9" name="圆角矩形 148"/>
          <p:cNvSpPr/>
          <p:nvPr/>
        </p:nvSpPr>
        <p:spPr>
          <a:xfrm>
            <a:off x="5753100" y="4330065"/>
            <a:ext cx="1005205" cy="1320165"/>
          </a:xfrm>
          <a:prstGeom prst="roundRect">
            <a:avLst>
              <a:gd name="adj" fmla="val 5430"/>
            </a:avLst>
          </a:prstGeom>
          <a:solidFill>
            <a:srgbClr val="A5CDEC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500">
                <a:latin typeface="宋体" panose="02010600030101010101" pitchFamily="2" charset="-122"/>
                <a:ea typeface="宋体" panose="02010600030101010101" pitchFamily="2" charset="-122"/>
              </a:rPr>
              <a:t>更新属性与队列</a:t>
            </a:r>
            <a:endParaRPr lang="zh-CN" altLang="en-US" sz="15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0" name="圆角矩形 149"/>
          <p:cNvSpPr/>
          <p:nvPr/>
        </p:nvSpPr>
        <p:spPr>
          <a:xfrm>
            <a:off x="4176395" y="4330065"/>
            <a:ext cx="1005205" cy="1320165"/>
          </a:xfrm>
          <a:prstGeom prst="roundRect">
            <a:avLst>
              <a:gd name="adj" fmla="val 5430"/>
            </a:avLst>
          </a:prstGeom>
          <a:solidFill>
            <a:srgbClr val="A5CDEC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500">
                <a:latin typeface="宋体" panose="02010600030101010101" pitchFamily="2" charset="-122"/>
                <a:ea typeface="宋体" panose="02010600030101010101" pitchFamily="2" charset="-122"/>
              </a:rPr>
              <a:t>迭代执行</a:t>
            </a:r>
            <a:endParaRPr lang="zh-CN" altLang="en-US" sz="15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1" name="直接箭头连接符 150"/>
          <p:cNvCxnSpPr/>
          <p:nvPr/>
        </p:nvCxnSpPr>
        <p:spPr>
          <a:xfrm>
            <a:off x="1740535" y="4987925"/>
            <a:ext cx="422910" cy="8255"/>
          </a:xfrm>
          <a:prstGeom prst="straightConnector1">
            <a:avLst/>
          </a:prstGeom>
          <a:ln w="19050"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2" name="直接箭头连接符 151"/>
          <p:cNvCxnSpPr>
            <a:stCxn id="147" idx="3"/>
            <a:endCxn id="150" idx="1"/>
          </p:cNvCxnSpPr>
          <p:nvPr/>
        </p:nvCxnSpPr>
        <p:spPr>
          <a:xfrm>
            <a:off x="3580130" y="4990465"/>
            <a:ext cx="596265" cy="0"/>
          </a:xfrm>
          <a:prstGeom prst="straightConnector1">
            <a:avLst/>
          </a:prstGeom>
          <a:ln w="19050"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箭头连接符 152"/>
          <p:cNvCxnSpPr>
            <a:endCxn id="149" idx="1"/>
          </p:cNvCxnSpPr>
          <p:nvPr/>
        </p:nvCxnSpPr>
        <p:spPr>
          <a:xfrm>
            <a:off x="5181600" y="4979670"/>
            <a:ext cx="571500" cy="10795"/>
          </a:xfrm>
          <a:prstGeom prst="straightConnector1">
            <a:avLst/>
          </a:prstGeom>
          <a:ln w="19050"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肘形连接符 153"/>
          <p:cNvCxnSpPr>
            <a:stCxn id="147" idx="2"/>
            <a:endCxn id="146" idx="2"/>
          </p:cNvCxnSpPr>
          <p:nvPr/>
        </p:nvCxnSpPr>
        <p:spPr>
          <a:xfrm rot="5400000">
            <a:off x="1927860" y="4706620"/>
            <a:ext cx="255270" cy="1634490"/>
          </a:xfrm>
          <a:prstGeom prst="bentConnector3">
            <a:avLst>
              <a:gd name="adj1" fmla="val 193284"/>
            </a:avLst>
          </a:prstGeom>
          <a:ln w="19050"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肘形连接符 154"/>
          <p:cNvCxnSpPr>
            <a:stCxn id="149" idx="2"/>
          </p:cNvCxnSpPr>
          <p:nvPr/>
        </p:nvCxnSpPr>
        <p:spPr>
          <a:xfrm rot="5400000">
            <a:off x="4448810" y="4080510"/>
            <a:ext cx="237490" cy="3376295"/>
          </a:xfrm>
          <a:prstGeom prst="bentConnector2">
            <a:avLst/>
          </a:prstGeom>
          <a:ln w="19050">
            <a:prstDash val="sysDash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6" name="肘形连接符 155"/>
          <p:cNvCxnSpPr>
            <a:stCxn id="149" idx="0"/>
            <a:endCxn id="146" idx="0"/>
          </p:cNvCxnSpPr>
          <p:nvPr/>
        </p:nvCxnSpPr>
        <p:spPr>
          <a:xfrm rot="16200000" flipH="1" flipV="1">
            <a:off x="3747135" y="1821180"/>
            <a:ext cx="3175" cy="5017770"/>
          </a:xfrm>
          <a:prstGeom prst="bentConnector3">
            <a:avLst>
              <a:gd name="adj1" fmla="val -7450000"/>
            </a:avLst>
          </a:prstGeom>
          <a:ln w="19050">
            <a:prstDash val="sysDash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7" name="文本框 156"/>
          <p:cNvSpPr txBox="1"/>
          <p:nvPr/>
        </p:nvSpPr>
        <p:spPr>
          <a:xfrm>
            <a:off x="3581400" y="4641215"/>
            <a:ext cx="59499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否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2755900" y="5475605"/>
            <a:ext cx="59499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是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7379335" y="3543300"/>
            <a:ext cx="394970" cy="2616835"/>
          </a:xfrm>
          <a:prstGeom prst="rect">
            <a:avLst/>
          </a:prstGeom>
          <a:solidFill>
            <a:srgbClr val="E5EFF8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关键帧优化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8162925" y="3543300"/>
            <a:ext cx="394970" cy="2616835"/>
          </a:xfrm>
          <a:prstGeom prst="rect">
            <a:avLst/>
          </a:prstGeom>
          <a:solidFill>
            <a:srgbClr val="E5EFF8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纹理优化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9039860" y="3510280"/>
            <a:ext cx="2367280" cy="2617470"/>
          </a:xfrm>
          <a:prstGeom prst="rect">
            <a:avLst/>
          </a:prstGeom>
          <a:solidFill>
            <a:srgbClr val="E5EFF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2" name="文本框 161"/>
          <p:cNvSpPr txBox="1"/>
          <p:nvPr/>
        </p:nvSpPr>
        <p:spPr>
          <a:xfrm>
            <a:off x="8976360" y="5492115"/>
            <a:ext cx="2363470" cy="731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</a:t>
            </a:r>
            <a:r>
              <a:rPr lang="zh-CN" altLang="en-US" sz="15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输出：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多层次</a:t>
            </a:r>
            <a:r>
              <a:rPr lang="en-US" altLang="zh-CN" sz="15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LOD</a:t>
            </a:r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动画网格序列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64" name="图片 1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0" y="3603625"/>
            <a:ext cx="1123315" cy="1880235"/>
          </a:xfrm>
          <a:prstGeom prst="rect">
            <a:avLst/>
          </a:prstGeom>
        </p:spPr>
      </p:pic>
      <p:sp>
        <p:nvSpPr>
          <p:cNvPr id="166" name="右箭头 165"/>
          <p:cNvSpPr/>
          <p:nvPr/>
        </p:nvSpPr>
        <p:spPr>
          <a:xfrm>
            <a:off x="6993255" y="4756150"/>
            <a:ext cx="375920" cy="148590"/>
          </a:xfrm>
          <a:prstGeom prst="rightArrow">
            <a:avLst/>
          </a:prstGeom>
          <a:solidFill>
            <a:srgbClr val="396A9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7" name="右箭头 166"/>
          <p:cNvSpPr/>
          <p:nvPr/>
        </p:nvSpPr>
        <p:spPr>
          <a:xfrm>
            <a:off x="7790815" y="4756150"/>
            <a:ext cx="375920" cy="148590"/>
          </a:xfrm>
          <a:prstGeom prst="rightArrow">
            <a:avLst/>
          </a:prstGeom>
          <a:solidFill>
            <a:srgbClr val="396A9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9" name="右箭头 168"/>
          <p:cNvSpPr/>
          <p:nvPr/>
        </p:nvSpPr>
        <p:spPr>
          <a:xfrm>
            <a:off x="8566150" y="4741545"/>
            <a:ext cx="1144905" cy="170815"/>
          </a:xfrm>
          <a:prstGeom prst="rightArrow">
            <a:avLst/>
          </a:prstGeom>
          <a:solidFill>
            <a:srgbClr val="396A9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0" name="右箭头 169"/>
          <p:cNvSpPr/>
          <p:nvPr/>
        </p:nvSpPr>
        <p:spPr>
          <a:xfrm>
            <a:off x="2306955" y="1568450"/>
            <a:ext cx="375920" cy="148590"/>
          </a:xfrm>
          <a:prstGeom prst="rightArrow">
            <a:avLst/>
          </a:prstGeom>
          <a:solidFill>
            <a:srgbClr val="396A9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1" name="右箭头 170"/>
          <p:cNvSpPr/>
          <p:nvPr/>
        </p:nvSpPr>
        <p:spPr>
          <a:xfrm>
            <a:off x="7811135" y="1671955"/>
            <a:ext cx="375920" cy="148590"/>
          </a:xfrm>
          <a:prstGeom prst="rightArrow">
            <a:avLst/>
          </a:prstGeom>
          <a:solidFill>
            <a:srgbClr val="396A9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2" name="右箭头 171"/>
          <p:cNvSpPr/>
          <p:nvPr/>
        </p:nvSpPr>
        <p:spPr>
          <a:xfrm>
            <a:off x="9690100" y="1717040"/>
            <a:ext cx="375920" cy="148590"/>
          </a:xfrm>
          <a:prstGeom prst="rightArrow">
            <a:avLst/>
          </a:prstGeom>
          <a:solidFill>
            <a:srgbClr val="396A9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3" name="下箭头 172"/>
          <p:cNvSpPr/>
          <p:nvPr/>
        </p:nvSpPr>
        <p:spPr>
          <a:xfrm>
            <a:off x="10131425" y="1145540"/>
            <a:ext cx="122555" cy="1244600"/>
          </a:xfrm>
          <a:prstGeom prst="downArrow">
            <a:avLst/>
          </a:prstGeom>
          <a:solidFill>
            <a:srgbClr val="396A9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4" name="肘形连接符 173"/>
          <p:cNvCxnSpPr>
            <a:stCxn id="117" idx="2"/>
            <a:endCxn id="165" idx="1"/>
          </p:cNvCxnSpPr>
          <p:nvPr/>
        </p:nvCxnSpPr>
        <p:spPr>
          <a:xfrm rot="5400000">
            <a:off x="4645660" y="-1532890"/>
            <a:ext cx="2065655" cy="10516870"/>
          </a:xfrm>
          <a:prstGeom prst="bentConnector4">
            <a:avLst>
              <a:gd name="adj1" fmla="val 10191"/>
              <a:gd name="adj2" fmla="val 102267"/>
            </a:avLst>
          </a:prstGeom>
          <a:ln w="60325">
            <a:solidFill>
              <a:srgbClr val="396A9E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6" name="文本框 175"/>
          <p:cNvSpPr txBox="1"/>
          <p:nvPr/>
        </p:nvSpPr>
        <p:spPr>
          <a:xfrm>
            <a:off x="420370" y="3156585"/>
            <a:ext cx="114223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、时空运动特征驱动的动画网格层次简化算法执行流程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0370" y="272415"/>
            <a:ext cx="114223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、时空运动特征重要性度量模型的构建与边折叠队列初始化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WPS 演示</Application>
  <PresentationFormat>宽屏</PresentationFormat>
  <Paragraphs>47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5</cp:revision>
  <dcterms:created xsi:type="dcterms:W3CDTF">2023-08-09T12:44:00Z</dcterms:created>
  <dcterms:modified xsi:type="dcterms:W3CDTF">2026-03-07T12:15:34Z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E74E4D5688424BD9B27FB0253D63B220_12</vt:lpwstr>
  </property>
</Properties>
</file>