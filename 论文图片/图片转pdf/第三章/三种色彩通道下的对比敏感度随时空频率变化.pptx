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0799445" cy="683958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0" userDrawn="1">
          <p15:clr>
            <a:srgbClr val="A4A3A4"/>
          </p15:clr>
        </p15:guide>
        <p15:guide id="2" pos="33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00"/>
        <p:guide pos="33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92606" y="1143000"/>
            <a:ext cx="487278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50000" y="1119417"/>
            <a:ext cx="8100000" cy="2381333"/>
          </a:xfrm>
        </p:spPr>
        <p:txBody>
          <a:bodyPr anchor="b"/>
          <a:lstStyle>
            <a:lvl1pPr algn="ctr">
              <a:defRPr sz="59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50000" y="3592584"/>
            <a:ext cx="8100000" cy="1651416"/>
          </a:xfrm>
        </p:spPr>
        <p:txBody>
          <a:bodyPr/>
          <a:lstStyle>
            <a:lvl1pPr marL="0" indent="0" algn="ctr">
              <a:buNone/>
              <a:defRPr sz="2395"/>
            </a:lvl1pPr>
            <a:lvl2pPr marL="455930" indent="0" algn="ctr">
              <a:buNone/>
              <a:defRPr sz="1995"/>
            </a:lvl2pPr>
            <a:lvl3pPr marL="911860" indent="0" algn="ctr">
              <a:buNone/>
              <a:defRPr sz="1795"/>
            </a:lvl3pPr>
            <a:lvl4pPr marL="1367790" indent="0" algn="ctr">
              <a:buNone/>
              <a:defRPr sz="1595"/>
            </a:lvl4pPr>
            <a:lvl5pPr marL="1823720" indent="0" algn="ctr">
              <a:buNone/>
              <a:defRPr sz="1595"/>
            </a:lvl5pPr>
            <a:lvl6pPr marL="2280285" indent="0" algn="ctr">
              <a:buNone/>
              <a:defRPr sz="1595"/>
            </a:lvl6pPr>
            <a:lvl7pPr marL="2736215" indent="0" algn="ctr">
              <a:buNone/>
              <a:defRPr sz="1595"/>
            </a:lvl7pPr>
            <a:lvl8pPr marL="3192145" indent="0" algn="ctr">
              <a:buNone/>
              <a:defRPr sz="1595"/>
            </a:lvl8pPr>
            <a:lvl9pPr marL="3648075" indent="0" algn="ctr">
              <a:buNone/>
              <a:defRPr sz="159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875" y="1705251"/>
            <a:ext cx="9314999" cy="2845250"/>
          </a:xfrm>
        </p:spPr>
        <p:txBody>
          <a:bodyPr anchor="b"/>
          <a:lstStyle>
            <a:lvl1pPr>
              <a:defRPr sz="59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875" y="4577417"/>
            <a:ext cx="9314999" cy="1496250"/>
          </a:xfrm>
        </p:spPr>
        <p:txBody>
          <a:bodyPr/>
          <a:lstStyle>
            <a:lvl1pPr marL="0" indent="0">
              <a:buNone/>
              <a:defRPr sz="2395">
                <a:solidFill>
                  <a:schemeClr val="tx1">
                    <a:tint val="75000"/>
                  </a:schemeClr>
                </a:solidFill>
              </a:defRPr>
            </a:lvl1pPr>
            <a:lvl2pPr marL="455930" indent="0">
              <a:buNone/>
              <a:defRPr sz="1995">
                <a:solidFill>
                  <a:schemeClr val="tx1">
                    <a:tint val="75000"/>
                  </a:schemeClr>
                </a:solidFill>
              </a:defRPr>
            </a:lvl2pPr>
            <a:lvl3pPr marL="911860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3pPr>
            <a:lvl4pPr marL="1367790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4pPr>
            <a:lvl5pPr marL="1823720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5pPr>
            <a:lvl6pPr marL="2280285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6pPr>
            <a:lvl7pPr marL="2736215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7pPr>
            <a:lvl8pPr marL="3192145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8pPr>
            <a:lvl9pPr marL="3648075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42500" y="1820833"/>
            <a:ext cx="4590000" cy="433991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67500" y="1820833"/>
            <a:ext cx="4590000" cy="433991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364167"/>
            <a:ext cx="9314999" cy="132208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3907" y="1676751"/>
            <a:ext cx="4568906" cy="821750"/>
          </a:xfrm>
        </p:spPr>
        <p:txBody>
          <a:bodyPr anchor="b"/>
          <a:lstStyle>
            <a:lvl1pPr marL="0" indent="0">
              <a:buNone/>
              <a:defRPr sz="2395" b="1"/>
            </a:lvl1pPr>
            <a:lvl2pPr marL="455930" indent="0">
              <a:buNone/>
              <a:defRPr sz="1995" b="1"/>
            </a:lvl2pPr>
            <a:lvl3pPr marL="911860" indent="0">
              <a:buNone/>
              <a:defRPr sz="1795" b="1"/>
            </a:lvl3pPr>
            <a:lvl4pPr marL="1367790" indent="0">
              <a:buNone/>
              <a:defRPr sz="1595" b="1"/>
            </a:lvl4pPr>
            <a:lvl5pPr marL="1823720" indent="0">
              <a:buNone/>
              <a:defRPr sz="1595" b="1"/>
            </a:lvl5pPr>
            <a:lvl6pPr marL="2280285" indent="0">
              <a:buNone/>
              <a:defRPr sz="1595" b="1"/>
            </a:lvl6pPr>
            <a:lvl7pPr marL="2736215" indent="0">
              <a:buNone/>
              <a:defRPr sz="1595" b="1"/>
            </a:lvl7pPr>
            <a:lvl8pPr marL="3192145" indent="0">
              <a:buNone/>
              <a:defRPr sz="1595" b="1"/>
            </a:lvl8pPr>
            <a:lvl9pPr marL="3648075" indent="0">
              <a:buNone/>
              <a:defRPr sz="159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43907" y="2498500"/>
            <a:ext cx="4568906" cy="367491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67500" y="1676751"/>
            <a:ext cx="4591406" cy="821750"/>
          </a:xfrm>
        </p:spPr>
        <p:txBody>
          <a:bodyPr anchor="b"/>
          <a:lstStyle>
            <a:lvl1pPr marL="0" indent="0">
              <a:buNone/>
              <a:defRPr sz="2395" b="1"/>
            </a:lvl1pPr>
            <a:lvl2pPr marL="455930" indent="0">
              <a:buNone/>
              <a:defRPr sz="1995" b="1"/>
            </a:lvl2pPr>
            <a:lvl3pPr marL="911860" indent="0">
              <a:buNone/>
              <a:defRPr sz="1795" b="1"/>
            </a:lvl3pPr>
            <a:lvl4pPr marL="1367790" indent="0">
              <a:buNone/>
              <a:defRPr sz="1595" b="1"/>
            </a:lvl4pPr>
            <a:lvl5pPr marL="1823720" indent="0">
              <a:buNone/>
              <a:defRPr sz="1595" b="1"/>
            </a:lvl5pPr>
            <a:lvl6pPr marL="2280285" indent="0">
              <a:buNone/>
              <a:defRPr sz="1595" b="1"/>
            </a:lvl6pPr>
            <a:lvl7pPr marL="2736215" indent="0">
              <a:buNone/>
              <a:defRPr sz="1595" b="1"/>
            </a:lvl7pPr>
            <a:lvl8pPr marL="3192145" indent="0">
              <a:buNone/>
              <a:defRPr sz="1595" b="1"/>
            </a:lvl8pPr>
            <a:lvl9pPr marL="3648075" indent="0">
              <a:buNone/>
              <a:defRPr sz="159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67500" y="2498500"/>
            <a:ext cx="4591406" cy="367491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456000"/>
            <a:ext cx="3483281" cy="1596000"/>
          </a:xfrm>
        </p:spPr>
        <p:txBody>
          <a:bodyPr anchor="b"/>
          <a:lstStyle>
            <a:lvl1pPr>
              <a:defRPr sz="31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91406" y="984833"/>
            <a:ext cx="5467500" cy="4860834"/>
          </a:xfrm>
        </p:spPr>
        <p:txBody>
          <a:bodyPr/>
          <a:lstStyle>
            <a:lvl1pPr>
              <a:defRPr sz="3190"/>
            </a:lvl1pPr>
            <a:lvl2pPr>
              <a:defRPr sz="2795"/>
            </a:lvl2pPr>
            <a:lvl3pPr>
              <a:defRPr sz="2395"/>
            </a:lvl3pPr>
            <a:lvl4pPr>
              <a:defRPr sz="1995"/>
            </a:lvl4pPr>
            <a:lvl5pPr>
              <a:defRPr sz="1995"/>
            </a:lvl5pPr>
            <a:lvl6pPr>
              <a:defRPr sz="1995"/>
            </a:lvl6pPr>
            <a:lvl7pPr>
              <a:defRPr sz="1995"/>
            </a:lvl7pPr>
            <a:lvl8pPr>
              <a:defRPr sz="1995"/>
            </a:lvl8pPr>
            <a:lvl9pPr>
              <a:defRPr sz="19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43907" y="2052000"/>
            <a:ext cx="3483281" cy="3801584"/>
          </a:xfrm>
        </p:spPr>
        <p:txBody>
          <a:bodyPr/>
          <a:lstStyle>
            <a:lvl1pPr marL="0" indent="0">
              <a:buNone/>
              <a:defRPr sz="1595"/>
            </a:lvl1pPr>
            <a:lvl2pPr marL="455930" indent="0">
              <a:buNone/>
              <a:defRPr sz="1395"/>
            </a:lvl2pPr>
            <a:lvl3pPr marL="911860" indent="0">
              <a:buNone/>
              <a:defRPr sz="1195"/>
            </a:lvl3pPr>
            <a:lvl4pPr marL="1367790" indent="0">
              <a:buNone/>
              <a:defRPr sz="995"/>
            </a:lvl4pPr>
            <a:lvl5pPr marL="1823720" indent="0">
              <a:buNone/>
              <a:defRPr sz="995"/>
            </a:lvl5pPr>
            <a:lvl6pPr marL="2280285" indent="0">
              <a:buNone/>
              <a:defRPr sz="995"/>
            </a:lvl6pPr>
            <a:lvl7pPr marL="2736215" indent="0">
              <a:buNone/>
              <a:defRPr sz="995"/>
            </a:lvl7pPr>
            <a:lvl8pPr marL="3192145" indent="0">
              <a:buNone/>
              <a:defRPr sz="995"/>
            </a:lvl8pPr>
            <a:lvl9pPr marL="3648075" indent="0">
              <a:buNone/>
              <a:defRPr sz="9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456000"/>
            <a:ext cx="3483281" cy="1596000"/>
          </a:xfrm>
        </p:spPr>
        <p:txBody>
          <a:bodyPr anchor="b"/>
          <a:lstStyle>
            <a:lvl1pPr>
              <a:defRPr sz="31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91406" y="984833"/>
            <a:ext cx="5467500" cy="4860834"/>
          </a:xfrm>
        </p:spPr>
        <p:txBody>
          <a:bodyPr/>
          <a:lstStyle>
            <a:lvl1pPr marL="0" indent="0">
              <a:buNone/>
              <a:defRPr sz="3190"/>
            </a:lvl1pPr>
            <a:lvl2pPr marL="455930" indent="0">
              <a:buNone/>
              <a:defRPr sz="2795"/>
            </a:lvl2pPr>
            <a:lvl3pPr marL="911860" indent="0">
              <a:buNone/>
              <a:defRPr sz="2395"/>
            </a:lvl3pPr>
            <a:lvl4pPr marL="1367790" indent="0">
              <a:buNone/>
              <a:defRPr sz="1995"/>
            </a:lvl4pPr>
            <a:lvl5pPr marL="1823720" indent="0">
              <a:buNone/>
              <a:defRPr sz="1995"/>
            </a:lvl5pPr>
            <a:lvl6pPr marL="2280285" indent="0">
              <a:buNone/>
              <a:defRPr sz="1995"/>
            </a:lvl6pPr>
            <a:lvl7pPr marL="2736215" indent="0">
              <a:buNone/>
              <a:defRPr sz="1995"/>
            </a:lvl7pPr>
            <a:lvl8pPr marL="3192145" indent="0">
              <a:buNone/>
              <a:defRPr sz="1995"/>
            </a:lvl8pPr>
            <a:lvl9pPr marL="3648075" indent="0">
              <a:buNone/>
              <a:defRPr sz="199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43907" y="2052000"/>
            <a:ext cx="3483281" cy="3801584"/>
          </a:xfrm>
        </p:spPr>
        <p:txBody>
          <a:bodyPr/>
          <a:lstStyle>
            <a:lvl1pPr marL="0" indent="0">
              <a:buNone/>
              <a:defRPr sz="1595"/>
            </a:lvl1pPr>
            <a:lvl2pPr marL="455930" indent="0">
              <a:buNone/>
              <a:defRPr sz="1395"/>
            </a:lvl2pPr>
            <a:lvl3pPr marL="911860" indent="0">
              <a:buNone/>
              <a:defRPr sz="1195"/>
            </a:lvl3pPr>
            <a:lvl4pPr marL="1367790" indent="0">
              <a:buNone/>
              <a:defRPr sz="995"/>
            </a:lvl4pPr>
            <a:lvl5pPr marL="1823720" indent="0">
              <a:buNone/>
              <a:defRPr sz="995"/>
            </a:lvl5pPr>
            <a:lvl6pPr marL="2280285" indent="0">
              <a:buNone/>
              <a:defRPr sz="995"/>
            </a:lvl6pPr>
            <a:lvl7pPr marL="2736215" indent="0">
              <a:buNone/>
              <a:defRPr sz="995"/>
            </a:lvl7pPr>
            <a:lvl8pPr marL="3192145" indent="0">
              <a:buNone/>
              <a:defRPr sz="995"/>
            </a:lvl8pPr>
            <a:lvl9pPr marL="3648075" indent="0">
              <a:buNone/>
              <a:defRPr sz="9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728750" y="364167"/>
            <a:ext cx="2328750" cy="5796584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42500" y="364167"/>
            <a:ext cx="6851250" cy="5796584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42500" y="364167"/>
            <a:ext cx="9314999" cy="13220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2500" y="1820833"/>
            <a:ext cx="9314999" cy="4339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42500" y="6339667"/>
            <a:ext cx="2430000" cy="36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77500" y="6339667"/>
            <a:ext cx="3645000" cy="36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627500" y="6339667"/>
            <a:ext cx="2430000" cy="36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1860" rtl="0" eaLnBrk="1" latinLnBrk="0" hangingPunct="1">
        <a:lnSpc>
          <a:spcPct val="90000"/>
        </a:lnSpc>
        <a:spcBef>
          <a:spcPct val="0"/>
        </a:spcBef>
        <a:buNone/>
        <a:defRPr sz="43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7965" indent="-227965" algn="l" defTabSz="911860" rtl="0" eaLnBrk="1" latinLnBrk="0" hangingPunct="1">
        <a:lnSpc>
          <a:spcPct val="90000"/>
        </a:lnSpc>
        <a:spcBef>
          <a:spcPct val="200000"/>
        </a:spcBef>
        <a:buFont typeface="Arial" panose="020B0604020202020204" pitchFamily="34" charset="0"/>
        <a:buChar char="•"/>
        <a:defRPr sz="2795" kern="1200">
          <a:solidFill>
            <a:schemeClr val="tx1"/>
          </a:solidFill>
          <a:latin typeface="+mn-lt"/>
          <a:ea typeface="+mn-ea"/>
          <a:cs typeface="+mn-cs"/>
        </a:defRPr>
      </a:lvl1pPr>
      <a:lvl2pPr marL="683895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2395" kern="1200">
          <a:solidFill>
            <a:schemeClr val="tx1"/>
          </a:solidFill>
          <a:latin typeface="+mn-lt"/>
          <a:ea typeface="+mn-ea"/>
          <a:cs typeface="+mn-cs"/>
        </a:defRPr>
      </a:lvl2pPr>
      <a:lvl3pPr marL="1139825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3pPr>
      <a:lvl4pPr marL="1595755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2051685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508250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4180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20110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6040" indent="-227965" algn="l" defTabSz="911860" rtl="0" eaLnBrk="1" latinLnBrk="0" hangingPunct="1">
        <a:lnSpc>
          <a:spcPct val="90000"/>
        </a:lnSpc>
        <a:spcBef>
          <a:spcPct val="100000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930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860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790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720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80285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6215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2145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8075" algn="l" defTabSz="911860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1.png"/><Relationship Id="rId7" Type="http://schemas.openxmlformats.org/officeDocument/2006/relationships/image" Target="../media/image3.png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5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3.png"/><Relationship Id="rId7" Type="http://schemas.openxmlformats.org/officeDocument/2006/relationships/image" Target="../media/image3.png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5.png"/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5.png"/><Relationship Id="rId7" Type="http://schemas.openxmlformats.org/officeDocument/2006/relationships/image" Target="../media/image13.png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7.png"/><Relationship Id="rId7" Type="http://schemas.openxmlformats.org/officeDocument/2006/relationships/image" Target="../media/image13.png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7.png"/><Relationship Id="rId7" Type="http://schemas.openxmlformats.org/officeDocument/2006/relationships/image" Target="../media/image13.png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castleCSF(Ach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005" y="103505"/>
            <a:ext cx="10234930" cy="66325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370" y="178435"/>
            <a:ext cx="2141855" cy="400050"/>
          </a:xfrm>
          <a:prstGeom prst="rect">
            <a:avLst/>
          </a:prstGeom>
        </p:spPr>
      </p:pic>
      <p:sp>
        <p:nvSpPr>
          <p:cNvPr id="112" name="文本框 111"/>
          <p:cNvSpPr txBox="1"/>
          <p:nvPr/>
        </p:nvSpPr>
        <p:spPr>
          <a:xfrm>
            <a:off x="4714240" y="108585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castleCSF-TS(Ach)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695" y="5238750"/>
            <a:ext cx="1171575" cy="4000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30" y="5629910"/>
            <a:ext cx="1127125" cy="30035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310" y="6128385"/>
            <a:ext cx="2141855" cy="4000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275" y="5993765"/>
            <a:ext cx="587375" cy="3168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906145" y="2606040"/>
            <a:ext cx="3659505" cy="87566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40000">
            <a:off x="570865" y="5120640"/>
            <a:ext cx="3659505" cy="95313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894840" y="5255895"/>
            <a:ext cx="591185" cy="165735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457315" y="6128385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50215" y="5716270"/>
            <a:ext cx="24784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时间频率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[Hz]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 rot="16200000">
            <a:off x="-770890" y="2305050"/>
            <a:ext cx="23971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5060315" y="601218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0315" y="601218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3606165" y="599376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165" y="5993765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/>
              <p:cNvSpPr txBox="1"/>
              <p:nvPr/>
            </p:nvSpPr>
            <p:spPr>
              <a:xfrm>
                <a:off x="2277110" y="53479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110" y="534797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1033780" y="463804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780" y="4638040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630555" y="225806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" y="2258060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/>
              <p:cNvSpPr txBox="1"/>
              <p:nvPr/>
            </p:nvSpPr>
            <p:spPr>
              <a:xfrm>
                <a:off x="9435465" y="523875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3" name="文本框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465" y="5238750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7166610" y="562546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610" y="562546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630555" y="327596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" y="327596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630555" y="124015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" y="1240155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/>
              <p:cNvSpPr txBox="1"/>
              <p:nvPr/>
            </p:nvSpPr>
            <p:spPr>
              <a:xfrm>
                <a:off x="630555" y="416941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8" name="文本框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" y="416941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3235" y="142240"/>
            <a:ext cx="2141855" cy="400050"/>
          </a:xfrm>
          <a:prstGeom prst="rect">
            <a:avLst/>
          </a:prstGeom>
        </p:spPr>
      </p:pic>
      <p:sp>
        <p:nvSpPr>
          <p:cNvPr id="112" name="文本框 111"/>
          <p:cNvSpPr txBox="1"/>
          <p:nvPr/>
        </p:nvSpPr>
        <p:spPr>
          <a:xfrm>
            <a:off x="4650105" y="143510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castleCSF-TS(Ach)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560" y="5202555"/>
            <a:ext cx="1171575" cy="4000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0895" y="5593715"/>
            <a:ext cx="1127125" cy="30035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6175" y="6092190"/>
            <a:ext cx="2141855" cy="4000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140" y="5957570"/>
            <a:ext cx="587375" cy="3168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-970280" y="2569845"/>
            <a:ext cx="3659505" cy="87566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740000">
            <a:off x="506730" y="5084445"/>
            <a:ext cx="3659505" cy="95313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830705" y="5219700"/>
            <a:ext cx="591185" cy="165735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969645" y="5680075"/>
            <a:ext cx="189484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时间频率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[Hz]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 rot="16200000">
            <a:off x="-326390" y="2519680"/>
            <a:ext cx="189484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4996180" y="597598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6180" y="5975985"/>
                <a:ext cx="774065" cy="5200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3542030" y="59575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030" y="5957570"/>
                <a:ext cx="774065" cy="5200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/>
              <p:cNvSpPr txBox="1"/>
              <p:nvPr/>
            </p:nvSpPr>
            <p:spPr>
              <a:xfrm>
                <a:off x="2212975" y="531177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2975" y="5311775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969645" y="460184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645" y="460184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762000" y="222186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222186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/>
              <p:cNvSpPr txBox="1"/>
              <p:nvPr/>
            </p:nvSpPr>
            <p:spPr>
              <a:xfrm>
                <a:off x="9371330" y="520255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3" name="文本框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1330" y="520255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7102475" y="55892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475" y="558927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762000" y="32397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23977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762000" y="120396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203960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组合 4"/>
          <p:cNvGrpSpPr/>
          <p:nvPr/>
        </p:nvGrpSpPr>
        <p:grpSpPr>
          <a:xfrm rot="0">
            <a:off x="102870" y="67310"/>
            <a:ext cx="10629265" cy="6632575"/>
            <a:chOff x="1258" y="0"/>
            <a:chExt cx="16739" cy="10445"/>
          </a:xfrm>
        </p:grpSpPr>
        <p:pic>
          <p:nvPicPr>
            <p:cNvPr id="17" name="图片 16" descr="castleCSF(Ach)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58" y="0"/>
              <a:ext cx="16118" cy="10445"/>
            </a:xfrm>
            <a:prstGeom prst="rect">
              <a:avLst/>
            </a:prstGeom>
          </p:spPr>
        </p:pic>
        <p:pic>
          <p:nvPicPr>
            <p:cNvPr id="28" name="图片 2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7857" y="118"/>
              <a:ext cx="3373" cy="630"/>
            </a:xfrm>
            <a:prstGeom prst="rect">
              <a:avLst/>
            </a:prstGeom>
          </p:spPr>
        </p:pic>
        <p:sp>
          <p:nvSpPr>
            <p:cNvPr id="29" name="文本框 28"/>
            <p:cNvSpPr txBox="1"/>
            <p:nvPr/>
          </p:nvSpPr>
          <p:spPr>
            <a:xfrm>
              <a:off x="8391" y="8"/>
              <a:ext cx="6041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castleCSF-TS(RG)</a:t>
              </a:r>
              <a:endPara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152" y="8087"/>
              <a:ext cx="1845" cy="630"/>
            </a:xfrm>
            <a:prstGeom prst="rect">
              <a:avLst/>
            </a:prstGeom>
          </p:spPr>
        </p:pic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373" y="8703"/>
              <a:ext cx="1775" cy="473"/>
            </a:xfrm>
            <a:prstGeom prst="rect">
              <a:avLst/>
            </a:prstGeom>
          </p:spPr>
        </p:pic>
        <p:pic>
          <p:nvPicPr>
            <p:cNvPr id="32" name="图片 3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901" y="9488"/>
              <a:ext cx="3373" cy="630"/>
            </a:xfrm>
            <a:prstGeom prst="rect">
              <a:avLst/>
            </a:prstGeom>
          </p:spPr>
        </p:pic>
        <p:pic>
          <p:nvPicPr>
            <p:cNvPr id="33" name="图片 3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260" y="9276"/>
              <a:ext cx="925" cy="499"/>
            </a:xfrm>
            <a:prstGeom prst="rect">
              <a:avLst/>
            </a:prstGeom>
          </p:spPr>
        </p:pic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-432" y="3941"/>
              <a:ext cx="5763" cy="1379"/>
            </a:xfrm>
            <a:prstGeom prst="rect">
              <a:avLst/>
            </a:prstGeom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1740000">
              <a:off x="1894" y="7901"/>
              <a:ext cx="5763" cy="1501"/>
            </a:xfrm>
            <a:prstGeom prst="rect">
              <a:avLst/>
            </a:prstGeom>
          </p:spPr>
        </p:pic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 rot="5400000">
              <a:off x="3979" y="8114"/>
              <a:ext cx="931" cy="2610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1164" y="9488"/>
              <a:ext cx="4987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空间频率</a:t>
              </a:r>
              <a:r>
                <a:rPr lang="en-US" altLang="zh-CN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[cpd]</a:t>
              </a:r>
              <a:endPara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760" y="8839"/>
              <a:ext cx="3847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时间频率</a:t>
              </a:r>
              <a:r>
                <a:rPr lang="en-US" altLang="zh-CN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[Hz]</a:t>
              </a:r>
              <a:endPara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 rot="16200000">
              <a:off x="54" y="3488"/>
              <a:ext cx="373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8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对比敏感度</a:t>
              </a:r>
              <a:endPara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文本框 39"/>
                <p:cNvSpPr txBox="1"/>
                <p:nvPr/>
              </p:nvSpPr>
              <p:spPr>
                <a:xfrm>
                  <a:off x="8964" y="9305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𝟎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0" name="文本框 3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" y="9305"/>
                  <a:ext cx="1219" cy="8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文本框 40"/>
                <p:cNvSpPr txBox="1"/>
                <p:nvPr/>
              </p:nvSpPr>
              <p:spPr>
                <a:xfrm>
                  <a:off x="6674" y="9276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𝟎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1" name="文本框 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" y="9276"/>
                  <a:ext cx="1219" cy="8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本框 41"/>
                <p:cNvSpPr txBox="1"/>
                <p:nvPr/>
              </p:nvSpPr>
              <p:spPr>
                <a:xfrm>
                  <a:off x="4581" y="8259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2" name="文本框 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1" y="8259"/>
                  <a:ext cx="1219" cy="8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文本框 42"/>
                <p:cNvSpPr txBox="1"/>
                <p:nvPr/>
              </p:nvSpPr>
              <p:spPr>
                <a:xfrm>
                  <a:off x="2623" y="7141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3" name="文本框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3" y="7141"/>
                  <a:ext cx="1219" cy="8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文本框 43"/>
                <p:cNvSpPr txBox="1"/>
                <p:nvPr/>
              </p:nvSpPr>
              <p:spPr>
                <a:xfrm>
                  <a:off x="2142" y="3393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4" name="文本框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2" y="3393"/>
                  <a:ext cx="1219" cy="8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文本框 44"/>
                <p:cNvSpPr txBox="1"/>
                <p:nvPr/>
              </p:nvSpPr>
              <p:spPr>
                <a:xfrm>
                  <a:off x="15854" y="8087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5" name="文本框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54" y="8087"/>
                  <a:ext cx="1219" cy="8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文本框 45"/>
                <p:cNvSpPr txBox="1"/>
                <p:nvPr/>
              </p:nvSpPr>
              <p:spPr>
                <a:xfrm>
                  <a:off x="12281" y="8696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6" name="文本框 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81" y="8696"/>
                  <a:ext cx="1219" cy="8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文本框 46"/>
                <p:cNvSpPr txBox="1"/>
                <p:nvPr/>
              </p:nvSpPr>
              <p:spPr>
                <a:xfrm>
                  <a:off x="2142" y="4996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7" name="文本框 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2" y="4996"/>
                  <a:ext cx="1219" cy="8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文本框 47"/>
                <p:cNvSpPr txBox="1"/>
                <p:nvPr/>
              </p:nvSpPr>
              <p:spPr>
                <a:xfrm>
                  <a:off x="2142" y="1790"/>
                  <a:ext cx="1219" cy="819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en-US" altLang="zh-CN" sz="28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𝟑</m:t>
                            </m:r>
                          </m:sup>
                        </m:sSup>
                      </m:oMath>
                    </m:oMathPara>
                  </a14:m>
                  <a:endParaRPr lang="zh-CN" altLang="en-US" sz="2800" b="1"/>
                </a:p>
              </p:txBody>
            </p:sp>
          </mc:Choice>
          <mc:Fallback>
            <p:sp>
              <p:nvSpPr>
                <p:cNvPr id="48" name="文本框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2" y="1790"/>
                  <a:ext cx="1219" cy="819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本框 49"/>
              <p:cNvSpPr txBox="1"/>
              <p:nvPr/>
            </p:nvSpPr>
            <p:spPr>
              <a:xfrm>
                <a:off x="630555" y="397129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50" name="文本框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" y="3971290"/>
                <a:ext cx="774065" cy="5200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astleCSF(YV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10" y="51435"/>
            <a:ext cx="10234930" cy="66325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170" y="147320"/>
            <a:ext cx="2141855" cy="400050"/>
          </a:xfrm>
          <a:prstGeom prst="rect">
            <a:avLst/>
          </a:prstGeom>
        </p:spPr>
      </p:pic>
      <p:sp>
        <p:nvSpPr>
          <p:cNvPr id="112" name="文本框 111"/>
          <p:cNvSpPr txBox="1"/>
          <p:nvPr/>
        </p:nvSpPr>
        <p:spPr>
          <a:xfrm>
            <a:off x="4247515" y="31750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castleCSF-TS(YV)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9935" y="5163185"/>
            <a:ext cx="1171575" cy="4000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270" y="5554345"/>
            <a:ext cx="1127125" cy="30035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550" y="6052820"/>
            <a:ext cx="2141855" cy="4000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515" y="5918200"/>
            <a:ext cx="587375" cy="3168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890905" y="2530475"/>
            <a:ext cx="3659505" cy="87566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40000">
            <a:off x="666115" y="5107305"/>
            <a:ext cx="3659505" cy="95313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910080" y="5180330"/>
            <a:ext cx="591185" cy="165735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472555" y="6052820"/>
            <a:ext cx="31146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45135" y="5640705"/>
            <a:ext cx="24987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时间频率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[Hz]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 rot="16200000">
            <a:off x="-588010" y="2192655"/>
            <a:ext cx="24701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5075555" y="593661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5555" y="5936615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3621405" y="59182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405" y="591820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/>
              <p:cNvSpPr txBox="1"/>
              <p:nvPr/>
            </p:nvSpPr>
            <p:spPr>
              <a:xfrm>
                <a:off x="2292350" y="52724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2350" y="527240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1049020" y="456247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020" y="456247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788035" y="218249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35" y="218249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/>
              <p:cNvSpPr txBox="1"/>
              <p:nvPr/>
            </p:nvSpPr>
            <p:spPr>
              <a:xfrm>
                <a:off x="9450705" y="516318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3" name="文本框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0705" y="516318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7181850" y="55499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1850" y="554990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788035" y="32004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35" y="320040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788035" y="116459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35" y="1164590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本框 49"/>
              <p:cNvSpPr txBox="1"/>
              <p:nvPr/>
            </p:nvSpPr>
            <p:spPr>
              <a:xfrm>
                <a:off x="753110" y="3947795"/>
                <a:ext cx="727075" cy="46291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4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4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4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400" b="1"/>
              </a:p>
            </p:txBody>
          </p:sp>
        </mc:Choice>
        <mc:Fallback>
          <p:sp>
            <p:nvSpPr>
              <p:cNvPr id="50" name="文本框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110" y="3947795"/>
                <a:ext cx="727075" cy="46291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740000">
            <a:off x="799465" y="5107305"/>
            <a:ext cx="3659505" cy="953135"/>
          </a:xfrm>
          <a:prstGeom prst="rect">
            <a:avLst/>
          </a:prstGeom>
        </p:spPr>
      </p:pic>
      <p:pic>
        <p:nvPicPr>
          <p:cNvPr id="5" name="图片 4" descr="castleCSF_Effect_Are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8465" y="709930"/>
            <a:ext cx="11715115" cy="53340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5" y="601345"/>
            <a:ext cx="2124075" cy="504825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55" y="5422900"/>
            <a:ext cx="2124075" cy="504825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180" y="5331460"/>
            <a:ext cx="2124075" cy="504825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829945" y="2781300"/>
            <a:ext cx="3004185" cy="50482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380000">
            <a:off x="1974215" y="4840605"/>
            <a:ext cx="884555" cy="504825"/>
          </a:xfrm>
          <a:prstGeom prst="rect">
            <a:avLst/>
          </a:prstGeom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380000">
            <a:off x="3754755" y="5484495"/>
            <a:ext cx="884555" cy="504825"/>
          </a:xfrm>
          <a:prstGeom prst="rect">
            <a:avLst/>
          </a:prstGeom>
        </p:spPr>
      </p:pic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8470" y="5539105"/>
            <a:ext cx="884555" cy="50482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00000">
            <a:off x="7136130" y="5179060"/>
            <a:ext cx="884555" cy="504825"/>
          </a:xfrm>
          <a:prstGeom prst="rect">
            <a:avLst/>
          </a:prstGeom>
        </p:spPr>
      </p:pic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380000">
            <a:off x="10137775" y="4778375"/>
            <a:ext cx="884555" cy="50482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4081105" y="376445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 (</a:t>
            </a:r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面积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)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491605" y="5803265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4501515" y="558101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38" name="文本框 37"/>
          <p:cNvSpPr txBox="1"/>
          <p:nvPr/>
        </p:nvSpPr>
        <p:spPr>
          <a:xfrm>
            <a:off x="7291705" y="520128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3.2</a:t>
            </a:r>
            <a:endParaRPr lang="en-US" altLang="zh-CN" sz="2800" b="1"/>
          </a:p>
        </p:txBody>
      </p:sp>
      <p:sp>
        <p:nvSpPr>
          <p:cNvPr id="39" name="文本框 38"/>
          <p:cNvSpPr txBox="1"/>
          <p:nvPr/>
        </p:nvSpPr>
        <p:spPr>
          <a:xfrm>
            <a:off x="9791065" y="4891405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  <p:sp>
        <p:nvSpPr>
          <p:cNvPr id="40" name="文本框 39"/>
          <p:cNvSpPr txBox="1"/>
          <p:nvPr/>
        </p:nvSpPr>
        <p:spPr>
          <a:xfrm>
            <a:off x="3434080" y="5498465"/>
            <a:ext cx="81915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0.01</a:t>
            </a:r>
            <a:endParaRPr lang="en-US" altLang="zh-CN" sz="2800" b="1"/>
          </a:p>
        </p:txBody>
      </p:sp>
      <p:sp>
        <p:nvSpPr>
          <p:cNvPr id="41" name="文本框 40"/>
          <p:cNvSpPr txBox="1"/>
          <p:nvPr/>
        </p:nvSpPr>
        <p:spPr>
          <a:xfrm>
            <a:off x="2221230" y="4803140"/>
            <a:ext cx="36322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</a:t>
            </a:r>
            <a:endParaRPr lang="en-US" altLang="zh-CN" sz="2800" b="1"/>
          </a:p>
        </p:txBody>
      </p:sp>
      <p:sp>
        <p:nvSpPr>
          <p:cNvPr id="43" name="文本框 42"/>
          <p:cNvSpPr txBox="1"/>
          <p:nvPr/>
        </p:nvSpPr>
        <p:spPr>
          <a:xfrm>
            <a:off x="278765" y="3819525"/>
            <a:ext cx="30988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endParaRPr lang="en-US" altLang="zh-CN" sz="2800" b="1"/>
          </a:p>
        </p:txBody>
      </p:sp>
      <p:sp>
        <p:nvSpPr>
          <p:cNvPr id="45" name="文本框 44"/>
          <p:cNvSpPr txBox="1"/>
          <p:nvPr/>
        </p:nvSpPr>
        <p:spPr>
          <a:xfrm rot="16200000">
            <a:off x="-996315" y="2847340"/>
            <a:ext cx="24777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/>
              <p:cNvSpPr txBox="1"/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/>
              <p:cNvSpPr txBox="1"/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7" name="文本框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414655" y="137604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55" y="1376045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/>
              <p:cNvSpPr txBox="1"/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本框 50"/>
              <p:cNvSpPr txBox="1"/>
              <p:nvPr/>
            </p:nvSpPr>
            <p:spPr>
              <a:xfrm>
                <a:off x="1673225" y="5240020"/>
                <a:ext cx="1262380" cy="5207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[</m:t>
                      </m:r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𝒅𝒆𝒈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  <m:r>
                        <a:rPr lang="en-US" altLang="zh-CN" sz="28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]</m:t>
                      </m:r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51" name="文本框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3225" y="5240020"/>
                <a:ext cx="1262380" cy="52070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文本框 51"/>
          <p:cNvSpPr txBox="1"/>
          <p:nvPr/>
        </p:nvSpPr>
        <p:spPr>
          <a:xfrm>
            <a:off x="881380" y="5273675"/>
            <a:ext cx="1443990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面积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3390" y="428117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astleCSF_Effect_Eccentricit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38785" y="565785"/>
            <a:ext cx="11765280" cy="535686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20000">
            <a:off x="1014730" y="4926330"/>
            <a:ext cx="4519295" cy="95313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5" y="601345"/>
            <a:ext cx="2124075" cy="504825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829945" y="2781300"/>
            <a:ext cx="3004185" cy="504825"/>
          </a:xfrm>
          <a:prstGeom prst="rect">
            <a:avLst/>
          </a:prstGeom>
        </p:spPr>
      </p:pic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380000">
            <a:off x="10137775" y="4778375"/>
            <a:ext cx="884555" cy="50482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4081105" y="376445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 (</a:t>
            </a:r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偏心度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)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87680" y="427990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43" name="文本框 42"/>
          <p:cNvSpPr txBox="1"/>
          <p:nvPr/>
        </p:nvSpPr>
        <p:spPr>
          <a:xfrm>
            <a:off x="278765" y="3819525"/>
            <a:ext cx="30988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endParaRPr lang="en-US" altLang="zh-CN" sz="2800" b="1"/>
          </a:p>
        </p:txBody>
      </p:sp>
      <p:sp>
        <p:nvSpPr>
          <p:cNvPr id="45" name="文本框 44"/>
          <p:cNvSpPr txBox="1"/>
          <p:nvPr/>
        </p:nvSpPr>
        <p:spPr>
          <a:xfrm rot="16200000">
            <a:off x="-981075" y="2217420"/>
            <a:ext cx="24479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/>
              <p:cNvSpPr txBox="1"/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/>
              <p:cNvSpPr txBox="1"/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7" name="文本框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414655" y="137604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55" y="1376045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/>
              <p:cNvSpPr txBox="1"/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820000">
            <a:off x="5669280" y="4914265"/>
            <a:ext cx="4810760" cy="9531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60000">
            <a:off x="5747385" y="5337175"/>
            <a:ext cx="695325" cy="35242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275080" y="5281295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646045" y="486727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3.2</a:t>
            </a:r>
            <a:endParaRPr lang="en-US" altLang="zh-CN" sz="2800" b="1"/>
          </a:p>
        </p:txBody>
      </p:sp>
      <p:sp>
        <p:nvSpPr>
          <p:cNvPr id="8" name="文本框 7"/>
          <p:cNvSpPr txBox="1"/>
          <p:nvPr/>
        </p:nvSpPr>
        <p:spPr>
          <a:xfrm>
            <a:off x="4884420" y="539877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  <p:sp>
        <p:nvSpPr>
          <p:cNvPr id="9" name="文本框 8"/>
          <p:cNvSpPr txBox="1"/>
          <p:nvPr/>
        </p:nvSpPr>
        <p:spPr>
          <a:xfrm>
            <a:off x="5820410" y="539877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10" name="文本框 9"/>
          <p:cNvSpPr txBox="1"/>
          <p:nvPr/>
        </p:nvSpPr>
        <p:spPr>
          <a:xfrm>
            <a:off x="7748270" y="493839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2.5</a:t>
            </a:r>
            <a:endParaRPr lang="en-US" altLang="zh-CN" sz="2800" b="1"/>
          </a:p>
        </p:txBody>
      </p:sp>
      <p:sp>
        <p:nvSpPr>
          <p:cNvPr id="11" name="文本框 10"/>
          <p:cNvSpPr txBox="1"/>
          <p:nvPr/>
        </p:nvSpPr>
        <p:spPr>
          <a:xfrm>
            <a:off x="9952990" y="4478020"/>
            <a:ext cx="54356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60</a:t>
            </a:r>
            <a:endParaRPr lang="en-US" altLang="zh-CN" sz="2800" b="1"/>
          </a:p>
        </p:txBody>
      </p:sp>
      <p:sp>
        <p:nvSpPr>
          <p:cNvPr id="13" name="文本框 12"/>
          <p:cNvSpPr txBox="1"/>
          <p:nvPr/>
        </p:nvSpPr>
        <p:spPr>
          <a:xfrm>
            <a:off x="7277735" y="5462270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偏心度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[deg]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astleCSF_Effect_Luminan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3505" y="821055"/>
            <a:ext cx="11106785" cy="505714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685" y="672465"/>
            <a:ext cx="2124075" cy="504825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581025" y="2781300"/>
            <a:ext cx="3004185" cy="50482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4249380" y="610125"/>
            <a:ext cx="38360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 (</a:t>
            </a:r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亮度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)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527685" y="3819525"/>
            <a:ext cx="30988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endParaRPr lang="en-US" altLang="zh-CN" sz="2800" b="1"/>
          </a:p>
        </p:txBody>
      </p:sp>
      <p:sp>
        <p:nvSpPr>
          <p:cNvPr id="45" name="文本框 44"/>
          <p:cNvSpPr txBox="1"/>
          <p:nvPr/>
        </p:nvSpPr>
        <p:spPr>
          <a:xfrm rot="16200000">
            <a:off x="-786765" y="2573655"/>
            <a:ext cx="245046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/>
              <p:cNvSpPr txBox="1"/>
              <p:nvPr/>
            </p:nvSpPr>
            <p:spPr>
              <a:xfrm>
                <a:off x="617220" y="22618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" y="226187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/>
              <p:cNvSpPr txBox="1"/>
              <p:nvPr/>
            </p:nvSpPr>
            <p:spPr>
              <a:xfrm>
                <a:off x="617220" y="30753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7" name="文本框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" y="307530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663575" y="137604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75" y="137604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/>
              <p:cNvSpPr txBox="1"/>
              <p:nvPr/>
            </p:nvSpPr>
            <p:spPr>
              <a:xfrm>
                <a:off x="582295" y="37338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95" y="3733800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60000">
            <a:off x="5996305" y="5337175"/>
            <a:ext cx="695325" cy="35242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9380000">
            <a:off x="9857740" y="4599940"/>
            <a:ext cx="884555" cy="50482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7332980" y="5031740"/>
            <a:ext cx="577850" cy="329565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6687185" y="5339715"/>
            <a:ext cx="577850" cy="329565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2147570" y="5233035"/>
            <a:ext cx="1026160" cy="329565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4511040" y="5358765"/>
            <a:ext cx="420370" cy="24003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3914775" y="5299075"/>
            <a:ext cx="426085" cy="24320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2478405" y="4783455"/>
            <a:ext cx="426085" cy="24320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3799205" y="540639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2137410" y="482219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410" y="4822190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617220" y="419671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" y="419671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/>
          <p:cNvSpPr txBox="1"/>
          <p:nvPr/>
        </p:nvSpPr>
        <p:spPr>
          <a:xfrm>
            <a:off x="4588510" y="538099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27" name="文本框 26"/>
          <p:cNvSpPr txBox="1"/>
          <p:nvPr/>
        </p:nvSpPr>
        <p:spPr>
          <a:xfrm>
            <a:off x="7191375" y="503428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3.2</a:t>
            </a:r>
            <a:endParaRPr lang="en-US" altLang="zh-CN" sz="2800" b="1"/>
          </a:p>
        </p:txBody>
      </p:sp>
      <p:sp>
        <p:nvSpPr>
          <p:cNvPr id="28" name="文本框 27"/>
          <p:cNvSpPr txBox="1"/>
          <p:nvPr/>
        </p:nvSpPr>
        <p:spPr>
          <a:xfrm>
            <a:off x="9928860" y="475996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  <p:sp>
        <p:nvSpPr>
          <p:cNvPr id="30" name="文本框 29"/>
          <p:cNvSpPr txBox="1"/>
          <p:nvPr/>
        </p:nvSpPr>
        <p:spPr>
          <a:xfrm>
            <a:off x="6565900" y="5462270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本框 50"/>
              <p:cNvSpPr txBox="1"/>
              <p:nvPr/>
            </p:nvSpPr>
            <p:spPr>
              <a:xfrm>
                <a:off x="1922145" y="5240020"/>
                <a:ext cx="1510030" cy="5207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[</m:t>
                      </m:r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𝒄𝒅</m:t>
                          </m:r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/</m:t>
                          </m:r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  <m:r>
                        <a:rPr lang="en-US" altLang="zh-CN" sz="28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]</m:t>
                      </m:r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51" name="文本框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2145" y="5240020"/>
                <a:ext cx="1510030" cy="52070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文本框 51"/>
          <p:cNvSpPr txBox="1"/>
          <p:nvPr/>
        </p:nvSpPr>
        <p:spPr>
          <a:xfrm>
            <a:off x="1165225" y="5273675"/>
            <a:ext cx="100393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亮度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astleCSF_Effect_SaccadeTi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4140" y="774700"/>
            <a:ext cx="10974070" cy="499681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545" y="708025"/>
            <a:ext cx="2124075" cy="504825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598805" y="2781300"/>
            <a:ext cx="3004185" cy="50482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2720975" y="610235"/>
            <a:ext cx="64325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 (</a:t>
            </a:r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扫视后时间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)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509905" y="3819525"/>
            <a:ext cx="30988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endParaRPr lang="en-US" altLang="zh-CN" sz="2800" b="1"/>
          </a:p>
        </p:txBody>
      </p:sp>
      <p:sp>
        <p:nvSpPr>
          <p:cNvPr id="45" name="文本框 44"/>
          <p:cNvSpPr txBox="1"/>
          <p:nvPr/>
        </p:nvSpPr>
        <p:spPr>
          <a:xfrm rot="16200000">
            <a:off x="-795655" y="2530475"/>
            <a:ext cx="23704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/>
              <p:cNvSpPr txBox="1"/>
              <p:nvPr/>
            </p:nvSpPr>
            <p:spPr>
              <a:xfrm>
                <a:off x="599440" y="22618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40" y="226187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/>
              <p:cNvSpPr txBox="1"/>
              <p:nvPr/>
            </p:nvSpPr>
            <p:spPr>
              <a:xfrm>
                <a:off x="599440" y="30753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7" name="文本框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40" y="307530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645795" y="137604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95" y="137604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/>
              <p:cNvSpPr txBox="1"/>
              <p:nvPr/>
            </p:nvSpPr>
            <p:spPr>
              <a:xfrm>
                <a:off x="564515" y="37338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15" y="3733800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60000">
            <a:off x="5978525" y="5337175"/>
            <a:ext cx="695325" cy="35242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9380000">
            <a:off x="9839960" y="4484370"/>
            <a:ext cx="884555" cy="50482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7315200" y="5031740"/>
            <a:ext cx="577850" cy="329565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6669405" y="5339715"/>
            <a:ext cx="577850" cy="329565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4492625" y="5288280"/>
            <a:ext cx="420370" cy="24003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3968750" y="5220970"/>
            <a:ext cx="426085" cy="24320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2398395" y="4632325"/>
            <a:ext cx="426085" cy="24320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2209800" y="4681855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250</a:t>
            </a:r>
            <a:endParaRPr lang="en-US" altLang="zh-CN" sz="2800" b="1"/>
          </a:p>
        </p:txBody>
      </p:sp>
      <p:sp>
        <p:nvSpPr>
          <p:cNvPr id="25" name="文本框 24"/>
          <p:cNvSpPr txBox="1"/>
          <p:nvPr/>
        </p:nvSpPr>
        <p:spPr>
          <a:xfrm>
            <a:off x="819785" y="409321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500</a:t>
            </a:r>
            <a:endParaRPr lang="en-US" altLang="zh-CN" sz="2800" b="1"/>
          </a:p>
        </p:txBody>
      </p:sp>
      <p:sp>
        <p:nvSpPr>
          <p:cNvPr id="26" name="文本框 25"/>
          <p:cNvSpPr txBox="1"/>
          <p:nvPr/>
        </p:nvSpPr>
        <p:spPr>
          <a:xfrm>
            <a:off x="4425950" y="536130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28" name="文本框 27"/>
          <p:cNvSpPr txBox="1"/>
          <p:nvPr/>
        </p:nvSpPr>
        <p:spPr>
          <a:xfrm>
            <a:off x="9911080" y="465963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  <p:sp>
        <p:nvSpPr>
          <p:cNvPr id="30" name="文本框 29"/>
          <p:cNvSpPr txBox="1"/>
          <p:nvPr/>
        </p:nvSpPr>
        <p:spPr>
          <a:xfrm>
            <a:off x="6386830" y="5397500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5240020"/>
            <a:ext cx="361950" cy="2190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4405" y="4963160"/>
            <a:ext cx="361950" cy="2190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1380" y="5142230"/>
            <a:ext cx="1152525" cy="2190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3894455" y="5182235"/>
            <a:ext cx="36322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</a:t>
            </a:r>
            <a:endParaRPr lang="en-US" altLang="zh-CN" sz="2800" b="1"/>
          </a:p>
        </p:txBody>
      </p:sp>
      <p:sp>
        <p:nvSpPr>
          <p:cNvPr id="9" name="文本框 8"/>
          <p:cNvSpPr txBox="1"/>
          <p:nvPr/>
        </p:nvSpPr>
        <p:spPr>
          <a:xfrm>
            <a:off x="7101205" y="499872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3.2</a:t>
            </a:r>
            <a:endParaRPr lang="en-US" altLang="zh-CN" sz="2800" b="1"/>
          </a:p>
        </p:txBody>
      </p:sp>
      <p:sp>
        <p:nvSpPr>
          <p:cNvPr id="10" name="文本框 9"/>
          <p:cNvSpPr txBox="1"/>
          <p:nvPr/>
        </p:nvSpPr>
        <p:spPr>
          <a:xfrm>
            <a:off x="819785" y="5074285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扫视后时间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[ms]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astleCSF_Effect_Tempora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73380" y="791210"/>
            <a:ext cx="11172190" cy="508698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405" y="708025"/>
            <a:ext cx="2124075" cy="504825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829945" y="2781300"/>
            <a:ext cx="3004185" cy="50482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3633470" y="610235"/>
            <a:ext cx="45453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 (</a:t>
            </a:r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时间频率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)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278765" y="3819525"/>
            <a:ext cx="30988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endParaRPr lang="en-US" altLang="zh-CN" sz="2800" b="1"/>
          </a:p>
        </p:txBody>
      </p:sp>
      <p:sp>
        <p:nvSpPr>
          <p:cNvPr id="45" name="文本框 44"/>
          <p:cNvSpPr txBox="1"/>
          <p:nvPr/>
        </p:nvSpPr>
        <p:spPr>
          <a:xfrm rot="16200000">
            <a:off x="-884555" y="2376170"/>
            <a:ext cx="22548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对比敏感度</a:t>
            </a:r>
            <a:endParaRPr lang="zh-CN" altLang="en-US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/>
              <p:cNvSpPr txBox="1"/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6" name="文本框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2261870"/>
                <a:ext cx="774065" cy="5200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/>
              <p:cNvSpPr txBox="1"/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7" name="文本框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3075305"/>
                <a:ext cx="774065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/>
              <p:cNvSpPr txBox="1"/>
              <p:nvPr/>
            </p:nvSpPr>
            <p:spPr>
              <a:xfrm>
                <a:off x="414655" y="1448435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55" y="1448435"/>
                <a:ext cx="774065" cy="5200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/>
              <p:cNvSpPr txBox="1"/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28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</m:sup>
                      </m:sSup>
                    </m:oMath>
                  </m:oMathPara>
                </a14:m>
                <a:endParaRPr lang="zh-CN" altLang="en-US" sz="2800" b="1"/>
              </a:p>
            </p:txBody>
          </p:sp>
        </mc:Choice>
        <mc:Fallback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3733800"/>
                <a:ext cx="774065" cy="5200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60000">
            <a:off x="5747385" y="5337175"/>
            <a:ext cx="695325" cy="35242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9380000">
            <a:off x="9608820" y="4484370"/>
            <a:ext cx="884555" cy="50482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7084060" y="5031740"/>
            <a:ext cx="577850" cy="329565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6438265" y="5339715"/>
            <a:ext cx="577850" cy="329565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4261485" y="5395595"/>
            <a:ext cx="420370" cy="24003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3664585" y="5300980"/>
            <a:ext cx="426085" cy="24320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2282825" y="4798060"/>
            <a:ext cx="426085" cy="243205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>
            <a:off x="3633470" y="522224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28" name="文本框 27"/>
          <p:cNvSpPr txBox="1"/>
          <p:nvPr/>
        </p:nvSpPr>
        <p:spPr>
          <a:xfrm>
            <a:off x="9634855" y="4659630"/>
            <a:ext cx="72390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100</a:t>
            </a:r>
            <a:endParaRPr lang="en-US" altLang="zh-CN" sz="2800" b="1"/>
          </a:p>
        </p:txBody>
      </p:sp>
      <p:sp>
        <p:nvSpPr>
          <p:cNvPr id="30" name="文本框 29"/>
          <p:cNvSpPr txBox="1"/>
          <p:nvPr/>
        </p:nvSpPr>
        <p:spPr>
          <a:xfrm>
            <a:off x="6155690" y="5397500"/>
            <a:ext cx="31667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空间频率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[cpd]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6980" y="5240020"/>
            <a:ext cx="361950" cy="2190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265" y="5052060"/>
            <a:ext cx="361950" cy="2190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0240" y="5273675"/>
            <a:ext cx="1152525" cy="21907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7021830" y="4958715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3.2</a:t>
            </a:r>
            <a:endParaRPr lang="en-US" altLang="zh-CN" sz="2800" b="1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">
            <a:off x="955675" y="4297680"/>
            <a:ext cx="426085" cy="24320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535805" y="536702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0.1</a:t>
            </a:r>
            <a:endParaRPr lang="en-US" altLang="zh-CN" sz="2800" b="1"/>
          </a:p>
        </p:txBody>
      </p:sp>
      <p:sp>
        <p:nvSpPr>
          <p:cNvPr id="13" name="文本框 12"/>
          <p:cNvSpPr txBox="1"/>
          <p:nvPr/>
        </p:nvSpPr>
        <p:spPr>
          <a:xfrm>
            <a:off x="2167255" y="4810760"/>
            <a:ext cx="63881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2.5</a:t>
            </a:r>
            <a:endParaRPr lang="en-US" altLang="zh-CN" sz="2800" b="1"/>
          </a:p>
        </p:txBody>
      </p:sp>
      <p:sp>
        <p:nvSpPr>
          <p:cNvPr id="14" name="文本框 13"/>
          <p:cNvSpPr txBox="1"/>
          <p:nvPr/>
        </p:nvSpPr>
        <p:spPr>
          <a:xfrm>
            <a:off x="678180" y="4217035"/>
            <a:ext cx="543560" cy="5219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 altLang="zh-CN" sz="2800" b="1"/>
              <a:t>60</a:t>
            </a:r>
            <a:endParaRPr lang="en-US" altLang="zh-CN" sz="2800" b="1"/>
          </a:p>
        </p:txBody>
      </p:sp>
      <p:sp>
        <p:nvSpPr>
          <p:cNvPr id="19" name="文本框 18"/>
          <p:cNvSpPr txBox="1"/>
          <p:nvPr/>
        </p:nvSpPr>
        <p:spPr>
          <a:xfrm>
            <a:off x="678815" y="5248910"/>
            <a:ext cx="22498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时间频率</a:t>
            </a:r>
            <a:r>
              <a:rPr lang="en-US" altLang="zh-CN" sz="28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[Hz]</a:t>
            </a:r>
            <a:endParaRPr lang="en-US" altLang="zh-CN" sz="28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990</Words>
  <Application>WPS 演示</Application>
  <PresentationFormat>宽屏</PresentationFormat>
  <Paragraphs>252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Times New Roman</vt:lpstr>
      <vt:lpstr>Cambria Math</vt:lpstr>
      <vt:lpstr>MS Mincho</vt:lpstr>
      <vt:lpstr>Calibri</vt:lpstr>
      <vt:lpstr>微软雅黑</vt:lpstr>
      <vt:lpstr>Arial Unicode MS</vt:lpstr>
      <vt:lpstr>Segoe Print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27</cp:revision>
  <dcterms:created xsi:type="dcterms:W3CDTF">2023-08-09T12:44:00Z</dcterms:created>
  <dcterms:modified xsi:type="dcterms:W3CDTF">2026-03-04T14:33:25Z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1A404D93A0DB4F32B7FCDAD7D3EBADCF_12</vt:lpwstr>
  </property>
</Properties>
</file>